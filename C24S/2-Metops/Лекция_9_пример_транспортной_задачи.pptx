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7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233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37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725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81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761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94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71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13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73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83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0000">
              <a:schemeClr val="bg1"/>
            </a:gs>
            <a:gs pos="100000">
              <a:schemeClr val="accent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A62EA-2812-4F02-A67E-2DF027666245}" type="datetimeFigureOut">
              <a:rPr lang="ru-RU" smtClean="0"/>
              <a:t>02.12.2019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4197A-9706-447F-A0E7-0465B2300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565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908720"/>
            <a:ext cx="7052320" cy="1470025"/>
          </a:xfrm>
        </p:spPr>
        <p:txBody>
          <a:bodyPr/>
          <a:lstStyle/>
          <a:p>
            <a:r>
              <a:rPr lang="ru-RU" b="1" i="1" dirty="0" smtClean="0"/>
              <a:t>Методы оптимизации</a:t>
            </a:r>
            <a:endParaRPr lang="ru-RU" b="1" i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10258" y="2348880"/>
            <a:ext cx="7494190" cy="4104456"/>
          </a:xfrm>
        </p:spPr>
        <p:txBody>
          <a:bodyPr>
            <a:noAutofit/>
          </a:bodyPr>
          <a:lstStyle/>
          <a:p>
            <a:r>
              <a:rPr lang="ru-RU" b="1" i="1" dirty="0" smtClean="0">
                <a:solidFill>
                  <a:schemeClr val="tx1"/>
                </a:solidFill>
              </a:rPr>
              <a:t>Лекция </a:t>
            </a:r>
            <a:r>
              <a:rPr lang="ru-RU" b="1" i="1" dirty="0">
                <a:solidFill>
                  <a:schemeClr val="tx1"/>
                </a:solidFill>
              </a:rPr>
              <a:t>7</a:t>
            </a:r>
            <a:r>
              <a:rPr lang="en-US" b="1" i="1" dirty="0" smtClean="0">
                <a:solidFill>
                  <a:schemeClr val="tx1"/>
                </a:solidFill>
              </a:rPr>
              <a:t>. </a:t>
            </a:r>
            <a:r>
              <a:rPr lang="ru-RU" b="1" i="1" dirty="0">
                <a:solidFill>
                  <a:srgbClr val="FF0000"/>
                </a:solidFill>
              </a:rPr>
              <a:t>Т</a:t>
            </a:r>
            <a:r>
              <a:rPr lang="ru-RU" b="1" i="1" dirty="0" smtClean="0">
                <a:solidFill>
                  <a:srgbClr val="FF0000"/>
                </a:solidFill>
              </a:rPr>
              <a:t>ранспортные  задачи</a:t>
            </a:r>
          </a:p>
          <a:p>
            <a:endParaRPr lang="ru-RU" sz="2400" b="1" i="1" dirty="0">
              <a:solidFill>
                <a:srgbClr val="FF0000"/>
              </a:solidFill>
            </a:endParaRPr>
          </a:p>
          <a:p>
            <a:endParaRPr lang="ru-RU" sz="2400" b="1" i="1" dirty="0" smtClean="0">
              <a:solidFill>
                <a:srgbClr val="FF0000"/>
              </a:solidFill>
            </a:endParaRPr>
          </a:p>
          <a:p>
            <a:endParaRPr lang="ru-RU" sz="2400" i="1" dirty="0" smtClean="0">
              <a:solidFill>
                <a:schemeClr val="tx1"/>
              </a:solidFill>
            </a:endParaRPr>
          </a:p>
          <a:p>
            <a:pPr marL="4749800" algn="l"/>
            <a:r>
              <a:rPr lang="ru-RU" sz="2400" i="1" dirty="0" smtClean="0">
                <a:solidFill>
                  <a:schemeClr val="tx1"/>
                </a:solidFill>
              </a:rPr>
              <a:t>Селина Елена Георгиевна</a:t>
            </a:r>
          </a:p>
          <a:p>
            <a:pPr marL="4749800" algn="l"/>
            <a:r>
              <a:rPr lang="ru-RU" sz="2400" i="1" dirty="0" smtClean="0">
                <a:solidFill>
                  <a:schemeClr val="tx1"/>
                </a:solidFill>
              </a:rPr>
              <a:t>Ауд. 302</a:t>
            </a:r>
            <a:endParaRPr lang="ru-RU" sz="2400" i="1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22415"/>
            <a:ext cx="29337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AF022-2ABA-49D5-8A90-517B29A3852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55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b="1" i="1" dirty="0" smtClean="0"/>
                  <a:t>Пример решения классической транспортной задачи.</a:t>
                </a:r>
                <a:r>
                  <a:rPr lang="ru-RU" dirty="0" smtClean="0"/>
                  <a:t> </a:t>
                </a:r>
                <a:r>
                  <a:rPr lang="ru-RU" dirty="0"/>
                  <a:t>Дана транспортная сеть, состоящая из семи вершин. Пункты 1,2,3 – производители, пункты 4,5,6,7 – потребители.</a:t>
                </a:r>
              </a:p>
              <a:p>
                <a:pPr marL="0" indent="0">
                  <a:buNone/>
                </a:pPr>
                <a:r>
                  <a:rPr lang="ru-RU" dirty="0"/>
                  <a:t>Источники: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=11</m:t>
                            </m:r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latin typeface="Cambria Math"/>
                                    </a:rPr>
                                    <m:t>=11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latin typeface="Cambria Math"/>
                                    </a:rPr>
                                    <m:t>=8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Получатели: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=−5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=−9</m:t>
                            </m:r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6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latin typeface="Cambria Math"/>
                                    </a:rPr>
                                    <m:t>=−9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/>
                                        </a:rPr>
                                        <m:t>7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latin typeface="Cambria Math"/>
                                    </a:rPr>
                                    <m:t>=−7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:r>
                  <a:rPr lang="ru-RU" dirty="0"/>
                  <a:t>Дана матрица транспортных расходов</a:t>
                </a:r>
                <a:r>
                  <a:rPr lang="ru-RU" dirty="0" smtClean="0"/>
                  <a:t>:</a:t>
                </a: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𝐶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7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8</m:t>
                                    </m:r>
                                  </m:e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9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/>
                  <a:t>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  <a:blipFill rotWithShape="1">
                <a:blip r:embed="rId2"/>
                <a:stretch>
                  <a:fillRect l="-1248" t="-18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17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6480720"/>
          </a:xfrm>
        </p:spPr>
        <p:txBody>
          <a:bodyPr/>
          <a:lstStyle/>
          <a:p>
            <a:pPr marL="0" indent="0">
              <a:buNone/>
            </a:pPr>
            <a:r>
              <a:rPr lang="ru-RU" sz="2700" dirty="0"/>
              <a:t>Оформим в виде таблицы: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700" dirty="0" smtClean="0"/>
          </a:p>
          <a:p>
            <a:pPr marL="0" indent="0">
              <a:buNone/>
            </a:pPr>
            <a:r>
              <a:rPr lang="ru-RU" sz="2700" dirty="0" smtClean="0"/>
              <a:t>Получаем </a:t>
            </a:r>
            <a:r>
              <a:rPr lang="ru-RU" sz="2700" dirty="0"/>
              <a:t>начальный базис: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01" y="764704"/>
            <a:ext cx="7059000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941168"/>
            <a:ext cx="3031916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858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404664"/>
                <a:ext cx="8640960" cy="62646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5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5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sz="2500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500" i="1">
                            <a:latin typeface="Cambria Math"/>
                          </a:rPr>
                          <m:t>𝑖</m:t>
                        </m:r>
                        <m:r>
                          <a:rPr lang="en-US" sz="25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500" i="1">
                            <a:latin typeface="Cambria Math"/>
                          </a:rPr>
                          <m:t>3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ru-RU" sz="2500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a:rPr lang="en-US" sz="2500" i="1">
                                <a:latin typeface="Cambria Math"/>
                              </a:rPr>
                              <m:t>𝑗</m:t>
                            </m:r>
                            <m:r>
                              <a:rPr lang="en-US" sz="2500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500" i="1">
                                <a:latin typeface="Cambria Math"/>
                              </a:rPr>
                              <m:t>4</m:t>
                            </m:r>
                          </m:sup>
                          <m:e>
                            <m:sSub>
                              <m:sSubPr>
                                <m:ctrlPr>
                                  <a:rPr lang="ru-RU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u-RU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500" i="1">
                                <a:latin typeface="Cambria Math"/>
                              </a:rPr>
                              <m:t>=24+5+21+10+24+8=92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2500" dirty="0"/>
                  <a:t>   </a:t>
                </a:r>
                <a:endParaRPr lang="en-US" sz="2500" dirty="0" smtClean="0"/>
              </a:p>
              <a:p>
                <a:pPr marL="0" indent="0">
                  <a:buNone/>
                </a:pPr>
                <a:endParaRPr lang="ru-RU" sz="25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404664"/>
                <a:ext cx="8640960" cy="6264696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24744"/>
            <a:ext cx="4037592" cy="4348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864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16632"/>
                <a:ext cx="8640960" cy="640871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 Для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𝑖</m:t>
                    </m:r>
                    <m:r>
                      <a:rPr lang="ru-RU" i="1">
                        <a:latin typeface="Cambria Math"/>
                      </a:rPr>
                      <m:t>,</m:t>
                    </m:r>
                    <m:r>
                      <a:rPr lang="ru-RU" i="1">
                        <a:latin typeface="Cambria Math"/>
                      </a:rPr>
                      <m:t>𝑗</m:t>
                    </m:r>
                    <m:r>
                      <a:rPr lang="ru-RU" i="1">
                        <a:latin typeface="Cambria Math"/>
                      </a:rPr>
                      <m:t>)∈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=0 </m:t>
                    </m:r>
                    <m:r>
                      <a:rPr lang="ru-RU" i="1">
                        <a:latin typeface="Cambria Math"/>
                        <a:sym typeface="Symbol"/>
                      </a:rPr>
                      <m:t></m:t>
                    </m:r>
                    <m:r>
                      <a:rPr lang="ru-RU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Это система для определения потенциалов, в которой  уравнений,  переменных. Уравнений на одно больше, чем неизвестных, поэтому одному  неизвестному,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, присвоим значение 0. После этого определяем остальные потенциалы.      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=8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=5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=3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=2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=4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=1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dirty="0"/>
                  <a:t>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=−4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=−4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=6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=8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=5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=3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dirty="0"/>
                  <a:t>                </a:t>
                </a:r>
              </a:p>
              <a:p>
                <a:pPr marL="0" indent="0">
                  <a:buNone/>
                </a:pPr>
                <a:r>
                  <a:rPr lang="ru-RU" dirty="0"/>
                  <a:t>Теперь находим все остальные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∆</m:t>
                    </m:r>
                  </m:oMath>
                </a14:m>
                <a:r>
                  <a:rPr lang="ru-RU" dirty="0"/>
                  <a:t> по формуле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16632"/>
                <a:ext cx="8640960" cy="6408712"/>
              </a:xfrm>
              <a:blipFill rotWithShape="1">
                <a:blip r:embed="rId2"/>
                <a:stretch>
                  <a:fillRect l="-1622" t="-22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629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84976" cy="6336704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i="1" dirty="0" smtClean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 smtClean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 smtClean="0"/>
              </a:p>
              <a:p>
                <a:pPr marL="0" indent="0">
                  <a:buNone/>
                </a:pPr>
                <a:endParaRPr lang="en-US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7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700" i="1">
                              <a:latin typeface="Cambria Math"/>
                            </a:rPr>
                            <m:t>∆</m:t>
                          </m:r>
                        </m:e>
                        <m:sub>
                          <m:r>
                            <a:rPr lang="ru-RU" sz="2700" i="1">
                              <a:latin typeface="Cambria Math"/>
                            </a:rPr>
                            <m:t>32</m:t>
                          </m:r>
                        </m:sub>
                      </m:sSub>
                      <m:r>
                        <a:rPr lang="ru-RU" sz="2700" i="1">
                          <a:latin typeface="Cambria Math"/>
                        </a:rPr>
                        <m:t>=1&gt;0</m:t>
                      </m:r>
                    </m:oMath>
                  </m:oMathPara>
                </a14:m>
                <a:endParaRPr lang="en-US" sz="2700" dirty="0" smtClean="0"/>
              </a:p>
              <a:p>
                <a:pPr marL="0" indent="0">
                  <a:buNone/>
                </a:pPr>
                <a:endParaRPr lang="en-US" sz="2700" dirty="0"/>
              </a:p>
              <a:p>
                <a:pPr marL="0" indent="0">
                  <a:buNone/>
                </a:pPr>
                <a:endParaRPr lang="en-US" sz="2700" dirty="0" smtClean="0"/>
              </a:p>
              <a:p>
                <a:pPr marL="0" indent="0">
                  <a:buNone/>
                </a:pPr>
                <a:endParaRPr lang="en-US" sz="27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8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ru-RU" sz="2800" i="1">
                              <a:latin typeface="Cambria Math"/>
                            </a:rPr>
                            <m:t>𝛳</m:t>
                          </m:r>
                        </m:e>
                        <m:sup>
                          <m:r>
                            <a:rPr lang="ru-RU" sz="28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ru-RU" sz="28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ru-RU" sz="28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28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280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ru-RU" sz="2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ru-RU" sz="2800" i="1">
                                  <a:latin typeface="Cambria Math"/>
                                </a:rPr>
                                <m:t>𝛳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RU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ru-RU" sz="2800" i="1">
                              <a:latin typeface="Cambria Math"/>
                            </a:rPr>
                            <m:t>=3</m:t>
                          </m:r>
                        </m:e>
                      </m:func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endParaRPr lang="en-US" sz="2700" dirty="0" smtClean="0"/>
              </a:p>
              <a:p>
                <a:pPr marL="0" indent="0">
                  <a:buNone/>
                </a:pPr>
                <a:endParaRPr lang="ru-RU" sz="27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84976" cy="6336704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4664"/>
            <a:ext cx="4608512" cy="2955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091" y="3359840"/>
            <a:ext cx="3065906" cy="3030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2714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332656"/>
                <a:ext cx="8640960" cy="63367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700" dirty="0" smtClean="0"/>
                  <a:t>Новый базис: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sz="2600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6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600" i="1">
                              <a:latin typeface="Cambria Math"/>
                            </a:rPr>
                            <m:t>𝑖</m:t>
                          </m:r>
                          <m:r>
                            <a:rPr lang="en-US" sz="26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latin typeface="Cambria Math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26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26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6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600" i="1">
                                  <a:latin typeface="Cambria Math"/>
                                </a:rPr>
                                <m:t>4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26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26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2600" i="1">
                                  <a:latin typeface="Cambria Math"/>
                                </a:rPr>
                                <m:t>=20+21+10+24+9+5=89&lt;</m:t>
                              </m:r>
                              <m:sSub>
                                <m:sSubPr>
                                  <m:ctrlPr>
                                    <a:rPr lang="ru-RU" sz="26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332656"/>
                <a:ext cx="8640960" cy="6336704"/>
              </a:xfrm>
              <a:blipFill rotWithShape="1">
                <a:blip r:embed="rId2"/>
                <a:stretch>
                  <a:fillRect l="-1269" t="-7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04664"/>
            <a:ext cx="2609343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21379"/>
            <a:ext cx="5040560" cy="3341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6615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260648"/>
            <a:ext cx="8712968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700" dirty="0" smtClean="0"/>
              <a:t>Получили оптимальный грузопоток:</a:t>
            </a:r>
          </a:p>
          <a:p>
            <a:pPr marL="0" indent="0">
              <a:buNone/>
            </a:pPr>
            <a:endParaRPr lang="ru-RU" sz="27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38" y="1196752"/>
            <a:ext cx="4722697" cy="4934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190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2405"/>
            <a:ext cx="8229600" cy="1858218"/>
          </a:xfrm>
        </p:spPr>
        <p:txBody>
          <a:bodyPr>
            <a:noAutofit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Решение общей транспортной задачи путём сведения к задаче поиска кратчайшего пути и классической транспортной задаче</a:t>
            </a:r>
            <a:endParaRPr lang="ru-RU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916832"/>
                <a:ext cx="8856984" cy="475252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600" dirty="0"/>
                  <a:t>Общая транспортная задача решается через задачу поиска кратчайшего пути и классическую транспортную задачу. </a:t>
                </a:r>
              </a:p>
              <a:p>
                <a:pPr marL="0" indent="0">
                  <a:buNone/>
                </a:pPr>
                <a:r>
                  <a:rPr lang="ru-RU" sz="2600" dirty="0"/>
                  <a:t>Дан транспортный граф, состоящий из пунктов и дрог, соединяющих эти пункты. Даны интенсивности источников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sz="2600" i="1">
                        <a:latin typeface="Cambria Math"/>
                      </a:rPr>
                      <m:t>&gt;0 </m:t>
                    </m:r>
                  </m:oMath>
                </a14:m>
                <a:r>
                  <a:rPr lang="ru-RU" sz="2600" dirty="0"/>
                  <a:t> и интенсивность потребителей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sz="2600" i="1">
                        <a:latin typeface="Cambria Math"/>
                      </a:rPr>
                      <m:t>&lt;0</m:t>
                    </m:r>
                  </m:oMath>
                </a14:m>
                <a:r>
                  <a:rPr lang="ru-RU" sz="2600" dirty="0"/>
                  <a:t>. Могут быть пункты, не потребляющие и не производящие продуктов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u-RU" sz="2600" i="1">
                        <a:latin typeface="Cambria Math"/>
                      </a:rPr>
                      <m:t>=0</m:t>
                    </m:r>
                  </m:oMath>
                </a14:m>
                <a:r>
                  <a:rPr lang="ru-RU" sz="2600" dirty="0"/>
                  <a:t>.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916832"/>
                <a:ext cx="8856984" cy="4752528"/>
              </a:xfrm>
              <a:blipFill rotWithShape="1">
                <a:blip r:embed="rId2"/>
                <a:stretch>
                  <a:fillRect l="-1170" t="-10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336" y="4581128"/>
            <a:ext cx="3917440" cy="211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0141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88640"/>
                <a:ext cx="8712968" cy="648072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600" dirty="0"/>
                  <a:t>Дана матрица </a:t>
                </a:r>
                <a14:m>
                  <m:oMath xmlns:m="http://schemas.openxmlformats.org/officeDocument/2006/math">
                    <m:r>
                      <a:rPr lang="ru-RU" sz="2600" i="1">
                        <a:latin typeface="Cambria Math"/>
                      </a:rPr>
                      <m:t>𝐶</m:t>
                    </m:r>
                    <m:r>
                      <a:rPr lang="ru-RU" sz="2600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ru-RU" sz="26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2600" i="1">
                        <a:latin typeface="Cambria Math"/>
                      </a:rPr>
                      <m:t>}</m:t>
                    </m:r>
                  </m:oMath>
                </a14:m>
                <a:r>
                  <a:rPr lang="ru-RU" sz="2600" dirty="0"/>
                  <a:t> – матрица промежуточных расходов,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2600" i="1">
                        <a:latin typeface="Cambria Math"/>
                      </a:rPr>
                      <m:t>≥0</m:t>
                    </m:r>
                  </m:oMath>
                </a14:m>
                <a:r>
                  <a:rPr lang="ru-RU" sz="2600" dirty="0"/>
                  <a:t> – стоимость провоза продукта из </a:t>
                </a:r>
                <a:r>
                  <a:rPr lang="en-US" sz="2600" dirty="0" err="1"/>
                  <a:t>i</a:t>
                </a:r>
                <a:r>
                  <a:rPr lang="ru-RU" sz="2600" dirty="0"/>
                  <a:t>-го пункта в </a:t>
                </a:r>
                <a:r>
                  <a:rPr lang="en-US" sz="2600" dirty="0"/>
                  <a:t>j</a:t>
                </a:r>
                <a:r>
                  <a:rPr lang="ru-RU" sz="2600" dirty="0"/>
                  <a:t>-</a:t>
                </a:r>
                <a:r>
                  <a:rPr lang="ru-RU" sz="2600" dirty="0" err="1"/>
                  <a:t>ый</a:t>
                </a:r>
                <a:r>
                  <a:rPr lang="ru-RU" sz="2600" dirty="0"/>
                  <a:t> (не обязательно полностью заполненная, не обязательно симметричная). </a:t>
                </a:r>
              </a:p>
              <a:p>
                <a:pPr marL="0" indent="0">
                  <a:buNone/>
                </a:pPr>
                <a:r>
                  <a:rPr lang="ru-RU" sz="2600" dirty="0"/>
                  <a:t>Требуется найти оптимальный грузопоток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26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u-RU" sz="2600" i="1">
                        <a:latin typeface="Cambria Math"/>
                      </a:rPr>
                      <m:t>≥0</m:t>
                    </m:r>
                  </m:oMath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</a:rPr>
                      <m:t>𝑓</m:t>
                    </m:r>
                    <m:r>
                      <a:rPr lang="ru-RU" sz="26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ru-RU" sz="2600" i="1">
                            <a:latin typeface="Cambria Math"/>
                          </a:rPr>
                        </m:ctrlPr>
                      </m:naryPr>
                      <m:sub>
                        <m:r>
                          <a:rPr lang="ru-RU" sz="2600" i="1">
                            <a:latin typeface="Cambria Math"/>
                          </a:rPr>
                          <m:t>(</m:t>
                        </m:r>
                        <m:r>
                          <a:rPr lang="en-US" sz="2600" i="1">
                            <a:latin typeface="Cambria Math"/>
                          </a:rPr>
                          <m:t>𝑖</m:t>
                        </m:r>
                        <m:r>
                          <a:rPr lang="ru-RU" sz="2600" i="1">
                            <a:latin typeface="Cambria Math"/>
                          </a:rPr>
                          <m:t>,</m:t>
                        </m:r>
                        <m:r>
                          <a:rPr lang="en-US" sz="2600" i="1">
                            <a:latin typeface="Cambria Math"/>
                          </a:rPr>
                          <m:t>𝑗</m:t>
                        </m:r>
                        <m:r>
                          <a:rPr lang="ru-RU" sz="2600" i="1">
                            <a:latin typeface="Cambria Math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ru-RU" sz="2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60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ru-RU" sz="2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60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ru-RU" sz="2600" i="1">
                            <a:latin typeface="Cambria Math"/>
                          </a:rPr>
                          <m:t>→</m:t>
                        </m:r>
                        <m:r>
                          <a:rPr lang="en-US" sz="2600" i="1">
                            <a:latin typeface="Cambria Math"/>
                          </a:rPr>
                          <m:t>𝑚𝑖𝑛</m:t>
                        </m:r>
                      </m:e>
                    </m:nary>
                  </m:oMath>
                </a14:m>
                <a:r>
                  <a:rPr lang="ru-RU" sz="2600" dirty="0"/>
                  <a:t>                        </a:t>
                </a:r>
              </a:p>
              <a:p>
                <a:pPr marL="0" indent="0">
                  <a:buNone/>
                </a:pPr>
                <a:r>
                  <a:rPr lang="ru-RU" sz="2600" dirty="0"/>
                  <a:t>Ограничения, учитывающие сбалансированность:</a:t>
                </a:r>
              </a:p>
              <a:p>
                <a:pPr marL="0" indent="0">
                  <a:buNone/>
                </a:pPr>
                <a:r>
                  <a:rPr lang="ru-RU" sz="2600" dirty="0"/>
                  <a:t>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ru-RU" sz="2600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600" i="1">
                            <a:latin typeface="Cambria Math"/>
                          </a:rPr>
                          <m:t>𝑘</m:t>
                        </m:r>
                        <m:r>
                          <a:rPr lang="ru-RU" sz="2600" i="1">
                            <a:latin typeface="Cambria Math"/>
                          </a:rPr>
                          <m:t>∈</m:t>
                        </m:r>
                        <m:sSubSup>
                          <m:sSubSupPr>
                            <m:ctrlPr>
                              <a:rPr lang="ru-RU" sz="2600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600" i="1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ru-RU" sz="2600" i="1">
                                <a:latin typeface="Cambria Math"/>
                              </a:rPr>
                              <m:t>+</m:t>
                            </m:r>
                          </m:sup>
                        </m:sSubSup>
                      </m:sub>
                      <m:sup/>
                      <m:e>
                        <m:sSub>
                          <m:sSubPr>
                            <m:ctrlPr>
                              <a:rPr lang="ru-RU" sz="2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sz="26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ru-RU" sz="2600" i="1">
                                <a:latin typeface="Cambria Math"/>
                              </a:rPr>
                              <m:t>𝑘𝑖</m:t>
                            </m:r>
                          </m:sub>
                        </m:sSub>
                        <m:r>
                          <a:rPr lang="ru-RU" sz="2600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ru-RU" sz="2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ru-RU" sz="26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ru-RU" sz="26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u-RU" sz="2600" i="1">
                            <a:latin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ru-RU" sz="2600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a:rPr lang="en-US" sz="2600" i="1">
                                <a:latin typeface="Cambria Math"/>
                              </a:rPr>
                              <m:t>𝑗</m:t>
                            </m:r>
                            <m:r>
                              <a:rPr lang="ru-RU" sz="2600" i="1">
                                <a:latin typeface="Cambria Math"/>
                              </a:rPr>
                              <m:t>∈</m:t>
                            </m:r>
                            <m:sSubSup>
                              <m:sSubSupPr>
                                <m:ctrlPr>
                                  <a:rPr lang="ru-RU" sz="2600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sz="2600" i="1">
                                    <a:latin typeface="Cambria Math"/>
                                  </a:rPr>
                                  <m:t>−</m:t>
                                </m:r>
                              </m:sup>
                            </m:sSubSup>
                          </m:sub>
                          <m:sup/>
                          <m:e>
                            <m:sSub>
                              <m:sSubPr>
                                <m:ctrlPr>
                                  <a:rPr lang="ru-RU" sz="26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ru-RU" sz="2600" i="1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ru-RU" sz="2600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ru-RU" sz="2600" dirty="0"/>
                  <a:t>    ,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</a:rPr>
                      <m:t>𝑖</m:t>
                    </m:r>
                    <m:r>
                      <a:rPr lang="ru-RU" sz="2600" i="1">
                        <a:latin typeface="Cambria Math"/>
                      </a:rPr>
                      <m:t>=1,2,…</m:t>
                    </m:r>
                  </m:oMath>
                </a14:m>
                <a:r>
                  <a:rPr lang="ru-RU" sz="2600" dirty="0"/>
                  <a:t>   </a:t>
                </a:r>
              </a:p>
              <a:p>
                <a:pPr marL="0" indent="0">
                  <a:buNone/>
                </a:pPr>
                <a:r>
                  <a:rPr lang="ru-RU" sz="2600" dirty="0"/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6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600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ru-RU" sz="2600" i="1"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ru-RU" sz="2600" dirty="0"/>
                  <a:t>- множество индексов, соответствующее выходящим дугам,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6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600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ru-RU" sz="2600" i="1">
                            <a:latin typeface="Cambria Math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ru-RU" sz="2600" dirty="0"/>
                  <a:t>- множество индексов, соответствующее входящим дугам.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2600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600" i="1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ru-RU" sz="2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6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u-RU" sz="2600" i="1">
                            <a:latin typeface="Cambria Math"/>
                          </a:rPr>
                          <m:t>=0</m:t>
                        </m:r>
                      </m:e>
                    </m:nary>
                  </m:oMath>
                </a14:m>
                <a:r>
                  <a:rPr lang="ru-RU" sz="2600" dirty="0"/>
                  <a:t> – естественные условия </a:t>
                </a:r>
                <a:endParaRPr lang="ru-RU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баланса </a:t>
                </a:r>
                <a:r>
                  <a:rPr lang="ru-RU" sz="2600" dirty="0"/>
                  <a:t>(весь произведенный </a:t>
                </a:r>
                <a:endParaRPr lang="ru-RU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продукт </a:t>
                </a:r>
                <a:r>
                  <a:rPr lang="ru-RU" sz="2600" dirty="0"/>
                  <a:t>будет потреблен)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88640"/>
                <a:ext cx="8712968" cy="6480720"/>
              </a:xfrm>
              <a:blipFill rotWithShape="1">
                <a:blip r:embed="rId2"/>
                <a:stretch>
                  <a:fillRect l="-1189" t="-12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5148064" y="4869160"/>
            <a:ext cx="3672408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93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96752"/>
          </a:xfrm>
        </p:spPr>
        <p:txBody>
          <a:bodyPr>
            <a:normAutofit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Алгоритм решения общей транспортной задачи</a:t>
            </a:r>
            <a:endParaRPr lang="ru-RU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24744"/>
                <a:ext cx="8856984" cy="5544616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 smtClean="0"/>
                  <a:t>I</a:t>
                </a:r>
                <a:r>
                  <a:rPr lang="en-US" sz="3400" dirty="0" smtClean="0"/>
                  <a:t>. </a:t>
                </a:r>
                <a:r>
                  <a:rPr lang="ru-RU" sz="3400" dirty="0" smtClean="0"/>
                  <a:t>1</a:t>
                </a:r>
                <a:r>
                  <a:rPr lang="ru-RU" sz="3400" dirty="0"/>
                  <a:t>) Из множества всех вершин выбираем производителей и нумеруем их </a:t>
                </a:r>
                <a:r>
                  <a:rPr lang="en-US" sz="3400" dirty="0"/>
                  <a:t>I</a:t>
                </a:r>
                <a:r>
                  <a:rPr lang="ru-RU" sz="3400" dirty="0"/>
                  <a:t>=1,…,</a:t>
                </a:r>
                <a:r>
                  <a:rPr lang="en-US" sz="3400" dirty="0"/>
                  <a:t>M</a:t>
                </a:r>
                <a:r>
                  <a:rPr lang="ru-RU" sz="3400" dirty="0"/>
                  <a:t>. Выбираем всех потребителей и нумеруем </a:t>
                </a:r>
                <a:r>
                  <a:rPr lang="en-US" sz="3400" dirty="0"/>
                  <a:t>J</a:t>
                </a:r>
                <a:r>
                  <a:rPr lang="ru-RU" sz="3400" dirty="0"/>
                  <a:t>=1,…,</a:t>
                </a:r>
                <a:r>
                  <a:rPr lang="en-US" sz="3400" dirty="0"/>
                  <a:t>N</a:t>
                </a:r>
                <a:r>
                  <a:rPr lang="ru-RU" sz="3400" dirty="0"/>
                  <a:t>.</a:t>
                </a:r>
                <a:endParaRPr lang="ru-RU" sz="3400" dirty="0">
                  <a:effectLst/>
                </a:endParaRPr>
              </a:p>
              <a:p>
                <a:pPr marL="0" indent="0">
                  <a:buNone/>
                </a:pPr>
                <a:r>
                  <a:rPr lang="ru-RU" sz="3400" dirty="0"/>
                  <a:t>2) Делаем преобразования: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sz="3400" i="1">
                            <a:latin typeface="Cambria Math"/>
                          </a:rPr>
                          <m:t>𝐼</m:t>
                        </m:r>
                      </m:sub>
                    </m:sSub>
                    <m:r>
                      <a:rPr lang="ru-RU" sz="3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3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3400" i="1">
                            <a:latin typeface="Cambria Math"/>
                          </a:rPr>
                          <m:t>𝐼</m:t>
                        </m:r>
                      </m:sub>
                    </m:sSub>
                    <m:r>
                      <a:rPr lang="ru-RU" sz="3400" i="1">
                        <a:latin typeface="Cambria Math"/>
                      </a:rPr>
                      <m:t>&gt;0</m:t>
                    </m:r>
                  </m:oMath>
                </a14:m>
                <a:r>
                  <a:rPr lang="ru-RU" sz="3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ru-RU" sz="3400" i="1">
                            <a:latin typeface="Cambria Math"/>
                          </a:rPr>
                          <m:t>𝐽</m:t>
                        </m:r>
                      </m:sub>
                    </m:sSub>
                    <m:r>
                      <a:rPr lang="ru-RU" sz="3400" i="1">
                        <a:latin typeface="Cambria Math"/>
                      </a:rPr>
                      <m:t>=−</m:t>
                    </m:r>
                    <m:sSub>
                      <m:sSubPr>
                        <m:ctrlPr>
                          <a:rPr lang="ru-RU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34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ru-RU" sz="3400" i="1">
                            <a:latin typeface="Cambria Math"/>
                          </a:rPr>
                          <m:t>𝐽</m:t>
                        </m:r>
                      </m:sub>
                    </m:sSub>
                    <m:r>
                      <a:rPr lang="ru-RU" sz="3400" i="1">
                        <a:latin typeface="Cambria Math"/>
                      </a:rPr>
                      <m:t>&gt;0</m:t>
                    </m:r>
                  </m:oMath>
                </a14:m>
                <a:endParaRPr lang="ru-RU" sz="3400" dirty="0"/>
              </a:p>
              <a:p>
                <a:pPr marL="0" indent="0">
                  <a:buNone/>
                </a:pPr>
                <a:r>
                  <a:rPr lang="ru-RU" sz="3400" dirty="0"/>
                  <a:t>3) Решаем задачу поиска кратчайшего пути и находим наиболее дешевые пути от каждого производителя к каждому потребителю. Если между каким-то производителем и каким-то потребителем не найдется дороги,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3400" i="1">
                            <a:latin typeface="Cambria Math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ru-RU" sz="34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ru-RU" sz="3400" i="1">
                                <a:latin typeface="Cambria Math"/>
                              </a:rPr>
                              <m:t>𝐼</m:t>
                            </m:r>
                          </m:e>
                          <m:sup>
                            <m:r>
                              <a:rPr lang="ru-RU" sz="34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ru-RU" sz="34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ru-RU" sz="3400" i="1">
                                <a:latin typeface="Cambria Math"/>
                              </a:rPr>
                              <m:t>𝐽</m:t>
                            </m:r>
                          </m:e>
                          <m:sup>
                            <m:r>
                              <a:rPr lang="ru-RU" sz="34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ru-RU" sz="3400" i="1">
                        <a:latin typeface="Cambria Math"/>
                      </a:rPr>
                      <m:t>=∞</m:t>
                    </m:r>
                  </m:oMath>
                </a14:m>
                <a:r>
                  <a:rPr lang="ru-RU" sz="3400" dirty="0"/>
                  <a:t>. Найдём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3400" i="1">
                            <a:latin typeface="Cambria Math"/>
                          </a:rPr>
                          <m:t>П</m:t>
                        </m:r>
                      </m:e>
                      <m:sub>
                        <m:r>
                          <a:rPr lang="en-US" sz="3400" i="1">
                            <a:latin typeface="Cambria Math"/>
                          </a:rPr>
                          <m:t>𝐼𝐽</m:t>
                        </m:r>
                      </m:sub>
                    </m:sSub>
                  </m:oMath>
                </a14:m>
                <a:r>
                  <a:rPr lang="ru-RU" sz="3400" dirty="0"/>
                  <a:t>- самые дешевые пути от каждого производителя к каждому потребителю. </a:t>
                </a:r>
              </a:p>
              <a:p>
                <a:pPr marL="0" lvl="0" indent="0">
                  <a:buNone/>
                </a:pPr>
                <a:r>
                  <a:rPr lang="en-US" sz="3400" dirty="0" smtClean="0"/>
                  <a:t>II.</a:t>
                </a:r>
                <a:r>
                  <a:rPr lang="ru-RU" sz="3400" dirty="0" smtClean="0"/>
                  <a:t>Решаем </a:t>
                </a:r>
                <a:r>
                  <a:rPr lang="ru-RU" sz="3400" dirty="0"/>
                  <a:t>получившуюся классическую транспортную задачу, в </a:t>
                </a:r>
                <a:r>
                  <a:rPr lang="en-US" sz="3400" dirty="0" smtClean="0"/>
                  <a:t>  </a:t>
                </a:r>
                <a:r>
                  <a:rPr lang="ru-RU" sz="3400" dirty="0" smtClean="0"/>
                  <a:t>которой </a:t>
                </a:r>
                <a:r>
                  <a:rPr lang="ru-RU" sz="3400" dirty="0"/>
                  <a:t>фигурируют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u-RU" sz="3400" i="1">
                            <a:latin typeface="Cambria Math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ru-RU" sz="3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ru-RU" sz="3400" i="1">
                            <a:latin typeface="Cambria Math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ru-RU" sz="3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400" i="1">
                            <a:latin typeface="Cambria Math"/>
                          </a:rPr>
                        </m:ctrlPr>
                      </m:sSubPr>
                      <m:e>
                        <m:r>
                          <a:rPr lang="ru-RU" sz="34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sz="3400" i="1">
                            <a:latin typeface="Cambria Math"/>
                          </a:rPr>
                          <m:t>𝐼𝐽</m:t>
                        </m:r>
                      </m:sub>
                    </m:sSub>
                  </m:oMath>
                </a14:m>
                <a:r>
                  <a:rPr lang="ru-RU" sz="3400" dirty="0"/>
                  <a:t>. </a:t>
                </a:r>
                <a:endParaRPr lang="ru-RU" sz="3400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ru-RU" sz="3400" i="1">
                            <a:latin typeface="Cambria Math"/>
                          </a:rPr>
                        </m:ctrlPr>
                      </m:naryPr>
                      <m:sub>
                        <m:r>
                          <a:rPr lang="ru-RU" sz="3400" i="1">
                            <a:latin typeface="Cambria Math"/>
                          </a:rPr>
                          <m:t>(</m:t>
                        </m:r>
                        <m:r>
                          <a:rPr lang="en-US" sz="3400" i="1">
                            <a:latin typeface="Cambria Math"/>
                          </a:rPr>
                          <m:t>𝑖</m:t>
                        </m:r>
                        <m:r>
                          <a:rPr lang="ru-RU" sz="3400" i="1">
                            <a:latin typeface="Cambria Math"/>
                          </a:rPr>
                          <m:t>,</m:t>
                        </m:r>
                        <m:r>
                          <a:rPr lang="en-US" sz="3400" i="1">
                            <a:latin typeface="Cambria Math"/>
                          </a:rPr>
                          <m:t>𝑗</m:t>
                        </m:r>
                        <m:r>
                          <a:rPr lang="ru-RU" sz="3400" i="1">
                            <a:latin typeface="Cambria Math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ru-RU" sz="3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340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ru-RU" sz="3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340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ru-RU" sz="3400" i="1">
                            <a:latin typeface="Cambria Math"/>
                          </a:rPr>
                          <m:t>→</m:t>
                        </m:r>
                        <m:r>
                          <a:rPr lang="en-US" sz="3400" i="1">
                            <a:latin typeface="Cambria Math"/>
                          </a:rPr>
                          <m:t>𝑚𝑖𝑛</m:t>
                        </m:r>
                      </m:e>
                    </m:nary>
                  </m:oMath>
                </a14:m>
                <a:r>
                  <a:rPr lang="ru-RU" sz="3400" dirty="0"/>
                  <a:t>. Находим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3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ru-RU" sz="34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sz="3400" i="1">
                            <a:latin typeface="Cambria Math"/>
                          </a:rPr>
                          <m:t>𝐼𝐽</m:t>
                        </m:r>
                      </m:sub>
                      <m:sup>
                        <m:r>
                          <a:rPr lang="ru-RU" sz="34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sz="3400" i="1">
                        <a:latin typeface="Cambria Math"/>
                      </a:rPr>
                      <m:t>≥0</m:t>
                    </m:r>
                  </m:oMath>
                </a14:m>
                <a:endParaRPr lang="ru-RU" sz="3400" dirty="0"/>
              </a:p>
              <a:p>
                <a:pPr marL="0" lvl="0" indent="0">
                  <a:buNone/>
                </a:pPr>
                <a:r>
                  <a:rPr lang="en-US" sz="3400" dirty="0" smtClean="0"/>
                  <a:t>III. </a:t>
                </a:r>
                <a:r>
                  <a:rPr lang="ru-RU" sz="3400" dirty="0" smtClean="0"/>
                  <a:t>Находим </a:t>
                </a:r>
                <a:r>
                  <a:rPr lang="ru-RU" sz="3400" dirty="0"/>
                  <a:t>оптимальный грузопоток исходной общей транспортной задачи</a:t>
                </a:r>
                <a:r>
                  <a:rPr lang="ru-RU" sz="3400" dirty="0" smtClean="0"/>
                  <a:t>.</a:t>
                </a:r>
                <a:endParaRPr lang="ru-RU" sz="3400" dirty="0">
                  <a:effectLst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24744"/>
                <a:ext cx="8856984" cy="5544616"/>
              </a:xfrm>
              <a:blipFill rotWithShape="1">
                <a:blip r:embed="rId2"/>
                <a:stretch>
                  <a:fillRect l="-1170" t="-2200" r="-895" b="-9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8741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Ограничения на пропускную способность</a:t>
            </a:r>
            <a:endParaRPr lang="ru-RU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692696"/>
                <a:ext cx="8712968" cy="59766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600" dirty="0"/>
                  <a:t>Пусть в нашей транспортной задаче имеются ограничения на пропускную способность на одну или несколько дорог.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600" i="1">
                          <a:latin typeface="Cambria Math"/>
                        </a:rPr>
                        <m:t>0≤</m:t>
                      </m:r>
                      <m:sSub>
                        <m:sSubPr>
                          <m:ctrlPr>
                            <a:rPr lang="ru-RU" sz="2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ru-RU" sz="2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:r>
                  <a:rPr lang="ru-RU" sz="2600" dirty="0"/>
                  <a:t>Пусть есть ограничение на дорогу из пункта 1 в пункт 2.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600" i="1">
                          <a:latin typeface="Cambria Math"/>
                        </a:rPr>
                        <m:t>0≤</m:t>
                      </m:r>
                      <m:sSub>
                        <m:sSubPr>
                          <m:ctrlPr>
                            <a:rPr lang="ru-RU" sz="2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12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≤</m:t>
                      </m:r>
                      <m:r>
                        <a:rPr lang="ru-RU" sz="2600" i="1"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en-US" sz="2600" dirty="0" smtClean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sz="2600" dirty="0" smtClean="0"/>
                  <a:t>Введём </a:t>
                </a:r>
                <a:r>
                  <a:rPr lang="ru-RU" sz="2600" dirty="0"/>
                  <a:t>два промежуточных пункта (пункт 3 и пункт 4) следующим образом:</a:t>
                </a:r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692696"/>
                <a:ext cx="8712968" cy="5976664"/>
              </a:xfrm>
              <a:blipFill rotWithShape="1">
                <a:blip r:embed="rId2"/>
                <a:stretch>
                  <a:fillRect l="-1189" t="-8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3059832" y="2996952"/>
            <a:ext cx="2808312" cy="720080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4"/>
          <a:stretch>
            <a:fillRect/>
          </a:stretch>
        </p:blipFill>
        <p:spPr>
          <a:xfrm>
            <a:off x="1871700" y="4653136"/>
            <a:ext cx="5184576" cy="207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58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60648"/>
                <a:ext cx="8712968" cy="64087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/>
                  <a:t>Соединим пункты 3 и 4 встречным потоком и объявим пункт 4 потребителем с интенсивностью </a:t>
                </a:r>
                <a:r>
                  <a:rPr lang="en-US" sz="2800" dirty="0"/>
                  <a:t>r</a:t>
                </a:r>
                <a:r>
                  <a:rPr lang="ru-RU" sz="2800" dirty="0"/>
                  <a:t>, а пункт 3 – производителем интенсивности </a:t>
                </a:r>
                <a:r>
                  <a:rPr lang="en-US" sz="2800" dirty="0"/>
                  <a:t>r</a:t>
                </a:r>
                <a:r>
                  <a:rPr lang="ru-RU" sz="2800" dirty="0"/>
                  <a:t>. </a:t>
                </a:r>
              </a:p>
              <a:p>
                <a:pPr marL="0" indent="0">
                  <a:buNone/>
                </a:pPr>
                <a:r>
                  <a:rPr lang="ru-RU" sz="2800" dirty="0"/>
                  <a:t>Условие баланса:</a:t>
                </a:r>
              </a:p>
              <a:p>
                <a:pPr marL="0" indent="0">
                  <a:buNone/>
                </a:pPr>
                <a:r>
                  <a:rPr lang="ru-RU" sz="2800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800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𝑟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≤</m:t>
                    </m:r>
                    <m:r>
                      <a:rPr lang="en-US" sz="2800" i="1">
                        <a:latin typeface="Cambria Math"/>
                      </a:rPr>
                      <m:t>𝑟</m:t>
                    </m:r>
                    <m:r>
                      <a:rPr lang="en-US" sz="28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>
                    <a:sym typeface="Symbol"/>
                  </a:rPr>
                  <a:t>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≤</m:t>
                    </m:r>
                    <m:r>
                      <a:rPr lang="en-US" sz="2800" i="1">
                        <a:latin typeface="Cambria Math"/>
                      </a:rPr>
                      <m:t>𝑟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 </a:t>
                </a:r>
              </a:p>
              <a:p>
                <a:pPr marL="0" indent="0">
                  <a:buNone/>
                </a:pPr>
                <a:r>
                  <a:rPr lang="ru-RU" sz="2800" dirty="0"/>
                  <a:t>Таким образом, если имеются ограничения на пропускную способность, то изменяем сеть путём увеличения количества пунктов с дорогами без ограничения пропускной способности.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60648"/>
                <a:ext cx="8712968" cy="6408712"/>
              </a:xfrm>
              <a:blipFill rotWithShape="1">
                <a:blip r:embed="rId2"/>
                <a:stretch>
                  <a:fillRect l="-1399" t="-856" b="-2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98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834"/>
            <a:ext cx="8229600" cy="79695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Условие задачи для расчетной работы </a:t>
            </a:r>
            <a:r>
              <a:rPr lang="ru-RU" sz="3200" b="1" dirty="0" smtClean="0">
                <a:solidFill>
                  <a:srgbClr val="FF0000"/>
                </a:solidFill>
              </a:rPr>
              <a:t>№</a:t>
            </a:r>
            <a:r>
              <a:rPr lang="ru-RU" sz="3200" b="1" dirty="0">
                <a:solidFill>
                  <a:srgbClr val="FF000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764704"/>
                <a:ext cx="8784976" cy="590465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Дана транспортная сеть, состоящая из 7 вершин, связи между которыми заданы с помощью матрицы инцидентности. Найти оптимальный грузопоток.</a:t>
                </a:r>
              </a:p>
              <a:p>
                <a:pPr marL="0" indent="0">
                  <a:buNone/>
                </a:pPr>
                <a:r>
                  <a:rPr lang="en-US" dirty="0"/>
                  <a:t>G</a:t>
                </a:r>
                <a:r>
                  <a:rPr lang="ru-RU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1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24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1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35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36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37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42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53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1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r>
                                      <a:rPr lang="ru-RU" i="1">
                                        <a:latin typeface="Cambria Math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47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 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e>
                                      <m:sub/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/>
                                          </a:rPr>
                                          <m:t> 0</m:t>
                                        </m:r>
                                      </m:e>
                                      <m:sub/>
                                    </m:sSub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sub/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64704"/>
                <a:ext cx="8784976" cy="5904656"/>
              </a:xfrm>
              <a:blipFill rotWithShape="1">
                <a:blip r:embed="rId2"/>
                <a:stretch>
                  <a:fillRect l="-1734" t="-2167" r="-11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02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</p:spPr>
            <p:txBody>
              <a:bodyPr/>
              <a:lstStyle/>
              <a:p>
                <a:pPr marL="0" indent="0">
                  <a:spcBef>
                    <a:spcPts val="1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13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1, 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=3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=0,1,2,…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0, 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≠3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1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24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1, 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≠2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1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35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1, 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=5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0, 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≠5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1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36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=1−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1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37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1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42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=1−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1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47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=1−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35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53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1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53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1, 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=5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0, 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≠5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220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332656"/>
                <a:ext cx="8712968" cy="633670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Интенсивности источников, потребителей: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=2</m:t>
                      </m:r>
                      <m:r>
                        <a:rPr lang="en-US" i="1">
                          <a:latin typeface="Cambria Math"/>
                        </a:rPr>
                        <m:t>𝑖</m:t>
                      </m:r>
                      <m:r>
                        <a:rPr lang="en-US" i="1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𝑖</m:t>
                      </m:r>
                      <m:r>
                        <a:rPr lang="en-US" i="1">
                          <a:latin typeface="Cambria Math"/>
                        </a:rPr>
                        <m:t>+11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=−</m:t>
                      </m:r>
                      <m:r>
                        <a:rPr lang="en-US" i="1"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=−(</m:t>
                      </m:r>
                      <m:r>
                        <a:rPr lang="en-US" i="1">
                          <a:latin typeface="Cambria Math"/>
                        </a:rPr>
                        <m:t>𝑖</m:t>
                      </m:r>
                      <m:r>
                        <a:rPr lang="en-US" i="1">
                          <a:latin typeface="Cambria Math"/>
                        </a:rPr>
                        <m:t>+4)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7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=−(</m:t>
                      </m:r>
                      <m:r>
                        <a:rPr lang="en-US" i="1">
                          <a:latin typeface="Cambria Math"/>
                        </a:rPr>
                        <m:t>𝑖</m:t>
                      </m:r>
                      <m:r>
                        <a:rPr lang="en-US" i="1">
                          <a:latin typeface="Cambria Math"/>
                        </a:rPr>
                        <m:t>+8)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15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27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+4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[...] – целая часть числа</a:t>
                </a:r>
              </a:p>
              <a:p>
                <a:pPr marL="0" indent="0">
                  <a:buNone/>
                </a:pPr>
                <a:r>
                  <a:rPr lang="ru-RU" dirty="0"/>
                  <a:t>Матрица промежуточных расходов: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𝑘𝑙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=[6+5</m:t>
                    </m:r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cos</m:t>
                    </m:r>
                    <m:r>
                      <a:rPr lang="ru-RU" i="1" smtClean="0">
                        <a:latin typeface="Cambria Math"/>
                      </a:rPr>
                      <m:t> </m:t>
                    </m:r>
                    <m:r>
                      <a:rPr lang="ru-RU" i="1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ru-RU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a:rPr lang="ru-RU" i="1">
                            <a:latin typeface="Cambria Math"/>
                          </a:rPr>
                          <m:t>15</m:t>
                        </m:r>
                      </m:den>
                    </m:f>
                    <m:d>
                      <m:dPr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ru-RU" i="1">
                            <a:latin typeface="Cambria Math"/>
                          </a:rPr>
                          <m:t>+4</m:t>
                        </m:r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ru-RU" i="1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𝑙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]</m:t>
                    </m:r>
                  </m:oMath>
                </a14:m>
                <a:r>
                  <a:rPr lang="ru-RU" dirty="0"/>
                  <a:t>   , [...] – целая часть числа</a:t>
                </a:r>
              </a:p>
              <a:p>
                <a:pPr marL="0" indent="0">
                  <a:buNone/>
                </a:pPr>
                <a:r>
                  <a:rPr lang="ru-RU" dirty="0"/>
                  <a:t>Найти оптимальный грузопоток.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332656"/>
                <a:ext cx="8712968" cy="6336704"/>
              </a:xfrm>
              <a:blipFill rotWithShape="1">
                <a:blip r:embed="rId2"/>
                <a:stretch>
                  <a:fillRect l="-1259" t="-1925" r="-280" b="-10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251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6539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FF0000"/>
                </a:solidFill>
              </a:rPr>
              <a:t>Пример оформления расчетной </a:t>
            </a:r>
            <a:r>
              <a:rPr lang="ru-RU" sz="3200" b="1" dirty="0">
                <a:solidFill>
                  <a:srgbClr val="FF0000"/>
                </a:solidFill>
              </a:rPr>
              <a:t>работы №2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476672"/>
                <a:ext cx="8784976" cy="619268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ru-RU" sz="2800" dirty="0"/>
                  <a:t>Условие </a:t>
                </a:r>
                <a:r>
                  <a:rPr lang="ru-RU" sz="2800" dirty="0" smtClean="0"/>
                  <a:t>задачи для варианта 20</a:t>
                </a:r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Дана транспортная сеть, состоящая из семи вершин, связи между которыми задаются матрицей инцидентности размера 7</a:t>
                </a:r>
                <a:r>
                  <a:rPr lang="en-US" sz="2800" dirty="0"/>
                  <a:t>x</a:t>
                </a:r>
                <a:r>
                  <a:rPr lang="ru-RU" sz="2800" dirty="0"/>
                  <a:t>7. </a:t>
                </a:r>
                <a:endParaRPr lang="ru-RU" sz="2800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Г=</m:t>
                      </m:r>
                      <m:d>
                        <m:dPr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476672"/>
                <a:ext cx="8784976" cy="6192688"/>
              </a:xfrm>
              <a:blipFill rotWithShape="1">
                <a:blip r:embed="rId2"/>
                <a:stretch>
                  <a:fillRect l="-1387" t="-8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477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18794"/>
                <a:ext cx="8352928" cy="6480720"/>
              </a:xfrm>
            </p:spPr>
            <p:txBody>
              <a:bodyPr numCol="2">
                <a:normAutofit/>
              </a:bodyPr>
              <a:lstStyle/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Источники</a:t>
                </a:r>
                <a:r>
                  <a:rPr lang="ru-RU" dirty="0"/>
                  <a:t>: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=41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=31</m:t>
                            </m:r>
                          </m:e>
                        </m:eqArr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Получатели: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=−20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=−24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7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=−28</m:t>
                            </m:r>
                          </m:e>
                        </m:eqArr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Ограничения: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15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=10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27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=8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18794"/>
                <a:ext cx="8352928" cy="6480720"/>
              </a:xfrm>
              <a:blipFill rotWithShape="1">
                <a:blip r:embed="rId2"/>
                <a:stretch>
                  <a:fillRect l="-18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836712"/>
            <a:ext cx="1936229" cy="532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775" y="218794"/>
            <a:ext cx="2396917" cy="761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9528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8928"/>
            <a:ext cx="9036496" cy="558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8445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88643"/>
            <a:ext cx="6408712" cy="622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3681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28" y="1196752"/>
            <a:ext cx="8913185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068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97" y="1268760"/>
            <a:ext cx="8499113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50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19" y="1492506"/>
            <a:ext cx="8803170" cy="3736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0780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260648"/>
            <a:ext cx="8712968" cy="6408712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16832"/>
            <a:ext cx="8412786" cy="2556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0153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5" y="836712"/>
            <a:ext cx="9071710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0785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6296"/>
            <a:ext cx="6768752" cy="6237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52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395536" y="5877272"/>
                <a:ext cx="8424936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𝑓</m:t>
                      </m:r>
                      <m:r>
                        <a:rPr lang="en-US" sz="2000" i="1">
                          <a:latin typeface="Cambria Math"/>
                        </a:rPr>
                        <m:t>=11∗22+20∗26+10∗10+10∗12+13∗13+8∗8=1215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877272"/>
                <a:ext cx="8424936" cy="400110"/>
              </a:xfrm>
              <a:prstGeom prst="rect">
                <a:avLst/>
              </a:prstGeom>
              <a:blipFill rotWithShape="1"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404664"/>
            <a:ext cx="8139607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8348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548680"/>
            <a:ext cx="3064544" cy="5680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6838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98973"/>
            <a:ext cx="6192688" cy="6063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835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60648"/>
                <a:ext cx="8712968" cy="633670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600" dirty="0" smtClean="0"/>
                  <a:t>Ответ: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/>
                      </a:rPr>
                      <m:t>𝑓</m:t>
                    </m:r>
                    <m:r>
                      <a:rPr lang="en-US" sz="2600" i="1">
                        <a:latin typeface="Cambria Math"/>
                      </a:rPr>
                      <m:t>=1215</m:t>
                    </m:r>
                  </m:oMath>
                </a14:m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sz="2600" dirty="0"/>
                  <a:t>Оптимальный грузопоток: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60648"/>
                <a:ext cx="8712968" cy="6336704"/>
              </a:xfrm>
              <a:blipFill rotWithShape="1">
                <a:blip r:embed="rId2"/>
                <a:stretch>
                  <a:fillRect l="-1189" t="-7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21785"/>
            <a:ext cx="6480720" cy="5354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673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9212" y="2676644"/>
            <a:ext cx="8229600" cy="1143000"/>
          </a:xfrm>
        </p:spPr>
        <p:txBody>
          <a:bodyPr/>
          <a:lstStyle/>
          <a:p>
            <a:r>
              <a:rPr lang="ru-RU" b="1" i="1" dirty="0" smtClean="0">
                <a:solidFill>
                  <a:srgbClr val="FF0000"/>
                </a:solidFill>
              </a:rPr>
              <a:t>Спасибо за внимание!</a:t>
            </a:r>
            <a:endParaRPr lang="ru-RU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0727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1456</Words>
  <Application>Microsoft Office PowerPoint</Application>
  <PresentationFormat>Экран (4:3)</PresentationFormat>
  <Paragraphs>119</Paragraphs>
  <Slides>31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2" baseType="lpstr">
      <vt:lpstr>Тема Office</vt:lpstr>
      <vt:lpstr>Методы оптимизации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Решение общей транспортной задачи путём сведения к задаче поиска кратчайшего пути и классической транспортной задаче</vt:lpstr>
      <vt:lpstr>Презентация PowerPoint</vt:lpstr>
      <vt:lpstr>Алгоритм решения общей транспортной задачи</vt:lpstr>
      <vt:lpstr>Ограничения на пропускную способность</vt:lpstr>
      <vt:lpstr>Презентация PowerPoint</vt:lpstr>
      <vt:lpstr>Условие задачи для расчетной работы №2</vt:lpstr>
      <vt:lpstr>Презентация PowerPoint</vt:lpstr>
      <vt:lpstr>Презентация PowerPoint</vt:lpstr>
      <vt:lpstr>Пример оформления расчетной работы №2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оптимизации</dc:title>
  <dc:creator>Виктор</dc:creator>
  <cp:lastModifiedBy>Виктор</cp:lastModifiedBy>
  <cp:revision>17</cp:revision>
  <dcterms:created xsi:type="dcterms:W3CDTF">2019-11-17T18:34:18Z</dcterms:created>
  <dcterms:modified xsi:type="dcterms:W3CDTF">2019-12-02T09:52:52Z</dcterms:modified>
</cp:coreProperties>
</file>