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4" r:id="rId17"/>
    <p:sldId id="275" r:id="rId18"/>
    <p:sldId id="272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58" r:id="rId3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BB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04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00395-E49B-4819-A1E7-E2EC46325C1D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5712-7A4F-4292-B5C5-303130AD1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802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00395-E49B-4819-A1E7-E2EC46325C1D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5712-7A4F-4292-B5C5-303130AD1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8592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00395-E49B-4819-A1E7-E2EC46325C1D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5712-7A4F-4292-B5C5-303130AD1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25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00395-E49B-4819-A1E7-E2EC46325C1D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5712-7A4F-4292-B5C5-303130AD1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816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00395-E49B-4819-A1E7-E2EC46325C1D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5712-7A4F-4292-B5C5-303130AD1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1593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00395-E49B-4819-A1E7-E2EC46325C1D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5712-7A4F-4292-B5C5-303130AD1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8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00395-E49B-4819-A1E7-E2EC46325C1D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5712-7A4F-4292-B5C5-303130AD1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5044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00395-E49B-4819-A1E7-E2EC46325C1D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5712-7A4F-4292-B5C5-303130AD1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2285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00395-E49B-4819-A1E7-E2EC46325C1D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5712-7A4F-4292-B5C5-303130AD1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5907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00395-E49B-4819-A1E7-E2EC46325C1D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5712-7A4F-4292-B5C5-303130AD1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023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00395-E49B-4819-A1E7-E2EC46325C1D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5712-7A4F-4292-B5C5-303130AD1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519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75000">
              <a:schemeClr val="bg1"/>
            </a:gs>
            <a:gs pos="100000">
              <a:srgbClr val="00B0F0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00395-E49B-4819-A1E7-E2EC46325C1D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55712-7A4F-4292-B5C5-303130AD1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4056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1640" y="908720"/>
            <a:ext cx="7052320" cy="1470025"/>
          </a:xfrm>
        </p:spPr>
        <p:txBody>
          <a:bodyPr/>
          <a:lstStyle/>
          <a:p>
            <a:r>
              <a:rPr lang="ru-RU" b="1" i="1" dirty="0"/>
              <a:t>Методы оптимизации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10258" y="2348880"/>
            <a:ext cx="7494190" cy="4104456"/>
          </a:xfrm>
        </p:spPr>
        <p:txBody>
          <a:bodyPr>
            <a:noAutofit/>
          </a:bodyPr>
          <a:lstStyle/>
          <a:p>
            <a:r>
              <a:rPr lang="ru-RU" b="1" i="1" dirty="0">
                <a:solidFill>
                  <a:schemeClr val="tx1"/>
                </a:solidFill>
              </a:rPr>
              <a:t>Лекция 8</a:t>
            </a:r>
            <a:r>
              <a:rPr lang="en-US" b="1" i="1" dirty="0">
                <a:solidFill>
                  <a:schemeClr val="tx1"/>
                </a:solidFill>
              </a:rPr>
              <a:t>. </a:t>
            </a:r>
            <a:r>
              <a:rPr lang="ru-RU" b="1" i="1" dirty="0">
                <a:solidFill>
                  <a:srgbClr val="FF0000"/>
                </a:solidFill>
              </a:rPr>
              <a:t>Транспортная  задача</a:t>
            </a:r>
          </a:p>
          <a:p>
            <a:endParaRPr lang="ru-RU" sz="2400" b="1" i="1" dirty="0">
              <a:solidFill>
                <a:srgbClr val="FF0000"/>
              </a:solidFill>
            </a:endParaRPr>
          </a:p>
          <a:p>
            <a:endParaRPr lang="ru-RU" sz="2400" b="1" i="1" dirty="0">
              <a:solidFill>
                <a:srgbClr val="FF0000"/>
              </a:solidFill>
            </a:endParaRPr>
          </a:p>
          <a:p>
            <a:endParaRPr lang="ru-RU" sz="2400" i="1" dirty="0">
              <a:solidFill>
                <a:schemeClr val="tx1"/>
              </a:solidFill>
            </a:endParaRPr>
          </a:p>
          <a:p>
            <a:pPr marL="4749800" algn="l"/>
            <a:r>
              <a:rPr lang="ru-RU" sz="2400" i="1" dirty="0">
                <a:solidFill>
                  <a:schemeClr val="tx1"/>
                </a:solidFill>
              </a:rPr>
              <a:t>Селина Елена Георгиевна</a:t>
            </a:r>
          </a:p>
          <a:p>
            <a:pPr marL="4749800" algn="l"/>
            <a:r>
              <a:rPr lang="ru-RU" sz="2400" i="1" dirty="0">
                <a:solidFill>
                  <a:schemeClr val="tx1"/>
                </a:solidFill>
              </a:rPr>
              <a:t>Ауд. 302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22415"/>
            <a:ext cx="29337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AF022-2ABA-49D5-8A90-517B29A3852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306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476672"/>
            <a:ext cx="8229600" cy="562074"/>
          </a:xfrm>
        </p:spPr>
        <p:txBody>
          <a:bodyPr>
            <a:noAutofit/>
          </a:bodyPr>
          <a:lstStyle/>
          <a:p>
            <a:r>
              <a:rPr lang="ru-RU" sz="3200" b="1" i="1" dirty="0">
                <a:solidFill>
                  <a:srgbClr val="FF0000"/>
                </a:solidFill>
              </a:rPr>
              <a:t>Постановка транспортных задач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412776"/>
            <a:ext cx="8784976" cy="52565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800" dirty="0"/>
              <a:t>Под названием «транспортная задача» объединяется широкий круг задач с единой математической моделью.</a:t>
            </a:r>
          </a:p>
          <a:p>
            <a:pPr marL="0" indent="0" algn="just">
              <a:buNone/>
            </a:pPr>
            <a:r>
              <a:rPr lang="ru-RU" sz="2800" dirty="0"/>
              <a:t>Данные задачи относятся к задачам линейного программирования и могут быть решены симплексным методом. Однако матрица системы ограничений транспортной задачи настолько своеобразна, что для ее решения разработаны специальные методы. </a:t>
            </a:r>
          </a:p>
          <a:p>
            <a:pPr marL="0" indent="0" algn="just">
              <a:buNone/>
            </a:pPr>
            <a:r>
              <a:rPr lang="ru-RU" sz="2800" dirty="0"/>
              <a:t>Эти методы, как и симплексный метод, позволяют найти начальное опорное решение, а затем, улучшая его, получить оптимальное решение. </a:t>
            </a:r>
          </a:p>
          <a:p>
            <a:pPr marL="0" indent="0" algn="just">
              <a:buNone/>
            </a:pPr>
            <a:r>
              <a:rPr lang="ru-RU" sz="2800" dirty="0"/>
              <a:t>Рассмотрим три основных вида транспортных задач.</a:t>
            </a:r>
          </a:p>
          <a:p>
            <a:pPr marL="0" indent="0" algn="just">
              <a:buNone/>
            </a:pPr>
            <a:endParaRPr lang="ru-RU" sz="2800" dirty="0"/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2806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70609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I. </a:t>
            </a:r>
            <a:r>
              <a:rPr lang="ru-RU" sz="3200" b="1" dirty="0">
                <a:solidFill>
                  <a:srgbClr val="FF0000"/>
                </a:solidFill>
              </a:rPr>
              <a:t>Общая транспортная задача (ОТЗ)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764704"/>
                <a:ext cx="8856984" cy="597666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sz="2700" dirty="0"/>
                  <a:t>Имеется </a:t>
                </a:r>
                <a:r>
                  <a:rPr lang="en-US" sz="2700" dirty="0"/>
                  <a:t>n</a:t>
                </a:r>
                <a:r>
                  <a:rPr lang="ru-RU" sz="2700" dirty="0"/>
                  <a:t> пунктов (</a:t>
                </a:r>
                <a:r>
                  <a:rPr lang="en-US" sz="2700" dirty="0"/>
                  <a:t>n</a:t>
                </a:r>
                <a:r>
                  <a:rPr lang="ru-RU" sz="2700" dirty="0"/>
                  <a:t> вершин сети), производящих, потребляющих или пропускающих некоторый однородный продукт в количествах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700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ru-RU" sz="27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700" dirty="0"/>
                  <a:t> единиц. Будем считать, что 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700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ru-RU" sz="27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u-RU" sz="2700" i="1">
                        <a:latin typeface="Cambria Math"/>
                      </a:rPr>
                      <m:t>&gt;0</m:t>
                    </m:r>
                  </m:oMath>
                </a14:m>
                <a:r>
                  <a:rPr lang="ru-RU" sz="2700" dirty="0"/>
                  <a:t>, то такой пункт - источник и производит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700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ru-RU" sz="27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700" dirty="0"/>
                  <a:t> единиц продукта, 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700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ru-RU" sz="27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u-RU" sz="2700" i="1">
                        <a:latin typeface="Cambria Math"/>
                      </a:rPr>
                      <m:t>&lt;0,</m:t>
                    </m:r>
                  </m:oMath>
                </a14:m>
                <a:r>
                  <a:rPr lang="ru-RU" sz="2700" dirty="0"/>
                  <a:t> то такой пункт – потребитель, 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700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ru-RU" sz="27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u-RU" sz="2700" i="1">
                        <a:latin typeface="Cambria Math"/>
                      </a:rPr>
                      <m:t>=0,</m:t>
                    </m:r>
                  </m:oMath>
                </a14:m>
                <a:r>
                  <a:rPr lang="ru-RU" sz="2700" dirty="0"/>
                  <a:t> то такой пункт – промежуточный перевалочный пункт. </a:t>
                </a:r>
              </a:p>
              <a:p>
                <a:pPr marL="0" indent="0">
                  <a:buNone/>
                </a:pPr>
                <a:r>
                  <a:rPr lang="ru-RU" sz="2700" dirty="0"/>
                  <a:t>Дана матрица </a:t>
                </a:r>
                <a:r>
                  <a:rPr lang="en-US" sz="2700" dirty="0"/>
                  <a:t>C</a:t>
                </a:r>
                <a:r>
                  <a:rPr lang="ru-RU" sz="2700" dirty="0"/>
                  <a:t> – матрица </a:t>
                </a:r>
              </a:p>
              <a:p>
                <a:pPr marL="0" indent="0">
                  <a:buNone/>
                </a:pPr>
                <a:r>
                  <a:rPr lang="ru-RU" sz="2700" dirty="0"/>
                  <a:t>промежуточных расходов.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sz="2800" i="1">
                        <a:latin typeface="Cambria Math"/>
                      </a:rPr>
                      <m:t>𝐶</m:t>
                    </m:r>
                    <m:r>
                      <a:rPr lang="ru-RU" sz="2800" i="1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u-RU" sz="2800" i="1">
                        <a:latin typeface="Cambria Math"/>
                      </a:rPr>
                      <m:t>}</m:t>
                    </m:r>
                  </m:oMath>
                </a14:m>
                <a:r>
                  <a:rPr lang="ru-RU" sz="2800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u-RU" sz="2800" i="1">
                        <a:latin typeface="Cambria Math"/>
                      </a:rPr>
                      <m:t>≥0</m:t>
                    </m:r>
                  </m:oMath>
                </a14:m>
                <a:endParaRPr lang="ru-RU" sz="2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u-RU" sz="2800" dirty="0"/>
                  <a:t> – затраты на перевозку </a:t>
                </a:r>
              </a:p>
              <a:p>
                <a:pPr marL="0" indent="0">
                  <a:buNone/>
                </a:pPr>
                <a:r>
                  <a:rPr lang="ru-RU" sz="2800" dirty="0"/>
                  <a:t>однородного продукта из </a:t>
                </a:r>
              </a:p>
              <a:p>
                <a:pPr marL="0" indent="0">
                  <a:buNone/>
                </a:pPr>
                <a:r>
                  <a:rPr lang="ru-RU" sz="2800" dirty="0"/>
                  <a:t>пункта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/>
                      </a:rPr>
                      <m:t>𝑖</m:t>
                    </m:r>
                  </m:oMath>
                </a14:m>
                <a:r>
                  <a:rPr lang="ru-RU" sz="2800" dirty="0"/>
                  <a:t> в пункт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/>
                      </a:rPr>
                      <m:t>𝑗</m:t>
                    </m:r>
                  </m:oMath>
                </a14:m>
                <a:endParaRPr lang="ru-RU" sz="2800" dirty="0"/>
              </a:p>
              <a:p>
                <a:pPr marL="0" indent="0">
                  <a:buNone/>
                </a:pPr>
                <a:endParaRPr lang="ru-RU" sz="2700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764704"/>
                <a:ext cx="8856984" cy="5976664"/>
              </a:xfrm>
              <a:blipFill rotWithShape="1">
                <a:blip r:embed="rId2"/>
                <a:stretch>
                  <a:fillRect l="-1376" t="-15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67"/>
          <a:stretch/>
        </p:blipFill>
        <p:spPr bwMode="auto">
          <a:xfrm>
            <a:off x="4669999" y="3789040"/>
            <a:ext cx="4291678" cy="228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4808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88640"/>
                <a:ext cx="8784976" cy="640871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Требуется найти оптимальный грузопоток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≥0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	</a:t>
                </a:r>
              </a:p>
              <a:p>
                <a:pPr marL="0" indent="0">
                  <a:buNone/>
                </a:pPr>
                <a:r>
                  <a:rPr lang="ru-RU" dirty="0"/>
                  <a:t>                                                                  (34)</a:t>
                </a:r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pPr marL="0" indent="0">
                  <a:buNone/>
                </a:pPr>
                <a:r>
                  <a:rPr lang="ru-RU" sz="2800" dirty="0"/>
                  <a:t>Обозначим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ru-RU" sz="2800" i="1">
                            <a:latin typeface="Cambria Math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ru-RU" sz="2800" dirty="0"/>
                  <a:t>- множество индексов, соответствующее выходящим дугам,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ru-RU" sz="2800" i="1">
                            <a:latin typeface="Cambria Math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ru-RU" sz="2800" dirty="0"/>
                  <a:t>- множество индексов, соответствующее входящим дугам.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88640"/>
                <a:ext cx="8784976" cy="6408712"/>
              </a:xfrm>
              <a:blipFill rotWithShape="1">
                <a:blip r:embed="rId2"/>
                <a:stretch>
                  <a:fillRect l="-1734" t="-1237" r="-4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12" r="40603"/>
          <a:stretch/>
        </p:blipFill>
        <p:spPr bwMode="auto">
          <a:xfrm>
            <a:off x="1331640" y="1844824"/>
            <a:ext cx="5031912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8638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260648"/>
            <a:ext cx="8784976" cy="6408712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/>
              <a:t>Условие баланса: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                           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  </a:t>
            </a:r>
            <a:r>
              <a:rPr lang="ru-RU" sz="2800" dirty="0"/>
              <a:t>– естественные условия баланса (весь произведенный продукт будет потреблен). </a:t>
            </a:r>
          </a:p>
          <a:p>
            <a:pPr marL="0" indent="0">
              <a:buNone/>
            </a:pPr>
            <a:r>
              <a:rPr lang="ru-RU" sz="2800" dirty="0"/>
              <a:t>Это задача линейного программирования.</a:t>
            </a:r>
          </a:p>
          <a:p>
            <a:pPr marL="0" indent="0">
              <a:buNone/>
            </a:pPr>
            <a:endParaRPr lang="ru-RU" sz="2800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836712"/>
            <a:ext cx="7815638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276872"/>
            <a:ext cx="1838099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6246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706090"/>
          </a:xfrm>
        </p:spPr>
        <p:txBody>
          <a:bodyPr>
            <a:normAutofit/>
          </a:bodyPr>
          <a:lstStyle/>
          <a:p>
            <a:pPr lvl="0"/>
            <a:r>
              <a:rPr lang="ru-RU" sz="3200" b="1" dirty="0">
                <a:solidFill>
                  <a:srgbClr val="FF0000"/>
                </a:solidFill>
              </a:rPr>
              <a:t>Классическая транспортная задача (КТЗ).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908720"/>
                <a:ext cx="8784976" cy="576064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ru-RU" sz="2800" dirty="0"/>
                  <a:t>Рассмотрим транспортную сеть в более простой структуре.</a:t>
                </a:r>
              </a:p>
              <a:p>
                <a:pPr marL="0" indent="0">
                  <a:buNone/>
                </a:pPr>
                <a:r>
                  <a:rPr lang="ru-RU" sz="2700" dirty="0"/>
                  <a:t>Есть </a:t>
                </a:r>
                <a:r>
                  <a:rPr lang="en-US" sz="2700" dirty="0"/>
                  <a:t>m</a:t>
                </a:r>
                <a:r>
                  <a:rPr lang="ru-RU" sz="2700" dirty="0"/>
                  <a:t> производителей, </a:t>
                </a:r>
                <a:endParaRPr lang="en-US" sz="2700" dirty="0"/>
              </a:p>
              <a:p>
                <a:pPr marL="0" indent="0">
                  <a:buNone/>
                </a:pPr>
                <a:r>
                  <a:rPr lang="en-US" sz="2700" dirty="0"/>
                  <a:t>n</a:t>
                </a:r>
                <a:r>
                  <a:rPr lang="ru-RU" sz="2700" dirty="0"/>
                  <a:t> потребителей. Каждый </a:t>
                </a:r>
                <a:endParaRPr lang="en-US" sz="2700" dirty="0"/>
              </a:p>
              <a:p>
                <a:pPr marL="0" indent="0">
                  <a:buNone/>
                </a:pPr>
                <a:r>
                  <a:rPr lang="ru-RU" sz="2700" dirty="0"/>
                  <a:t>производитель соединен с </a:t>
                </a:r>
                <a:endParaRPr lang="en-US" sz="2700" dirty="0"/>
              </a:p>
              <a:p>
                <a:pPr marL="0" indent="0">
                  <a:buNone/>
                </a:pPr>
                <a:r>
                  <a:rPr lang="ru-RU" sz="2700" dirty="0"/>
                  <a:t>каждым потребителем дорогой. </a:t>
                </a:r>
              </a:p>
              <a:p>
                <a:pPr marL="0" indent="0">
                  <a:buNone/>
                </a:pPr>
                <a:r>
                  <a:rPr lang="ru-RU" sz="2700" dirty="0"/>
                  <a:t>Дана матрица расходов </a:t>
                </a:r>
                <a14:m>
                  <m:oMath xmlns:m="http://schemas.openxmlformats.org/officeDocument/2006/math">
                    <m:r>
                      <a:rPr lang="ru-RU" sz="2700" i="1">
                        <a:latin typeface="Cambria Math"/>
                      </a:rPr>
                      <m:t>𝐶</m:t>
                    </m:r>
                    <m:r>
                      <a:rPr lang="ru-RU" sz="2700" i="1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ru-RU" sz="2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7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ru-RU" sz="2700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u-RU" sz="2700" i="1">
                        <a:latin typeface="Cambria Math"/>
                      </a:rPr>
                      <m:t>}</m:t>
                    </m:r>
                  </m:oMath>
                </a14:m>
                <a:r>
                  <a:rPr lang="ru-RU" sz="2700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7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ru-RU" sz="2700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u-RU" sz="2700" i="1">
                        <a:latin typeface="Cambria Math"/>
                      </a:rPr>
                      <m:t>≥0</m:t>
                    </m:r>
                  </m:oMath>
                </a14:m>
                <a:r>
                  <a:rPr lang="ru-RU" sz="2700" dirty="0"/>
                  <a:t> – стоимость провоза по </a:t>
                </a:r>
                <a:endParaRPr lang="en-US" sz="2700" dirty="0"/>
              </a:p>
              <a:p>
                <a:pPr marL="0" indent="0">
                  <a:buNone/>
                </a:pPr>
                <a:r>
                  <a:rPr lang="ru-RU" sz="2700" dirty="0"/>
                  <a:t>данной дороге единицы продукта.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7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u-RU" sz="27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700" i="1" dirty="0"/>
                  <a:t> –</a:t>
                </a:r>
                <a:r>
                  <a:rPr lang="ru-RU" sz="2700" dirty="0"/>
                  <a:t> мощность производителя</a:t>
                </a:r>
                <a:r>
                  <a:rPr lang="ru-RU" sz="2700" i="1" dirty="0"/>
                  <a:t> , </a:t>
                </a:r>
                <a14:m>
                  <m:oMath xmlns:m="http://schemas.openxmlformats.org/officeDocument/2006/math">
                    <m:r>
                      <a:rPr lang="en-US" sz="2700" i="1">
                        <a:latin typeface="Cambria Math"/>
                      </a:rPr>
                      <m:t>𝑖</m:t>
                    </m:r>
                    <m:r>
                      <a:rPr lang="ru-RU" sz="2700" i="1">
                        <a:latin typeface="Cambria Math"/>
                      </a:rPr>
                      <m:t>=1,</m:t>
                    </m:r>
                    <m:r>
                      <a:rPr lang="en-US" sz="2700" i="1">
                        <a:latin typeface="Cambria Math"/>
                      </a:rPr>
                      <m:t>𝑚</m:t>
                    </m:r>
                  </m:oMath>
                </a14:m>
                <a:r>
                  <a:rPr lang="en-US" sz="2700" i="1" dirty="0"/>
                  <a:t> </a:t>
                </a:r>
                <a:endParaRPr lang="ru-RU" sz="27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ru-RU" sz="2700" i="1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2700" dirty="0"/>
                  <a:t>- интенсивность потребителя, </a:t>
                </a:r>
                <a14:m>
                  <m:oMath xmlns:m="http://schemas.openxmlformats.org/officeDocument/2006/math">
                    <m:r>
                      <a:rPr lang="ru-RU" sz="2700" i="1">
                        <a:latin typeface="Cambria Math"/>
                      </a:rPr>
                      <m:t>𝑗</m:t>
                    </m:r>
                    <m:r>
                      <a:rPr lang="ru-RU" sz="2700" i="1">
                        <a:latin typeface="Cambria Math"/>
                      </a:rPr>
                      <m:t>=1,</m:t>
                    </m:r>
                    <m:r>
                      <a:rPr lang="ru-RU" sz="2700" i="1">
                        <a:latin typeface="Cambria Math"/>
                      </a:rPr>
                      <m:t>𝑛</m:t>
                    </m:r>
                  </m:oMath>
                </a14:m>
                <a:endParaRPr lang="ru-RU" sz="2700" dirty="0"/>
              </a:p>
              <a:p>
                <a:pPr marL="0" indent="0">
                  <a:buNone/>
                </a:pPr>
                <a:r>
                  <a:rPr lang="ru-RU" sz="2700" dirty="0"/>
                  <a:t>Нет дорог внутри группы производителей и внутри группы потребителей.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908720"/>
                <a:ext cx="8784976" cy="5760640"/>
              </a:xfrm>
              <a:blipFill rotWithShape="1">
                <a:blip r:embed="rId2"/>
                <a:stretch>
                  <a:fillRect l="-1179" t="-8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540" y="1484784"/>
            <a:ext cx="2952328" cy="3260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1027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16632"/>
                <a:ext cx="8784976" cy="655272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700" dirty="0"/>
                  <a:t>Найти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ru-RU" sz="2700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u-RU" sz="2700" i="1">
                        <a:latin typeface="Cambria Math"/>
                      </a:rPr>
                      <m:t>≥0</m:t>
                    </m:r>
                  </m:oMath>
                </a14:m>
                <a:r>
                  <a:rPr lang="ru-RU" sz="2700" dirty="0"/>
                  <a:t> – объёмы поставок от </a:t>
                </a:r>
                <a:r>
                  <a:rPr lang="en-US" sz="2700" dirty="0" err="1"/>
                  <a:t>i</a:t>
                </a:r>
                <a:r>
                  <a:rPr lang="ru-RU" sz="2700" dirty="0"/>
                  <a:t>-го производителя к </a:t>
                </a:r>
                <a:r>
                  <a:rPr lang="en-US" sz="2700" dirty="0"/>
                  <a:t>j</a:t>
                </a:r>
                <a:r>
                  <a:rPr lang="ru-RU" sz="2700" dirty="0"/>
                  <a:t>-му потребителю так, чтобы суммарная стоимость перевозок товара от производителей к потребителям была минимальной.</a:t>
                </a:r>
                <a:endParaRPr lang="en-US" sz="27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r>
                  <a:rPr lang="ru-RU" sz="2800" dirty="0"/>
                  <a:t>Условие баланса:</a:t>
                </a:r>
              </a:p>
              <a:p>
                <a:pPr marL="0" indent="0">
                  <a:buNone/>
                </a:pPr>
                <a:endParaRPr lang="ru-RU" sz="2800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16632"/>
                <a:ext cx="8784976" cy="6552728"/>
              </a:xfrm>
              <a:blipFill rotWithShape="1">
                <a:blip r:embed="rId2"/>
                <a:stretch>
                  <a:fillRect l="-1387" t="-7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4282769"/>
            <a:ext cx="1656184" cy="230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5023065"/>
            <a:ext cx="1951856" cy="1091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667" y="1988840"/>
            <a:ext cx="5462730" cy="2297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3543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856984" cy="922114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solidFill>
                  <a:srgbClr val="FF0000"/>
                </a:solidFill>
              </a:rPr>
              <a:t>III. </a:t>
            </a:r>
            <a:r>
              <a:rPr lang="ru-RU" sz="3200" b="1" dirty="0">
                <a:solidFill>
                  <a:srgbClr val="FF0000"/>
                </a:solidFill>
              </a:rPr>
              <a:t>Задача определения кратчайшего пути на сети.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340768"/>
                <a:ext cx="8712968" cy="525658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700" dirty="0"/>
                  <a:t>Задача состоит в том, чтобы найти кратчайший путь на графе от какой-то выделенной вершины до любой другой вершины.</a:t>
                </a:r>
                <a:r>
                  <a:rPr lang="en-US" sz="2700" dirty="0"/>
                  <a:t> </a:t>
                </a:r>
                <a:r>
                  <a:rPr lang="ru-RU" sz="2800" dirty="0"/>
                  <a:t>Даны длины всех дорог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latin typeface="Cambria Math"/>
                          </a:rPr>
                          <m:t>С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𝑖𝑗</m:t>
                        </m:r>
                        <m:r>
                          <a:rPr lang="en-US" sz="2800" i="1">
                            <a:latin typeface="Cambria Math"/>
                          </a:rPr>
                          <m:t> </m:t>
                        </m:r>
                      </m:sub>
                    </m:sSub>
                  </m:oMath>
                </a14:m>
                <a:endParaRPr lang="en-US" sz="2700" dirty="0"/>
              </a:p>
              <a:p>
                <a:pPr marL="0" indent="0">
                  <a:buNone/>
                </a:pPr>
                <a:endParaRPr lang="en-US" sz="2700" dirty="0"/>
              </a:p>
              <a:p>
                <a:pPr marL="0" indent="0">
                  <a:buNone/>
                </a:pPr>
                <a:endParaRPr lang="en-US" sz="2700" dirty="0"/>
              </a:p>
              <a:p>
                <a:pPr marL="0" indent="0">
                  <a:buNone/>
                </a:pPr>
                <a:endParaRPr lang="en-US" sz="2700" dirty="0"/>
              </a:p>
              <a:p>
                <a:pPr marL="0" indent="0">
                  <a:buNone/>
                </a:pPr>
                <a:endParaRPr lang="en-US" sz="2700" dirty="0"/>
              </a:p>
              <a:p>
                <a:pPr marL="0" indent="0">
                  <a:buNone/>
                </a:pPr>
                <a:endParaRPr lang="en-US" sz="2700" dirty="0"/>
              </a:p>
              <a:p>
                <a:pPr marL="0" indent="0">
                  <a:buNone/>
                </a:pPr>
                <a:r>
                  <a:rPr lang="ru-RU" sz="2800" dirty="0"/>
                  <a:t>Найти кратчайший путь из </a:t>
                </a:r>
                <a:r>
                  <a:rPr lang="en-US" sz="2800" dirty="0"/>
                  <a:t>s</a:t>
                </a:r>
                <a:r>
                  <a:rPr lang="ru-RU" sz="2800" dirty="0"/>
                  <a:t> в </a:t>
                </a:r>
                <a:r>
                  <a:rPr lang="en-US" sz="2800" dirty="0"/>
                  <a:t>f</a:t>
                </a:r>
                <a:r>
                  <a:rPr lang="ru-RU" sz="2800" dirty="0"/>
                  <a:t>.</a:t>
                </a:r>
              </a:p>
              <a:p>
                <a:pPr marL="0" indent="0">
                  <a:buNone/>
                </a:pPr>
                <a:endParaRPr lang="en-US" sz="2700" dirty="0"/>
              </a:p>
              <a:p>
                <a:pPr marL="0" indent="0">
                  <a:buNone/>
                </a:pPr>
                <a:endParaRPr lang="ru-RU" sz="2700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340768"/>
                <a:ext cx="8712968" cy="5256584"/>
              </a:xfrm>
              <a:blipFill rotWithShape="1">
                <a:blip r:embed="rId2"/>
                <a:stretch>
                  <a:fillRect l="-1399" t="-928" r="-16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359" y="2852936"/>
            <a:ext cx="3523456" cy="1981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815" y="5157192"/>
            <a:ext cx="1730835" cy="992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7280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080120"/>
          </a:xfrm>
        </p:spPr>
        <p:txBody>
          <a:bodyPr>
            <a:normAutofit/>
          </a:bodyPr>
          <a:lstStyle/>
          <a:p>
            <a:r>
              <a:rPr lang="ru-RU" sz="3200" b="1" i="1" dirty="0">
                <a:solidFill>
                  <a:srgbClr val="FF0000"/>
                </a:solidFill>
              </a:rPr>
              <a:t>Алгоритм поиска кратчайшего пути</a:t>
            </a:r>
            <a:endParaRPr lang="ru-RU" sz="3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772816"/>
                <a:ext cx="8784976" cy="489654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800" dirty="0"/>
                  <a:t>Алгоритм заключается в последовательном нахождении кратчайшего расстояния от стартовой вершины до всех вершин.</a:t>
                </a:r>
              </a:p>
              <a:p>
                <a:pPr marL="0" indent="0">
                  <a:buNone/>
                </a:pPr>
                <a:r>
                  <a:rPr lang="ru-RU" sz="2800" dirty="0"/>
                  <a:t>Обозначим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800" dirty="0"/>
                  <a:t> – кратчайшее расстояние до вершины </a:t>
                </a:r>
                <a:r>
                  <a:rPr lang="en-US" sz="2800" dirty="0" err="1"/>
                  <a:t>i</a:t>
                </a:r>
                <a:r>
                  <a:rPr lang="ru-RU" sz="2800" dirty="0"/>
                  <a:t>.</a:t>
                </a:r>
              </a:p>
              <a:p>
                <a:pPr marL="0" indent="0">
                  <a:buNone/>
                </a:pPr>
                <a:r>
                  <a:rPr lang="ru-RU" sz="2800" dirty="0"/>
                  <a:t>Вершины, до которых мы можем найти кратчайшее расстояние, будем называть помеченными. Алгоритм состоит из прямого прохода и обратного. </a:t>
                </a:r>
              </a:p>
              <a:p>
                <a:pPr marL="0" indent="0">
                  <a:buNone/>
                </a:pPr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772816"/>
                <a:ext cx="8784976" cy="4896544"/>
              </a:xfrm>
              <a:blipFill rotWithShape="1">
                <a:blip r:embed="rId2"/>
                <a:stretch>
                  <a:fillRect l="-1387" t="-1121" r="-20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5959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I</a:t>
            </a:r>
            <a:r>
              <a:rPr lang="ru-RU" b="1" i="1" dirty="0">
                <a:solidFill>
                  <a:srgbClr val="FF0000"/>
                </a:solidFill>
              </a:rPr>
              <a:t> этап</a:t>
            </a:r>
            <a:r>
              <a:rPr lang="en-US" b="1" i="1" dirty="0">
                <a:solidFill>
                  <a:srgbClr val="FF0000"/>
                </a:solidFill>
              </a:rPr>
              <a:t>. </a:t>
            </a:r>
            <a:br>
              <a:rPr lang="en-US" b="1" i="1" dirty="0">
                <a:solidFill>
                  <a:srgbClr val="FF0000"/>
                </a:solidFill>
              </a:rPr>
            </a:br>
            <a:r>
              <a:rPr lang="ru-RU" b="1" i="1" dirty="0">
                <a:solidFill>
                  <a:srgbClr val="FF0000"/>
                </a:solidFill>
              </a:rPr>
              <a:t>Прямой проход.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340768"/>
                <a:ext cx="8640960" cy="532859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sz="3000" dirty="0"/>
                  <a:t>1) Пусть на </a:t>
                </a:r>
                <a:r>
                  <a:rPr lang="en-US" sz="3000" dirty="0"/>
                  <a:t>k</a:t>
                </a:r>
                <a:r>
                  <a:rPr lang="ru-RU" sz="3000" dirty="0"/>
                  <a:t>-ом шаге есть множество </a:t>
                </a:r>
                <a:r>
                  <a:rPr lang="en-US" sz="3000" dirty="0"/>
                  <a:t>J</a:t>
                </a:r>
                <a:r>
                  <a:rPr lang="ru-RU" sz="3000" dirty="0"/>
                  <a:t> помеченных вершин. </a:t>
                </a:r>
              </a:p>
              <a:p>
                <a:pPr marL="0" indent="0">
                  <a:buNone/>
                </a:pPr>
                <a:r>
                  <a:rPr lang="ru-RU" sz="3000" dirty="0"/>
                  <a:t>2) Выделим все дуги, начинающиеся на помеченных и заканчивающиеся на непомеченных.</a:t>
                </a:r>
              </a:p>
              <a:p>
                <a:pPr marL="0" indent="0">
                  <a:buNone/>
                </a:pPr>
                <a:r>
                  <a:rPr lang="ru-RU" sz="3000" dirty="0"/>
                  <a:t>Обозначим множество таких дуг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3000" i="1">
                            <a:latin typeface="Cambria Math"/>
                          </a:rPr>
                          <m:t>𝐹</m:t>
                        </m:r>
                      </m:e>
                      <m:sup>
                        <m:r>
                          <a:rPr lang="ru-RU" sz="3000" i="1">
                            <a:latin typeface="Cambria Math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ru-RU" sz="3000" dirty="0"/>
                  <a:t>- фронт прокладки. </a:t>
                </a:r>
              </a:p>
              <a:p>
                <a:pPr marL="0" indent="0">
                  <a:buNone/>
                </a:pPr>
                <a:r>
                  <a:rPr lang="ru-RU" sz="3000" dirty="0"/>
                  <a:t>3)Найдём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3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 sz="3000">
                                <a:latin typeface="Cambria Math"/>
                              </a:rPr>
                              <m:t>min</m:t>
                            </m:r>
                          </m:e>
                          <m:lim>
                            <m:r>
                              <a:rPr lang="ru-RU" sz="3000" i="1">
                                <a:latin typeface="Cambria Math"/>
                              </a:rPr>
                              <m:t>(</m:t>
                            </m:r>
                            <m:r>
                              <a:rPr lang="ru-RU" sz="3000" i="1">
                                <a:latin typeface="Cambria Math"/>
                              </a:rPr>
                              <m:t>𝑖</m:t>
                            </m:r>
                            <m:r>
                              <a:rPr lang="ru-RU" sz="3000" i="1">
                                <a:latin typeface="Cambria Math"/>
                              </a:rPr>
                              <m:t>,</m:t>
                            </m:r>
                            <m:r>
                              <a:rPr lang="ru-RU" sz="3000" i="1">
                                <a:latin typeface="Cambria Math"/>
                              </a:rPr>
                              <m:t>𝑗</m:t>
                            </m:r>
                            <m:r>
                              <a:rPr lang="ru-RU" sz="3000" i="1">
                                <a:latin typeface="Cambria Math"/>
                              </a:rPr>
                              <m:t>)∈</m:t>
                            </m:r>
                            <m:sSup>
                              <m:sSupPr>
                                <m:ctrlPr>
                                  <a:rPr lang="ru-RU" sz="3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3000" i="1">
                                    <a:latin typeface="Cambria Math"/>
                                  </a:rPr>
                                  <m:t>𝐹</m:t>
                                </m:r>
                              </m:e>
                              <m:sup>
                                <m:r>
                                  <a:rPr lang="ru-RU" sz="3000" i="1">
                                    <a:latin typeface="Cambria Math"/>
                                  </a:rPr>
                                  <m:t>𝑘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ru-RU" sz="3000" i="1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ru-RU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3000" i="1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sz="30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ru-RU" sz="3000" i="1">
                            <a:latin typeface="Cambria Math"/>
                          </a:rPr>
                          <m:t>+</m:t>
                        </m:r>
                      </m:e>
                    </m:func>
                    <m:sSub>
                      <m:sSubPr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30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ru-RU" sz="3000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u-RU" sz="3000" i="1">
                        <a:latin typeface="Cambria Math"/>
                      </a:rPr>
                      <m:t>)=</m:t>
                    </m:r>
                  </m:oMath>
                </a14:m>
                <a:r>
                  <a:rPr lang="ru-RU" sz="30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3000" i="1">
                            <a:latin typeface="Cambria Math"/>
                          </a:rPr>
                          <m:t>𝐿</m:t>
                        </m:r>
                      </m:e>
                      <m:sub>
                        <m:sSup>
                          <m:sSupPr>
                            <m:ctrlPr>
                              <a:rPr lang="ru-RU" sz="3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3000" i="1">
                                <a:latin typeface="Cambria Math"/>
                              </a:rPr>
                              <m:t>𝑖</m:t>
                            </m:r>
                          </m:e>
                          <m:sup>
                            <m:r>
                              <a:rPr lang="ru-RU" sz="3000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sub>
                    </m:sSub>
                    <m:r>
                      <a:rPr lang="ru-RU" sz="3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3000" i="1">
                            <a:latin typeface="Cambria Math"/>
                          </a:rPr>
                          <m:t>𝐶</m:t>
                        </m:r>
                      </m:e>
                      <m:sub>
                        <m:sSup>
                          <m:sSupPr>
                            <m:ctrlPr>
                              <a:rPr lang="ru-RU" sz="3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3000" i="1">
                                <a:latin typeface="Cambria Math"/>
                              </a:rPr>
                              <m:t>𝑖</m:t>
                            </m:r>
                          </m:e>
                          <m:sup>
                            <m:r>
                              <a:rPr lang="ru-RU" sz="3000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  <m:sSup>
                          <m:sSupPr>
                            <m:ctrlPr>
                              <a:rPr lang="ru-RU" sz="3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3000" i="1">
                                <a:latin typeface="Cambria Math"/>
                              </a:rPr>
                              <m:t>𝑗</m:t>
                            </m:r>
                          </m:e>
                          <m:sup>
                            <m:r>
                              <a:rPr lang="ru-RU" sz="3000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endParaRPr lang="ru-RU" sz="3000" dirty="0"/>
              </a:p>
              <a:p>
                <a:pPr marL="0" indent="0">
                  <a:buNone/>
                </a:pPr>
                <a:r>
                  <a:rPr lang="ru-RU" sz="3000" dirty="0"/>
                  <a:t>Если таких много, то выбираем одну.</a:t>
                </a:r>
              </a:p>
              <a:p>
                <a:pPr marL="0" indent="0">
                  <a:buNone/>
                </a:pPr>
                <a:r>
                  <a:rPr lang="ru-RU" sz="3000" dirty="0"/>
                  <a:t>4)Помечаем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latin typeface="Cambria Math"/>
                          </a:rPr>
                          <m:t>𝑗</m:t>
                        </m:r>
                      </m:e>
                      <m:sup>
                        <m:r>
                          <a:rPr lang="ru-RU" sz="3000" i="1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3000" dirty="0"/>
                  <a:t>.</a:t>
                </a:r>
                <a:endParaRPr lang="ru-RU" sz="3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3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000" i="1">
                              <a:latin typeface="Cambria Math"/>
                            </a:rPr>
                            <m:t>𝐽</m:t>
                          </m:r>
                        </m:e>
                        <m:sup>
                          <m:r>
                            <a:rPr lang="en-US" sz="3000" i="1">
                              <a:latin typeface="Cambria Math"/>
                            </a:rPr>
                            <m:t>𝑘</m:t>
                          </m:r>
                          <m:r>
                            <a:rPr lang="en-US" sz="3000" i="1">
                              <a:latin typeface="Cambria Math"/>
                            </a:rPr>
                            <m:t>+1</m:t>
                          </m:r>
                        </m:sup>
                      </m:sSup>
                      <m:r>
                        <a:rPr lang="en-US" sz="30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ru-RU" sz="3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000" i="1">
                              <a:latin typeface="Cambria Math"/>
                            </a:rPr>
                            <m:t>𝐽</m:t>
                          </m:r>
                        </m:e>
                        <m:sup>
                          <m:r>
                            <a:rPr lang="en-US" sz="3000" i="1">
                              <a:latin typeface="Cambria Math"/>
                            </a:rPr>
                            <m:t>𝑘</m:t>
                          </m:r>
                        </m:sup>
                      </m:sSup>
                      <m:r>
                        <a:rPr lang="en-US" sz="3000" i="1">
                          <a:latin typeface="Cambria Math"/>
                        </a:rPr>
                        <m:t>∪</m:t>
                      </m:r>
                      <m:sSup>
                        <m:sSupPr>
                          <m:ctrlPr>
                            <a:rPr lang="ru-RU" sz="3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000" i="1">
                              <a:latin typeface="Cambria Math"/>
                            </a:rPr>
                            <m:t>𝑗</m:t>
                          </m:r>
                        </m:e>
                        <m:sup>
                          <m:r>
                            <a:rPr lang="en-US" sz="3000" i="1">
                              <a:latin typeface="Cambria Math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ru-RU" sz="3000" dirty="0"/>
              </a:p>
              <a:p>
                <a:pPr marL="0" indent="0">
                  <a:buNone/>
                </a:pPr>
                <a:r>
                  <a:rPr lang="ru-RU" sz="3000" dirty="0"/>
                  <a:t>Продолжаем процесс и таким образом найдём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ru-RU" sz="3000" i="1">
                            <a:latin typeface="Cambria Math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ru-RU" sz="3000" dirty="0"/>
                  <a:t>.</a:t>
                </a:r>
              </a:p>
              <a:p>
                <a:pPr marL="0" indent="0">
                  <a:buNone/>
                </a:pPr>
                <a:r>
                  <a:rPr lang="ru-RU" sz="3000" dirty="0"/>
                  <a:t>Итог </a:t>
                </a:r>
                <a:r>
                  <a:rPr lang="en-US" sz="3000" dirty="0"/>
                  <a:t>I</a:t>
                </a:r>
                <a:r>
                  <a:rPr lang="ru-RU" sz="3000" dirty="0"/>
                  <a:t> этапа – длина кратчайшего пути. 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340768"/>
                <a:ext cx="8640960" cy="5328592"/>
              </a:xfrm>
              <a:blipFill rotWithShape="1">
                <a:blip r:embed="rId2"/>
                <a:stretch>
                  <a:fillRect l="-1410" t="-2517" r="-7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4841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II</a:t>
            </a:r>
            <a:r>
              <a:rPr lang="ru-RU" b="1" i="1" dirty="0">
                <a:solidFill>
                  <a:srgbClr val="FF0000"/>
                </a:solidFill>
              </a:rPr>
              <a:t> этап. </a:t>
            </a:r>
            <a:br>
              <a:rPr lang="ru-RU" b="1" i="1" dirty="0">
                <a:solidFill>
                  <a:srgbClr val="FF0000"/>
                </a:solidFill>
              </a:rPr>
            </a:br>
            <a:r>
              <a:rPr lang="ru-RU" b="1" i="1" dirty="0">
                <a:solidFill>
                  <a:srgbClr val="FF0000"/>
                </a:solidFill>
              </a:rPr>
              <a:t>Обратный проход.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2132857"/>
                <a:ext cx="8229600" cy="338437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800" dirty="0"/>
                  <a:t>Идём от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/>
                      </a:rPr>
                      <m:t>𝑓</m:t>
                    </m:r>
                  </m:oMath>
                </a14:m>
                <a:r>
                  <a:rPr lang="ru-RU" sz="2800" dirty="0"/>
                  <a:t> по нашим зарубкам и восстанавливаем наш путь. Если требуется несколько оптимальных маршрутов, то надо помечать не одну дугу, а несколько.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2132857"/>
                <a:ext cx="8229600" cy="3384376"/>
              </a:xfrm>
              <a:blipFill rotWithShape="1">
                <a:blip r:embed="rId2"/>
                <a:stretch>
                  <a:fillRect l="-1556" t="-16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7953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354162"/>
          </a:xfrm>
        </p:spPr>
        <p:txBody>
          <a:bodyPr>
            <a:normAutofit fontScale="90000"/>
          </a:bodyPr>
          <a:lstStyle/>
          <a:p>
            <a:r>
              <a:rPr lang="ru-RU" sz="3600" b="1" i="1" dirty="0">
                <a:solidFill>
                  <a:srgbClr val="FF0000"/>
                </a:solidFill>
              </a:rPr>
              <a:t>Доказательство оптимальности пути, найденного по алгоритму поиска кратчайшего пути</a:t>
            </a:r>
            <a:endParaRPr lang="ru-R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600200"/>
                <a:ext cx="8784976" cy="506916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мы решили задачу и нашли оптимальный путь из </a:t>
                </a:r>
                <a:r>
                  <a:rPr lang="en-US" dirty="0"/>
                  <a:t>s</a:t>
                </a:r>
                <a:r>
                  <a:rPr lang="ru-RU" dirty="0"/>
                  <a:t> в </a:t>
                </a:r>
                <a:r>
                  <a:rPr lang="en-US" dirty="0"/>
                  <a:t>f</a:t>
                </a:r>
                <a:r>
                  <a:rPr lang="ru-RU" dirty="0"/>
                  <a:t> и его длину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Обозначим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dirty="0"/>
                  <a:t> - предпоследняя вершина,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𝐽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dirty="0"/>
                  <a:t> - множество помеченных вершин на предыдущем шаге. Ясно,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ru-RU" i="1"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𝐽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Рассмотрим альтернативный путь . Пусть имеется вершина 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𝛼</m:t>
                    </m:r>
                    <m:r>
                      <a:rPr lang="ru-RU" i="1"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𝐽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dirty="0"/>
                  <a:t>, а следующая за ней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𝛽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𝐽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dirty="0"/>
                  <a:t>. При этом </a:t>
                </a:r>
                <a:r>
                  <a:rPr lang="ru-RU" i="1" dirty="0">
                    <a:sym typeface="Symbol"/>
                  </a:rPr>
                  <a:t></a:t>
                </a:r>
                <a:r>
                  <a:rPr lang="ru-RU" i="1" dirty="0"/>
                  <a:t> </a:t>
                </a:r>
                <a:r>
                  <a:rPr lang="ru-RU" dirty="0"/>
                  <a:t>может совпадать с </a:t>
                </a:r>
                <a:r>
                  <a:rPr lang="en-US" i="1" dirty="0"/>
                  <a:t>f </a:t>
                </a:r>
                <a:r>
                  <a:rPr lang="ru-RU" dirty="0"/>
                  <a:t>, а может и не совпадать. </a:t>
                </a:r>
              </a:p>
              <a:p>
                <a:pPr marL="0" indent="0">
                  <a:buNone/>
                </a:pPr>
                <a:r>
                  <a:rPr lang="ru-RU" dirty="0"/>
                  <a:t>На предыдущем шаге в соответствии с нашим алгоритмом: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𝐿</m:t>
                        </m:r>
                      </m:e>
                      <m:sub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𝑓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ru-RU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  <m:sub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𝑓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𝛼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𝛼𝛽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𝛼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𝛼</m:t>
                        </m:r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𝐿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𝐿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ru-RU" dirty="0"/>
                  <a:t> – длина альтернативного пути. </a:t>
                </a:r>
              </a:p>
              <a:p>
                <a:pPr marL="0" indent="0">
                  <a:buNone/>
                </a:pPr>
                <a:r>
                  <a:rPr lang="ru-RU" dirty="0"/>
                  <a:t>Получили: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𝐿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Значит,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ru-RU" dirty="0"/>
                  <a:t> меньше любого альтернативного пути. 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600200"/>
                <a:ext cx="8784976" cy="5069160"/>
              </a:xfrm>
              <a:blipFill rotWithShape="1">
                <a:blip r:embed="rId2"/>
                <a:stretch>
                  <a:fillRect l="-1110" t="-2166" r="-13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5554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260648"/>
            <a:ext cx="8856984" cy="6336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b="1" i="1" dirty="0">
                <a:solidFill>
                  <a:srgbClr val="FF0000"/>
                </a:solidFill>
              </a:rPr>
              <a:t>Пример. </a:t>
            </a:r>
            <a:r>
              <a:rPr lang="ru-RU" sz="2800" dirty="0"/>
              <a:t>Найти кратчайший путь из вершины 1 в вершину 8.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84784"/>
            <a:ext cx="8289681" cy="439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016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79512" y="188640"/>
            <a:ext cx="8784976" cy="6669360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r>
              <a:rPr lang="ru-RU" sz="2800" dirty="0"/>
              <a:t>Кратчайший путь: 1</a:t>
            </a:r>
            <a:r>
              <a:rPr lang="ru-RU" sz="2800" dirty="0">
                <a:sym typeface="Symbol"/>
              </a:rPr>
              <a:t></a:t>
            </a:r>
            <a:r>
              <a:rPr lang="ru-RU" sz="2800" dirty="0"/>
              <a:t>4</a:t>
            </a:r>
            <a:r>
              <a:rPr lang="ru-RU" sz="2800" dirty="0">
                <a:sym typeface="Symbol"/>
              </a:rPr>
              <a:t></a:t>
            </a:r>
            <a:r>
              <a:rPr lang="ru-RU" sz="2800" dirty="0"/>
              <a:t>7</a:t>
            </a:r>
            <a:r>
              <a:rPr lang="ru-RU" sz="2800" dirty="0">
                <a:sym typeface="Symbol"/>
              </a:rPr>
              <a:t></a:t>
            </a:r>
            <a:r>
              <a:rPr lang="ru-RU" sz="2800" dirty="0"/>
              <a:t>8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0"/>
            <a:ext cx="8651189" cy="6237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3608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4988"/>
            <a:ext cx="8229600" cy="821724"/>
          </a:xfrm>
        </p:spPr>
        <p:txBody>
          <a:bodyPr>
            <a:normAutofit/>
          </a:bodyPr>
          <a:lstStyle/>
          <a:p>
            <a:r>
              <a:rPr lang="ru-RU" sz="3200" b="1" i="1" dirty="0">
                <a:solidFill>
                  <a:srgbClr val="FF0000"/>
                </a:solidFill>
              </a:rPr>
              <a:t>Классическая транспортная задача</a:t>
            </a:r>
            <a:endParaRPr lang="ru-RU" sz="3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764704"/>
                <a:ext cx="8784976" cy="5976664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Есть </a:t>
                </a:r>
                <a:r>
                  <a:rPr lang="en-US" dirty="0"/>
                  <a:t>m</a:t>
                </a:r>
                <a:r>
                  <a:rPr lang="ru-RU" dirty="0"/>
                  <a:t> производителей, </a:t>
                </a:r>
                <a:r>
                  <a:rPr lang="en-US" dirty="0"/>
                  <a:t>n</a:t>
                </a:r>
                <a:r>
                  <a:rPr lang="ru-RU" dirty="0"/>
                  <a:t> потребителей. Каждый производитель соединен с каждым потребителем дорогой. </a:t>
                </a:r>
              </a:p>
              <a:p>
                <a:pPr marL="0" indent="0">
                  <a:buNone/>
                </a:pPr>
                <a:r>
                  <a:rPr lang="ru-RU" dirty="0"/>
                  <a:t>Дана матрица расходов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𝐶</m:t>
                    </m:r>
                    <m:r>
                      <a:rPr lang="ru-RU" i="1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}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≥0</m:t>
                    </m:r>
                  </m:oMath>
                </a14:m>
                <a:r>
                  <a:rPr lang="ru-RU" dirty="0"/>
                  <a:t> – стоимость провоза по данной дороге единицы продукта.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i="1" dirty="0"/>
                  <a:t> –</a:t>
                </a:r>
                <a:r>
                  <a:rPr lang="ru-RU" dirty="0"/>
                  <a:t> мощность производителя</a:t>
                </a:r>
                <a:r>
                  <a:rPr lang="ru-RU" i="1" dirty="0"/>
                  <a:t> 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𝑖</m:t>
                    </m:r>
                    <m:r>
                      <a:rPr lang="ru-RU" i="1">
                        <a:latin typeface="Cambria Math"/>
                      </a:rPr>
                      <m:t>=1,</m:t>
                    </m:r>
                    <m:r>
                      <a:rPr lang="en-US" i="1">
                        <a:latin typeface="Cambria Math"/>
                      </a:rPr>
                      <m:t>𝑚</m:t>
                    </m:r>
                  </m:oMath>
                </a14:m>
                <a:r>
                  <a:rPr lang="en-US" i="1" dirty="0"/>
                  <a:t> </a:t>
                </a:r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dirty="0"/>
                  <a:t>- интенсивность потребителя,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𝑗</m:t>
                    </m:r>
                    <m:r>
                      <a:rPr lang="ru-RU" i="1">
                        <a:latin typeface="Cambria Math"/>
                      </a:rPr>
                      <m:t>=1,</m:t>
                    </m:r>
                    <m:r>
                      <a:rPr lang="ru-RU" i="1">
                        <a:latin typeface="Cambria Math"/>
                      </a:rPr>
                      <m:t>𝑛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Нет дорог внутри группы производителей и внутри группы потребителей.</a:t>
                </a:r>
              </a:p>
              <a:p>
                <a:pPr marL="0" indent="0">
                  <a:buNone/>
                </a:pPr>
                <a:r>
                  <a:rPr lang="ru-RU" dirty="0"/>
                  <a:t>Найти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≥0</m:t>
                    </m:r>
                  </m:oMath>
                </a14:m>
                <a:r>
                  <a:rPr lang="ru-RU" dirty="0"/>
                  <a:t> – объёмы поставок от </a:t>
                </a:r>
                <a:r>
                  <a:rPr lang="en-US" dirty="0" err="1"/>
                  <a:t>i</a:t>
                </a:r>
                <a:r>
                  <a:rPr lang="ru-RU" dirty="0"/>
                  <a:t>-го производителя к </a:t>
                </a:r>
                <a:r>
                  <a:rPr lang="en-US" dirty="0"/>
                  <a:t>j</a:t>
                </a:r>
                <a:r>
                  <a:rPr lang="ru-RU" dirty="0"/>
                  <a:t>-му потребителю так, чтобы суммарная стоимость перевозок товара от производителей к потребителям была минимальной.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764704"/>
                <a:ext cx="8784976" cy="5976664"/>
              </a:xfrm>
              <a:blipFill rotWithShape="1">
                <a:blip r:embed="rId2"/>
                <a:stretch>
                  <a:fillRect l="-1248" t="-1529" r="-1872" b="-16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0075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908720"/>
            <a:ext cx="3591100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132856"/>
            <a:ext cx="3131211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9963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0"/>
                <a:ext cx="8784976" cy="674136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600" dirty="0"/>
                  <a:t>Суммарное количество дорог </a:t>
                </a:r>
                <a14:m>
                  <m:oMath xmlns:m="http://schemas.openxmlformats.org/officeDocument/2006/math">
                    <m:r>
                      <a:rPr lang="ru-RU" sz="2600" i="1">
                        <a:latin typeface="Cambria Math"/>
                      </a:rPr>
                      <m:t>𝑚</m:t>
                    </m:r>
                    <m:r>
                      <a:rPr lang="ru-RU" sz="2600" i="1">
                        <a:latin typeface="Cambria Math"/>
                      </a:rPr>
                      <m:t>∙</m:t>
                    </m:r>
                    <m:r>
                      <a:rPr lang="ru-RU" sz="2600" i="1">
                        <a:latin typeface="Cambria Math"/>
                      </a:rPr>
                      <m:t>𝑛</m:t>
                    </m:r>
                  </m:oMath>
                </a14:m>
                <a:endParaRPr lang="ru-RU" sz="2600" dirty="0"/>
              </a:p>
              <a:p>
                <a:pPr marL="0" indent="0">
                  <a:buNone/>
                </a:pPr>
                <a:r>
                  <a:rPr lang="ru-RU" sz="2600" dirty="0"/>
                  <a:t>Обычно классическая транспортная задача имеет дело с так называемой «сбалансированной» моделью, условия баланса имеют вид: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2600" i="1">
                              <a:latin typeface="Cambria Math"/>
                            </a:rPr>
                            <m:t>𝑗</m:t>
                          </m:r>
                          <m:r>
                            <a:rPr lang="ru-RU" sz="26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ru-RU" sz="2600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600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ru-RU" sz="2600" i="1"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ru-RU" sz="2600" i="1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600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RU" sz="26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i="1">
                              <a:latin typeface="Cambria Math"/>
                            </a:rPr>
                            <m:t>𝑖</m:t>
                          </m:r>
                          <m:r>
                            <a:rPr lang="en-US" sz="26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600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2600" i="1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i="1">
                              <a:latin typeface="Cambria Math"/>
                            </a:rPr>
                            <m:t>𝑖</m:t>
                          </m:r>
                          <m:r>
                            <a:rPr lang="ru-RU" sz="26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600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 sz="2600" i="1">
                              <a:latin typeface="Cambria Math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600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ru-RU" sz="2600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600" i="1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ru-RU" sz="2600" dirty="0"/>
              </a:p>
              <a:p>
                <a:pPr marL="0" indent="0">
                  <a:buNone/>
                </a:pPr>
                <a:r>
                  <a:rPr lang="ru-RU" sz="2600" dirty="0"/>
                  <a:t>Первое и второе ограничения означают, что суммарное количество товара, вывозимого из пункта </a:t>
                </a:r>
                <a:r>
                  <a:rPr lang="ru-RU" sz="2600" i="1" dirty="0"/>
                  <a:t>i</a:t>
                </a:r>
                <a:r>
                  <a:rPr lang="ru-RU" sz="2600" dirty="0"/>
                  <a:t> , точно равно имеющимся там запасам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6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u-RU" sz="26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600" dirty="0"/>
                  <a:t>, а ввозимый груз на пункт </a:t>
                </a:r>
                <a:r>
                  <a:rPr lang="ru-RU" sz="2600" i="1" dirty="0"/>
                  <a:t>j</a:t>
                </a:r>
                <a:r>
                  <a:rPr lang="ru-RU" sz="2600" dirty="0"/>
                  <a:t> точно равен заявкам этого пункта.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0"/>
                <a:ext cx="8784976" cy="6741368"/>
              </a:xfrm>
              <a:blipFill rotWithShape="1">
                <a:blip r:embed="rId2"/>
                <a:stretch>
                  <a:fillRect l="-1179" t="-723" r="-832" b="-24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2757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16632"/>
                <a:ext cx="8856984" cy="6552728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ru-RU" sz="3900" dirty="0"/>
                  <a:t>Последнее условие называется балансным условием и означает равенство всего количества товара, имеющегося у производителей и товара, который необходим потребителям. На практике чаще встречаются два варианта: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RU" sz="39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900" i="1">
                              <a:latin typeface="Cambria Math"/>
                            </a:rPr>
                            <m:t>𝑖</m:t>
                          </m:r>
                          <m:r>
                            <a:rPr lang="ru-RU" sz="39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3900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ru-RU" sz="3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900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39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900" i="1">
                              <a:latin typeface="Cambria Math"/>
                            </a:rPr>
                            <m:t>&gt;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39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900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ru-RU" sz="3900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900" i="1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3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900" i="1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3900" i="1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ru-RU" sz="3900" dirty="0"/>
              </a:p>
              <a:p>
                <a:pPr marL="0" indent="0">
                  <a:buNone/>
                </a:pPr>
                <a:r>
                  <a:rPr lang="ru-RU" sz="3900" dirty="0"/>
                  <a:t>и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RU" sz="39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900" i="1">
                              <a:latin typeface="Cambria Math"/>
                            </a:rPr>
                            <m:t>𝑖</m:t>
                          </m:r>
                          <m:r>
                            <a:rPr lang="ru-RU" sz="39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3900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ru-RU" sz="3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900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39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 sz="3900" i="1">
                              <a:latin typeface="Cambria Math"/>
                            </a:rPr>
                            <m:t>&lt;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39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900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ru-RU" sz="3900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900" i="1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3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900" i="1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3900" i="1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ru-RU" sz="3900" dirty="0"/>
              </a:p>
              <a:p>
                <a:pPr marL="0" indent="0">
                  <a:buNone/>
                </a:pPr>
                <a:r>
                  <a:rPr lang="ru-RU" sz="3900" dirty="0"/>
                  <a:t> Пусть </a:t>
                </a:r>
                <a14:m>
                  <m:oMath xmlns:m="http://schemas.openxmlformats.org/officeDocument/2006/math">
                    <m:r>
                      <a:rPr lang="ru-RU" sz="3900" i="1">
                        <a:latin typeface="Cambria Math"/>
                      </a:rPr>
                      <m:t> </m:t>
                    </m:r>
                    <m:nary>
                      <m:naryPr>
                        <m:chr m:val="∑"/>
                        <m:limLoc m:val="undOvr"/>
                        <m:ctrlPr>
                          <a:rPr lang="ru-RU" sz="39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3900" i="1">
                            <a:latin typeface="Cambria Math"/>
                          </a:rPr>
                          <m:t>𝑖</m:t>
                        </m:r>
                        <m:r>
                          <a:rPr lang="ru-RU" sz="39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3900" i="1">
                            <a:latin typeface="Cambria Math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ru-RU" sz="3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900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sz="39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ru-RU" sz="3900" i="1">
                            <a:latin typeface="Cambria Math"/>
                          </a:rPr>
                          <m:t>&gt;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ru-RU" sz="39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3900" i="1">
                                <a:latin typeface="Cambria Math"/>
                              </a:rPr>
                              <m:t>𝑗</m:t>
                            </m:r>
                            <m:r>
                              <a:rPr lang="ru-RU" sz="3900" i="1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sz="3900" i="1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ru-RU" sz="3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900" i="1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3900" i="1"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ru-RU" sz="3900" dirty="0"/>
                  <a:t> . Добавим фиктивный пункт-потребитель с потребностью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ru-RU" sz="39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3900" i="1">
                            <a:latin typeface="Cambria Math"/>
                          </a:rPr>
                          <m:t>𝑖</m:t>
                        </m:r>
                        <m:r>
                          <a:rPr lang="ru-RU" sz="39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3900" i="1">
                            <a:latin typeface="Cambria Math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ru-RU" sz="3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900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sz="39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ru-RU" sz="3900" i="1">
                            <a:latin typeface="Cambria Math"/>
                          </a:rPr>
                          <m:t>−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ru-RU" sz="39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3900" i="1">
                                <a:latin typeface="Cambria Math"/>
                              </a:rPr>
                              <m:t>𝑗</m:t>
                            </m:r>
                            <m:r>
                              <a:rPr lang="ru-RU" sz="3900" i="1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sz="3900" i="1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ru-RU" sz="3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900" i="1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3900" i="1"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ru-RU" sz="3900" dirty="0"/>
                  <a:t>. Теперь надо добавить дороги к этому пункту от всех производителей 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9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sz="3900" i="1">
                            <a:latin typeface="Cambria Math"/>
                          </a:rPr>
                          <m:t>𝑖</m:t>
                        </m:r>
                        <m:r>
                          <a:rPr lang="ru-RU" sz="3900" i="1">
                            <a:latin typeface="Cambria Math"/>
                          </a:rPr>
                          <m:t>,</m:t>
                        </m:r>
                        <m:r>
                          <a:rPr lang="en-US" sz="3900" i="1">
                            <a:latin typeface="Cambria Math"/>
                          </a:rPr>
                          <m:t>𝑛</m:t>
                        </m:r>
                        <m:r>
                          <a:rPr lang="ru-RU" sz="3900" i="1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ru-RU" sz="3900" i="1">
                        <a:latin typeface="Cambria Math"/>
                      </a:rPr>
                      <m:t>=0</m:t>
                    </m:r>
                  </m:oMath>
                </a14:m>
                <a:r>
                  <a:rPr lang="ru-RU" sz="3900" dirty="0"/>
                  <a:t>. Тогда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39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9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3900" i="1">
                            <a:latin typeface="Cambria Math"/>
                          </a:rPr>
                          <m:t>𝑖</m:t>
                        </m:r>
                        <m:r>
                          <a:rPr lang="ru-RU" sz="3900" i="1">
                            <a:latin typeface="Cambria Math"/>
                          </a:rPr>
                          <m:t>,</m:t>
                        </m:r>
                        <m:r>
                          <a:rPr lang="en-US" sz="3900" i="1">
                            <a:latin typeface="Cambria Math"/>
                          </a:rPr>
                          <m:t>𝑛</m:t>
                        </m:r>
                        <m:r>
                          <a:rPr lang="ru-RU" sz="3900" i="1">
                            <a:latin typeface="Cambria Math"/>
                          </a:rPr>
                          <m:t>+1</m:t>
                        </m:r>
                      </m:sub>
                      <m:sup>
                        <m:r>
                          <a:rPr lang="ru-RU" sz="3900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ru-RU" sz="3900" i="1">
                        <a:latin typeface="Cambria Math"/>
                      </a:rPr>
                      <m:t>≥0</m:t>
                    </m:r>
                  </m:oMath>
                </a14:m>
                <a:r>
                  <a:rPr lang="ru-RU" sz="3900" dirty="0"/>
                  <a:t> – оптимальное количество грузов, оставшееся у </a:t>
                </a:r>
                <a:r>
                  <a:rPr lang="en-US" sz="3900" dirty="0" err="1"/>
                  <a:t>i</a:t>
                </a:r>
                <a:r>
                  <a:rPr lang="ru-RU" sz="3900" dirty="0"/>
                  <a:t>-го производителя. 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16632"/>
                <a:ext cx="8856984" cy="6552728"/>
              </a:xfrm>
              <a:blipFill rotWithShape="1">
                <a:blip r:embed="rId2"/>
                <a:stretch>
                  <a:fillRect l="-1239" t="-1860" r="-18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7882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196752"/>
                <a:ext cx="8784976" cy="410445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700" dirty="0"/>
                  <a:t>Пусть </a:t>
                </a:r>
                <a14:m>
                  <m:oMath xmlns:m="http://schemas.openxmlformats.org/officeDocument/2006/math">
                    <m:r>
                      <a:rPr lang="ru-RU" sz="2700" i="1">
                        <a:latin typeface="Cambria Math"/>
                      </a:rPr>
                      <m:t> </m:t>
                    </m:r>
                    <m:nary>
                      <m:naryPr>
                        <m:chr m:val="∑"/>
                        <m:limLoc m:val="undOvr"/>
                        <m:ctrlPr>
                          <a:rPr lang="ru-RU" sz="27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700" i="1">
                            <a:latin typeface="Cambria Math"/>
                          </a:rPr>
                          <m:t>𝑖</m:t>
                        </m:r>
                        <m:r>
                          <a:rPr lang="ru-RU" sz="27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700" i="1">
                            <a:latin typeface="Cambria Math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ru-RU" sz="2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7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ru-RU" sz="2700" i="1">
                            <a:latin typeface="Cambria Math"/>
                          </a:rPr>
                          <m:t>&lt;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ru-RU" sz="27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700" i="1">
                                <a:latin typeface="Cambria Math"/>
                              </a:rPr>
                              <m:t>𝑗</m:t>
                            </m:r>
                            <m:r>
                              <a:rPr lang="ru-RU" sz="2700" i="1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700" i="1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ru-RU" sz="2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700" i="1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700" i="1"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ru-RU" sz="2700" dirty="0"/>
                  <a:t>. Тогда добавим фиктивного (</a:t>
                </a:r>
                <a:r>
                  <a:rPr lang="en-US" sz="2700" dirty="0"/>
                  <a:t>m</a:t>
                </a:r>
                <a:r>
                  <a:rPr lang="ru-RU" sz="2700" dirty="0"/>
                  <a:t>+1)-го производителя и дороги от этому пункта ко всем производителям с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7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ru-RU" sz="2700" i="1">
                            <a:latin typeface="Cambria Math"/>
                          </a:rPr>
                          <m:t>𝑚</m:t>
                        </m:r>
                        <m:r>
                          <a:rPr lang="ru-RU" sz="2700" i="1">
                            <a:latin typeface="Cambria Math"/>
                          </a:rPr>
                          <m:t>+1,</m:t>
                        </m:r>
                        <m:r>
                          <a:rPr lang="ru-RU" sz="2700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ru-RU" sz="2700" i="1">
                        <a:latin typeface="Cambria Math"/>
                      </a:rPr>
                      <m:t>=0</m:t>
                    </m:r>
                  </m:oMath>
                </a14:m>
                <a:r>
                  <a:rPr lang="ru-RU" sz="2700" dirty="0"/>
                  <a:t>.  Тогда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7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27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ru-RU" sz="2700" i="1">
                            <a:latin typeface="Cambria Math"/>
                          </a:rPr>
                          <m:t>𝑚</m:t>
                        </m:r>
                        <m:r>
                          <a:rPr lang="ru-RU" sz="2700" i="1">
                            <a:latin typeface="Cambria Math"/>
                          </a:rPr>
                          <m:t>+1,</m:t>
                        </m:r>
                        <m:r>
                          <a:rPr lang="ru-RU" sz="2700" i="1">
                            <a:latin typeface="Cambria Math"/>
                          </a:rPr>
                          <m:t>𝑗</m:t>
                        </m:r>
                      </m:sub>
                      <m:sup>
                        <m:r>
                          <a:rPr lang="ru-RU" sz="2700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ru-RU" sz="2700" i="1">
                        <a:latin typeface="Cambria Math"/>
                      </a:rPr>
                      <m:t>≥0</m:t>
                    </m:r>
                  </m:oMath>
                </a14:m>
                <a:r>
                  <a:rPr lang="ru-RU" sz="2700" dirty="0"/>
                  <a:t> – оптимальная недопоставка </a:t>
                </a:r>
                <a:r>
                  <a:rPr lang="en-US" sz="2700" dirty="0"/>
                  <a:t>j</a:t>
                </a:r>
                <a:r>
                  <a:rPr lang="ru-RU" sz="2700" dirty="0"/>
                  <a:t>-му потребителю. </a:t>
                </a:r>
              </a:p>
              <a:p>
                <a:pPr marL="0" indent="0">
                  <a:buNone/>
                </a:pPr>
                <a:endParaRPr lang="en-US" sz="2700" dirty="0"/>
              </a:p>
              <a:p>
                <a:pPr marL="0" indent="0">
                  <a:buNone/>
                </a:pPr>
                <a:r>
                  <a:rPr lang="ru-RU" sz="2700" dirty="0"/>
                  <a:t>Таким образом, любая несбалансированная задача легко приводится к  сбалансированной. Поэтому рассмотрим только сбалансированную задачу</a:t>
                </a:r>
                <a:r>
                  <a:rPr lang="en-US" sz="2700" dirty="0"/>
                  <a:t>.</a:t>
                </a:r>
                <a:endParaRPr lang="ru-RU" sz="27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196752"/>
                <a:ext cx="8784976" cy="4104456"/>
              </a:xfrm>
              <a:blipFill rotWithShape="1">
                <a:blip r:embed="rId2"/>
                <a:stretch>
                  <a:fillRect l="-1248" t="-1187" r="-1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8681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88640"/>
            <a:ext cx="8640960" cy="6480720"/>
          </a:xfrm>
        </p:spPr>
        <p:txBody>
          <a:bodyPr/>
          <a:lstStyle/>
          <a:p>
            <a:pPr marL="0" indent="0">
              <a:buNone/>
            </a:pPr>
            <a:r>
              <a:rPr lang="ru-RU" sz="2700" dirty="0"/>
              <a:t>Получим задачу линейного программирования.</a:t>
            </a:r>
            <a:endParaRPr lang="en-US" sz="2700" dirty="0"/>
          </a:p>
          <a:p>
            <a:pPr marL="0" indent="0">
              <a:buNone/>
            </a:pPr>
            <a:endParaRPr lang="en-US" sz="2700" dirty="0"/>
          </a:p>
          <a:p>
            <a:pPr marL="0" indent="0">
              <a:buNone/>
            </a:pPr>
            <a:endParaRPr lang="en-US" sz="2700" dirty="0"/>
          </a:p>
          <a:p>
            <a:pPr marL="0" indent="0">
              <a:buNone/>
            </a:pPr>
            <a:endParaRPr lang="en-US" sz="2700" dirty="0"/>
          </a:p>
          <a:p>
            <a:pPr marL="0" indent="0">
              <a:buNone/>
            </a:pPr>
            <a:r>
              <a:rPr lang="ru-RU" sz="2700" dirty="0"/>
              <a:t>при ограничениях: </a:t>
            </a:r>
          </a:p>
          <a:p>
            <a:pPr marL="0" indent="0">
              <a:buNone/>
            </a:pPr>
            <a:r>
              <a:rPr lang="ru-RU" dirty="0"/>
              <a:t> 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08720"/>
            <a:ext cx="7446827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526536"/>
            <a:ext cx="6751658" cy="3400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01621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60648"/>
                <a:ext cx="8229600" cy="6264696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ru-RU" dirty="0"/>
                  <a:t>Эту задачу можно решить с помощью симплекс-метода, но удобнее её решать другим методом – методом потенциалов.</a:t>
                </a:r>
              </a:p>
              <a:p>
                <a:pPr marL="0" indent="0">
                  <a:buNone/>
                </a:pPr>
                <a:r>
                  <a:rPr lang="ru-RU" dirty="0"/>
                  <a:t>В представленной задаче m</a:t>
                </a:r>
                <a:r>
                  <a:rPr lang="en-US" dirty="0"/>
                  <a:t>×</a:t>
                </a:r>
                <a:r>
                  <a:rPr lang="ru-RU" dirty="0"/>
                  <a:t> n неизвестных.</a:t>
                </a:r>
              </a:p>
              <a:p>
                <a:pPr marL="0" indent="0">
                  <a:buNone/>
                </a:pPr>
                <a:r>
                  <a:rPr lang="ru-RU" dirty="0"/>
                  <a:t>Введем ряд понятий.</a:t>
                </a:r>
              </a:p>
              <a:p>
                <a:pPr marL="0" indent="0">
                  <a:buNone/>
                </a:pPr>
                <a:r>
                  <a:rPr lang="ru-RU" dirty="0"/>
                  <a:t>Матрица </a:t>
                </a:r>
                <a:r>
                  <a:rPr lang="en-US" i="1" dirty="0"/>
                  <a:t>X</a:t>
                </a:r>
                <a:r>
                  <a:rPr lang="ru-RU" dirty="0"/>
                  <a:t> размерности m</a:t>
                </a:r>
                <a:r>
                  <a:rPr lang="en-US" dirty="0"/>
                  <a:t>×</a:t>
                </a:r>
                <a:r>
                  <a:rPr lang="ru-RU" dirty="0"/>
                  <a:t> n называется планом перевозок,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 </m:t>
                    </m:r>
                  </m:oMath>
                </a14:m>
                <a:r>
                  <a:rPr lang="ru-RU" dirty="0"/>
                  <a:t>– перевозкой,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𝑖𝑗</m:t>
                        </m:r>
                      </m:sub>
                    </m:sSub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dirty="0"/>
                  <a:t> – матрицей издержек.</a:t>
                </a:r>
              </a:p>
              <a:p>
                <a:pPr marL="0" indent="0">
                  <a:buNone/>
                </a:pPr>
                <a:r>
                  <a:rPr lang="ru-RU" dirty="0"/>
                  <a:t>План называется допустимым, если он удовлетворяет указанным выше ограничениям.</a:t>
                </a:r>
              </a:p>
              <a:p>
                <a:pPr marL="0" indent="0">
                  <a:buNone/>
                </a:pPr>
                <a:r>
                  <a:rPr lang="ru-RU" dirty="0"/>
                  <a:t>План называется оптимальным, если он минимизирует функцию </a:t>
                </a:r>
                <a:r>
                  <a:rPr lang="ru-RU" i="1" dirty="0"/>
                  <a:t>f (x)</a:t>
                </a:r>
                <a:r>
                  <a:rPr lang="ru-RU" dirty="0"/>
                  <a:t> 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60648"/>
                <a:ext cx="8229600" cy="6264696"/>
              </a:xfrm>
              <a:blipFill rotWithShape="1">
                <a:blip r:embed="rId2"/>
                <a:stretch>
                  <a:fillRect l="-1704" t="-1168" r="-2593" b="-1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10309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1037748"/>
          </a:xfrm>
        </p:spPr>
        <p:txBody>
          <a:bodyPr>
            <a:normAutofit fontScale="90000"/>
          </a:bodyPr>
          <a:lstStyle/>
          <a:p>
            <a:r>
              <a:rPr lang="ru-RU" sz="3200" b="1" i="1" dirty="0">
                <a:solidFill>
                  <a:srgbClr val="FF0000"/>
                </a:solidFill>
              </a:rPr>
              <a:t>Решение классической транспортной задачи методом потенциалов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2276872"/>
            <a:ext cx="8784976" cy="3168352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/>
              <a:t>Метод потенциалов состоит из нескольких этапов:</a:t>
            </a:r>
          </a:p>
          <a:p>
            <a:pPr marL="571500" lvl="0" indent="-571500">
              <a:buFont typeface="+mj-lt"/>
              <a:buAutoNum type="romanUcPeriod"/>
            </a:pPr>
            <a:r>
              <a:rPr lang="ru-RU" sz="2800" dirty="0"/>
              <a:t>Поиск начального базиса.</a:t>
            </a:r>
          </a:p>
          <a:p>
            <a:pPr marL="571500" lvl="0" indent="-571500">
              <a:buFont typeface="+mj-lt"/>
              <a:buAutoNum type="romanUcPeriod"/>
            </a:pPr>
            <a:r>
              <a:rPr lang="ru-RU" sz="2800" dirty="0"/>
              <a:t>Проверка текущего базиса на оптимальность.</a:t>
            </a:r>
          </a:p>
          <a:p>
            <a:pPr marL="571500" lvl="0" indent="-571500">
              <a:buFont typeface="+mj-lt"/>
              <a:buAutoNum type="romanUcPeriod"/>
            </a:pPr>
            <a:r>
              <a:rPr lang="ru-RU" sz="2800" dirty="0"/>
              <a:t>Если критерий оптимальности не выполнен, то улучшение базиса.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3556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1098"/>
            <a:ext cx="8229600" cy="936104"/>
          </a:xfrm>
        </p:spPr>
        <p:txBody>
          <a:bodyPr>
            <a:normAutofit fontScale="90000"/>
          </a:bodyPr>
          <a:lstStyle/>
          <a:p>
            <a:pPr lvl="0"/>
            <a:r>
              <a:rPr lang="en-US" sz="3200" b="1" i="1" dirty="0">
                <a:solidFill>
                  <a:srgbClr val="FF0000"/>
                </a:solidFill>
              </a:rPr>
              <a:t>I. </a:t>
            </a:r>
            <a:r>
              <a:rPr lang="ru-RU" sz="3200" b="1" i="1" dirty="0">
                <a:solidFill>
                  <a:srgbClr val="FF0000"/>
                </a:solidFill>
              </a:rPr>
              <a:t>Нахождение первоначального базиса. Метод наименьшего элемента.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908720"/>
                <a:ext cx="8856984" cy="5832648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В системе ограничений </a:t>
                </a:r>
                <a:r>
                  <a:rPr lang="en-US" i="1" dirty="0" err="1"/>
                  <a:t>m+n</a:t>
                </a:r>
                <a:r>
                  <a:rPr lang="ru-RU" dirty="0"/>
                  <a:t> уравнений, число линейно-независимых уравнений </a:t>
                </a:r>
                <a:r>
                  <a:rPr lang="en-US" dirty="0"/>
                  <a:t>m+n-1</a:t>
                </a:r>
                <a:r>
                  <a:rPr lang="ru-RU" dirty="0"/>
                  <a:t> (или, иначе, ранг системы (37) равен </a:t>
                </a:r>
                <a:r>
                  <a:rPr lang="en-US" dirty="0"/>
                  <a:t>m+n-1</a:t>
                </a:r>
                <a:r>
                  <a:rPr lang="ru-RU" dirty="0"/>
                  <a:t> ), так как одно уравнение можно исключить, используя уравнение баланса. Значит, у нас </a:t>
                </a:r>
                <a:r>
                  <a:rPr lang="en-US" dirty="0"/>
                  <a:t>m+n-1</a:t>
                </a:r>
                <a:r>
                  <a:rPr lang="ru-RU" dirty="0"/>
                  <a:t> базисных переменных</a:t>
                </a:r>
                <a:r>
                  <a:rPr lang="ru-RU" i="1" dirty="0"/>
                  <a:t>.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Как и в задаче линейного программирования, в транспортной задаче необходимо сначала найти первый допустимый базис. Рассмотрим нахождение первоначального базиса методом наименьшего элемента.</a:t>
                </a:r>
              </a:p>
              <a:p>
                <a:pPr marL="0" indent="0">
                  <a:buNone/>
                </a:pPr>
                <a:r>
                  <a:rPr lang="ru-RU" dirty="0"/>
                  <a:t>Сначала определим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𝐶</m:t>
                        </m:r>
                      </m:e>
                      <m:sub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/>
                              </a:rPr>
                              <m:t>𝑖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/>
                              </a:rPr>
                              <m:t>𝑗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>
                            <a:latin typeface="Cambria Math"/>
                          </a:rPr>
                          <m:t>min</m:t>
                        </m:r>
                      </m:fName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</m:e>
                    </m:func>
                  </m:oMath>
                </a14:m>
                <a:r>
                  <a:rPr lang="ru-RU" dirty="0"/>
                  <a:t> , то есть найдём самую дешёвую дорогу. Её надо загрузить наибольшим возможным количеством товара. </a:t>
                </a:r>
              </a:p>
              <a:p>
                <a:pPr marL="0" indent="0">
                  <a:buNone/>
                </a:pPr>
                <a:r>
                  <a:rPr lang="ru-RU" dirty="0"/>
                  <a:t>Присвоим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  <m:sub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/>
                              </a:rPr>
                              <m:t>𝑖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/>
                              </a:rPr>
                              <m:t>𝑗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sub>
                      <m:sup>
                        <m:r>
                          <a:rPr lang="ru-RU" i="1">
                            <a:latin typeface="Cambria Math"/>
                          </a:rPr>
                          <m:t>0</m:t>
                        </m:r>
                      </m:sup>
                    </m:sSubSup>
                    <m:r>
                      <a:rPr lang="ru-RU" i="1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>
                            <a:latin typeface="Cambria Math"/>
                          </a:rPr>
                          <m:t>min</m:t>
                        </m:r>
                      </m:fName>
                      <m:e>
                        <m:r>
                          <a:rPr lang="ru-RU" i="1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ru-RU" i="1">
                                    <a:latin typeface="Cambria Math"/>
                                  </a:rPr>
                                  <m:t>∗</m:t>
                                </m:r>
                              </m:sup>
                            </m:sSup>
                          </m:sub>
                        </m:sSub>
                      </m:e>
                    </m:func>
                    <m:r>
                      <a:rPr lang="ru-RU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𝑏</m:t>
                        </m:r>
                      </m:e>
                      <m:sub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/>
                              </a:rPr>
                              <m:t>𝑗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sub>
                    </m:sSub>
                    <m:r>
                      <a:rPr lang="ru-RU" i="1">
                        <a:latin typeface="Cambria Math"/>
                      </a:rPr>
                      <m:t>)</m:t>
                    </m:r>
                  </m:oMath>
                </a14:m>
                <a:r>
                  <a:rPr lang="ru-RU" dirty="0"/>
                  <a:t>. Пусть для определенности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𝑎</m:t>
                        </m:r>
                      </m:e>
                      <m:sub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/>
                              </a:rPr>
                              <m:t>𝑖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𝑏</m:t>
                        </m:r>
                      </m:e>
                      <m:sub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/>
                              </a:rPr>
                              <m:t>𝑗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lang="ru-RU" dirty="0"/>
                  <a:t>, тогда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  <m:sub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/>
                              </a:rPr>
                              <m:t>𝑖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/>
                              </a:rPr>
                              <m:t>𝑗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sub>
                      <m:sup>
                        <m:r>
                          <a:rPr lang="ru-RU" i="1">
                            <a:latin typeface="Cambria Math"/>
                          </a:rPr>
                          <m:t>0</m:t>
                        </m:r>
                      </m:sup>
                    </m:sSubSup>
                    <m:r>
                      <a:rPr lang="ru-RU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𝑎</m:t>
                        </m:r>
                      </m:e>
                      <m:sub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/>
                              </a:rPr>
                              <m:t>𝑖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lang="ru-RU" dirty="0"/>
                  <a:t>. Следовательно, </a:t>
                </a:r>
                <a:r>
                  <a:rPr lang="ru-RU" i="1" dirty="0"/>
                  <a:t>i-</a:t>
                </a:r>
                <a:r>
                  <a:rPr lang="ru-RU" dirty="0" err="1"/>
                  <a:t>ый</a:t>
                </a:r>
                <a:r>
                  <a:rPr lang="ru-RU" dirty="0"/>
                  <a:t>  производитель полностью использовал свои запасы и при установлении остальных перевозок его можно не учитывать. Следовательно, строка, соответствующая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𝑎</m:t>
                        </m:r>
                      </m:e>
                      <m:sub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/>
                              </a:rPr>
                              <m:t>𝑖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lang="ru-RU" dirty="0"/>
                  <a:t>, из таблицы вычеркивается.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908720"/>
                <a:ext cx="8856984" cy="5832648"/>
              </a:xfrm>
              <a:blipFill rotWithShape="1">
                <a:blip r:embed="rId2"/>
                <a:stretch>
                  <a:fillRect l="-1101" t="-1881" r="-344" b="-11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39419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260648"/>
                <a:ext cx="8784976" cy="633670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Теперь потребность </a:t>
                </a:r>
                <a:r>
                  <a:rPr lang="en-US" i="1" dirty="0"/>
                  <a:t>j</a:t>
                </a:r>
                <a:r>
                  <a:rPr lang="ru-RU" dirty="0"/>
                  <a:t>-го потребителя будет составлять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𝑏</m:t>
                        </m:r>
                      </m:e>
                      <m:sub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/>
                              </a:rPr>
                              <m:t>𝑗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sub>
                    </m:sSub>
                    <m:r>
                      <a:rPr lang="ru-RU" i="1">
                        <a:latin typeface="Cambria Math"/>
                      </a:rPr>
                      <m:t>−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𝑎</m:t>
                        </m:r>
                      </m:e>
                      <m:sub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/>
                              </a:rPr>
                              <m:t>𝑖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Если наоборот,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𝑎</m:t>
                        </m:r>
                      </m:e>
                      <m:sub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/>
                              </a:rPr>
                              <m:t>𝑖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𝑏</m:t>
                        </m:r>
                      </m:e>
                      <m:sub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/>
                              </a:rPr>
                              <m:t>𝑗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lang="ru-RU" dirty="0"/>
                  <a:t> , то соответствующий столбец из таблицы</a:t>
                </a:r>
              </a:p>
              <a:p>
                <a:pPr marL="0" indent="0">
                  <a:buNone/>
                </a:pPr>
                <a:r>
                  <a:rPr lang="ru-RU" dirty="0"/>
                  <a:t>вычеркивается. Далее процесс повторяется. На каждом шаге вычеркиваем строку из матрицы </a:t>
                </a:r>
                <a:r>
                  <a:rPr lang="en-US" dirty="0"/>
                  <a:t>C</a:t>
                </a:r>
                <a:r>
                  <a:rPr lang="ru-RU" dirty="0"/>
                  <a:t>, если мощность производителя больше мощности потребителя, или столбец, если наоборот. Если же они равны, то это вырожденный случай, можно вычеркнуть или строку, или столбец. На последнем шаге вычеркиваем и строку, и столбец.</a:t>
                </a:r>
              </a:p>
              <a:p>
                <a:pPr marL="0" indent="0">
                  <a:buNone/>
                </a:pPr>
                <a:r>
                  <a:rPr lang="ru-RU" dirty="0"/>
                  <a:t>В результате получим начальный базис.</a:t>
                </a:r>
              </a:p>
              <a:p>
                <a:pPr marL="0" indent="0">
                  <a:buNone/>
                </a:pPr>
                <a:r>
                  <a:rPr lang="ru-RU" dirty="0"/>
                  <a:t>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𝑋</m:t>
                    </m:r>
                    <m:r>
                      <a:rPr lang="ru-RU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num>
                          <m:den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ru-RU" i="1">
                                      <a:latin typeface="Cambria Math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/>
                                        </a:rPr>
                                        <m:t>𝑚𝑛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den>
                        </m:f>
                      </m:e>
                    </m:d>
                  </m:oMath>
                </a14:m>
                <a:r>
                  <a:rPr lang="ru-RU" dirty="0"/>
                  <a:t> 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260648"/>
                <a:ext cx="8784976" cy="6336704"/>
              </a:xfrm>
              <a:blipFill rotWithShape="1">
                <a:blip r:embed="rId2"/>
                <a:stretch>
                  <a:fillRect l="-1595" t="-250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46187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936104"/>
          </a:xfrm>
        </p:spPr>
        <p:txBody>
          <a:bodyPr>
            <a:normAutofit fontScale="90000"/>
          </a:bodyPr>
          <a:lstStyle/>
          <a:p>
            <a:r>
              <a:rPr lang="en-US" sz="3200" b="1" i="1" dirty="0">
                <a:solidFill>
                  <a:srgbClr val="FF0000"/>
                </a:solidFill>
              </a:rPr>
              <a:t>II. </a:t>
            </a:r>
            <a:r>
              <a:rPr lang="ru-RU" sz="3200" b="1" i="1" dirty="0">
                <a:solidFill>
                  <a:srgbClr val="FF0000"/>
                </a:solidFill>
              </a:rPr>
              <a:t>Проверка текущего базиса на оптимальность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980728"/>
                <a:ext cx="8784976" cy="5688632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Запишем ограничения (37) в виде:</a:t>
                </a:r>
              </a:p>
              <a:p>
                <a:pPr marL="0" indent="0">
                  <a:buNone/>
                </a:pPr>
                <a:r>
                  <a:rPr lang="ru-RU" dirty="0"/>
                  <a:t>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𝐴𝑋</m:t>
                    </m:r>
                    <m:r>
                      <a:rPr lang="ru-RU" i="1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𝐵</m:t>
                        </m:r>
                      </m:e>
                    </m:acc>
                  </m:oMath>
                </a14:m>
                <a:r>
                  <a:rPr lang="ru-RU" dirty="0"/>
                  <a:t>            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𝐵</m:t>
                        </m:r>
                      </m:e>
                    </m:acc>
                    <m:r>
                      <a:rPr lang="ru-RU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num>
                          <m:den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lang="ru-RU" dirty="0"/>
                  <a:t>  </a:t>
                </a:r>
              </a:p>
              <a:p>
                <a:pPr marL="0" indent="0">
                  <a:buNone/>
                </a:pPr>
                <a:r>
                  <a:rPr lang="ru-RU" i="1" dirty="0"/>
                  <a:t> </a:t>
                </a:r>
                <a:r>
                  <a:rPr lang="en-US" i="1" dirty="0"/>
                  <a:t>A</a:t>
                </a:r>
                <a:r>
                  <a:rPr lang="ru-RU" dirty="0"/>
                  <a:t> – матрица, состоящая из нулей и единиц</a:t>
                </a:r>
              </a:p>
              <a:p>
                <a:pPr marL="0" indent="0">
                  <a:buNone/>
                </a:pPr>
                <a:r>
                  <a:rPr lang="ru-RU" dirty="0"/>
                  <a:t>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11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  ⋯   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</m:t>
                        </m:r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    ⋯   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𝑚𝑛</m:t>
                        </m:r>
                      </m:sub>
                    </m:sSub>
                  </m:oMath>
                </a14:m>
                <a:r>
                  <a:rPr lang="ru-RU" dirty="0"/>
                  <a:t>    </a:t>
                </a: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𝐴</m:t>
                    </m:r>
                    <m:r>
                      <a:rPr lang="ru-RU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ru-RU" i="1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ru-RU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ru-RU" i="1">
                                              <a:latin typeface="Cambria Math"/>
                                            </a:rPr>
                                            <m:t>⋯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ru-RU" i="1">
                                              <a:latin typeface="Cambria Math"/>
                                            </a:rPr>
                                            <m:t>⋯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1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⋮</m:t>
                                                </m:r>
                                              </m:e>
                                            </m:mr>
                                            <m:mr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0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ru-RU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1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</m:mr>
                                            <m:mr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ru-RU" i="1">
                                              <a:latin typeface="Cambria Math"/>
                                            </a:rPr>
                                            <m:t>⋯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ru-RU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ru-RU" i="1">
                                              <a:latin typeface="Cambria Math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0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0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1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1</m:t>
                                                </m:r>
                                              </m:e>
                                            </m:mr>
                                            <m:mr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⋮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ru-RU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m>
                                                  <m:mPr>
                                                    <m:mcs>
                                                      <m:mc>
                                                        <m:mcPr>
                                                          <m:count m:val="1"/>
                                                          <m:mcJc m:val="center"/>
                                                        </m:mcPr>
                                                      </m:mc>
                                                    </m:mcs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mPr>
                                                  <m:mr>
                                                    <m:e>
                                                      <m:r>
                                                        <a:rPr lang="ru-RU" i="1">
                                                          <a:latin typeface="Cambria Math"/>
                                                        </a:rPr>
                                                        <m:t>⋯</m:t>
                                                      </m:r>
                                                    </m:e>
                                                  </m:mr>
                                                  <m:mr>
                                                    <m:e>
                                                      <m:r>
                                                        <a:rPr lang="ru-RU" i="1">
                                                          <a:latin typeface="Cambria Math"/>
                                                        </a:rPr>
                                                        <m:t>⋯</m:t>
                                                      </m:r>
                                                    </m:e>
                                                  </m:mr>
                                                </m:m>
                                              </m:e>
                                              <m:e>
                                                <m:m>
                                                  <m:mPr>
                                                    <m:mcs>
                                                      <m:mc>
                                                        <m:mcPr>
                                                          <m:count m:val="1"/>
                                                          <m:mcJc m:val="center"/>
                                                        </m:mcPr>
                                                      </m:mc>
                                                    </m:mcs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mPr>
                                                  <m:mr>
                                                    <m:e>
                                                      <m:r>
                                                        <a:rPr lang="ru-RU" i="1">
                                                          <a:latin typeface="Cambria Math"/>
                                                        </a:rPr>
                                                        <m:t>⋮</m:t>
                                                      </m:r>
                                                    </m:e>
                                                  </m:mr>
                                                  <m:mr>
                                                    <m:e>
                                                      <m:r>
                                                        <a:rPr lang="ru-RU" i="1">
                                                          <a:latin typeface="Cambria Math"/>
                                                        </a:rPr>
                                                        <m:t>0</m:t>
                                                      </m:r>
                                                    </m:e>
                                                  </m:mr>
                                                </m:m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1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ru-RU" i="1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ru-RU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ru-RU" i="1">
                                              <a:latin typeface="Cambria Math"/>
                                            </a:rPr>
                                            <m:t>⋯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ru-RU" i="1">
                                              <a:latin typeface="Cambria Math"/>
                                            </a:rPr>
                                            <m:t>⋯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1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0</m:t>
                                                </m:r>
                                              </m:e>
                                            </m:mr>
                                            <m:mr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⋮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ru-RU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1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</m:mr>
                                            <m:mr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ru-RU" i="1">
                                              <a:latin typeface="Cambria Math"/>
                                            </a:rPr>
                                            <m:t>⋯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ru-RU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ru-RU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0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0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1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1</m:t>
                                                </m:r>
                                              </m:e>
                                            </m:mr>
                                            <m:mr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⋮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ru-RU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m>
                                                  <m:mPr>
                                                    <m:mcs>
                                                      <m:mc>
                                                        <m:mcPr>
                                                          <m:count m:val="1"/>
                                                          <m:mcJc m:val="center"/>
                                                        </m:mcPr>
                                                      </m:mc>
                                                    </m:mcs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mPr>
                                                  <m:mr>
                                                    <m:e>
                                                      <m:r>
                                                        <a:rPr lang="ru-RU" i="1">
                                                          <a:latin typeface="Cambria Math"/>
                                                        </a:rPr>
                                                        <m:t>⋯</m:t>
                                                      </m:r>
                                                    </m:e>
                                                  </m:mr>
                                                  <m:mr>
                                                    <m:e>
                                                      <m:r>
                                                        <a:rPr lang="ru-RU" i="1">
                                                          <a:latin typeface="Cambria Math"/>
                                                        </a:rPr>
                                                        <m:t>⋯</m:t>
                                                      </m:r>
                                                    </m:e>
                                                  </m:mr>
                                                </m:m>
                                              </m:e>
                                              <m:e>
                                                <m:m>
                                                  <m:mPr>
                                                    <m:mcs>
                                                      <m:mc>
                                                        <m:mcPr>
                                                          <m:count m:val="1"/>
                                                          <m:mcJc m:val="center"/>
                                                        </m:mcPr>
                                                      </m:mc>
                                                    </m:mcs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mPr>
                                                  <m:mr>
                                                    <m:e>
                                                      <m:r>
                                                        <a:rPr lang="ru-RU" i="1">
                                                          <a:latin typeface="Cambria Math"/>
                                                        </a:rPr>
                                                        <m:t>⋮</m:t>
                                                      </m:r>
                                                    </m:e>
                                                  </m:mr>
                                                  <m:mr>
                                                    <m:e>
                                                      <m:r>
                                                        <a:rPr lang="ru-RU" i="1">
                                                          <a:latin typeface="Cambria Math"/>
                                                        </a:rPr>
                                                        <m:t>0</m:t>
                                                      </m:r>
                                                    </m:e>
                                                  </m:mr>
                                                </m:m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ru-RU" i="1">
                                                    <a:latin typeface="Cambria Math"/>
                                                  </a:rPr>
                                                  <m:t>1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ru-RU" dirty="0"/>
                  <a:t>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ru-RU" i="1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ru-RU" i="1">
                                                <a:latin typeface="Cambria Math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𝑖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ru-RU" i="1"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mr>
                      <m:m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ru-RU" i="1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i="1"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𝑗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ru-RU" i="1">
                                                <a:latin typeface="Cambria Math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i="1">
                                                <a:latin typeface="Cambria Math"/>
                                              </a:rPr>
                                              <m:t>𝑛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mr>
                    </m:m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980728"/>
                <a:ext cx="8784976" cy="5688632"/>
              </a:xfrm>
              <a:blipFill rotWithShape="1">
                <a:blip r:embed="rId2"/>
                <a:stretch>
                  <a:fillRect l="-1248" t="-21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71776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260648"/>
                <a:ext cx="8712968" cy="6408712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Симплекс-метод решает задачу поиска </a:t>
                </a:r>
                <a:r>
                  <a:rPr lang="en-US" i="1" dirty="0"/>
                  <a:t>max f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/>
                        </a:rPr>
                        <m:t>𝑓</m:t>
                      </m:r>
                      <m:r>
                        <a:rPr lang="ru-RU" i="1">
                          <a:latin typeface="Cambria Math"/>
                        </a:rPr>
                        <m:t>↓=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ru-RU" i="1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/>
                            </a:rPr>
                            <m:t>𝑗</m:t>
                          </m:r>
                          <m:r>
                            <a:rPr lang="ru-RU" i="1">
                              <a:latin typeface="Cambria Math"/>
                            </a:rPr>
                            <m:t>∈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ru-RU" i="1">
                                  <a:latin typeface="Cambria Math"/>
                                </a:rPr>
                                <m:t>с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↑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Критерий оптимальности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∆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≤0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/>
                          </a:rPr>
                          <m:t>∆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ru-RU" i="1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𝑐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𝑇</m:t>
                        </m:r>
                      </m:sup>
                    </m:sSubSup>
                    <m:r>
                      <a:rPr lang="ru-RU" i="1">
                        <a:latin typeface="Cambria Math"/>
                      </a:rPr>
                      <m:t>−</m:t>
                    </m:r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б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𝑇</m:t>
                        </m:r>
                      </m:sup>
                    </m:sSubSup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latin typeface="Cambria Math"/>
                          </a:rPr>
                          <m:t>А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б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ru-RU" dirty="0"/>
                  <a:t> – вектор характеристических разностей.</a:t>
                </a:r>
              </a:p>
              <a:p>
                <a:pPr marL="0" indent="0">
                  <a:buNone/>
                </a:pPr>
                <a:r>
                  <a:rPr lang="ru-RU" dirty="0"/>
                  <a:t> При доказательстве теоремы двойственности видели, что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б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𝑇</m:t>
                        </m:r>
                      </m:sup>
                    </m:sSubSup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latin typeface="Cambria Math"/>
                          </a:rPr>
                          <m:t>А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б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−1</m:t>
                        </m:r>
                      </m:sup>
                    </m:sSubSup>
                    <m:r>
                      <a:rPr lang="ru-RU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/>
                            </a:rPr>
                            <m:t>∆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ru-RU" i="1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lang="ru-RU" i="1">
                              <a:latin typeface="Cambria Math"/>
                            </a:rPr>
                            <m:t>𝑇</m:t>
                          </m:r>
                        </m:sup>
                      </m:sSubSup>
                      <m:r>
                        <a:rPr lang="ru-RU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 Применительно к нашей задаче:</a:t>
                </a: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/>
                        </a:rPr>
                        <m:t>𝑓</m:t>
                      </m:r>
                      <m:r>
                        <a:rPr lang="ru-RU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ru-RU" i="1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/>
                            </a:rPr>
                            <m:t>(</m:t>
                          </m:r>
                          <m:r>
                            <a:rPr lang="ru-RU" i="1">
                              <a:latin typeface="Cambria Math"/>
                            </a:rPr>
                            <m:t>𝑖</m:t>
                          </m:r>
                          <m:r>
                            <a:rPr lang="ru-RU" i="1">
                              <a:latin typeface="Cambria Math"/>
                            </a:rPr>
                            <m:t>,</m:t>
                          </m:r>
                          <m:r>
                            <a:rPr lang="ru-RU" i="1">
                              <a:latin typeface="Cambria Math"/>
                            </a:rPr>
                            <m:t>𝑗</m:t>
                          </m:r>
                          <m:r>
                            <a:rPr lang="ru-RU" i="1">
                              <a:latin typeface="Cambria Math"/>
                            </a:rPr>
                            <m:t>)∈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ru-RU" i="1">
                                  <a:latin typeface="Cambria Math"/>
                                </a:rPr>
                                <m:t>с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260648"/>
                <a:ext cx="8712968" cy="6408712"/>
              </a:xfrm>
              <a:blipFill rotWithShape="1">
                <a:blip r:embed="rId2"/>
                <a:stretch>
                  <a:fillRect l="-1259" t="-19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4725144"/>
            <a:ext cx="3001958" cy="72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2300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88640"/>
                <a:ext cx="8784976" cy="648072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∆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(поменяем знак). Тогда</a:t>
                </a:r>
              </a:p>
              <a:p>
                <a:pPr marL="0" indent="0">
                  <a:buNone/>
                </a:pPr>
                <a:r>
                  <a:rPr lang="ru-RU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/>
                        </a:rPr>
                        <m:t>𝑓</m:t>
                      </m:r>
                      <m:r>
                        <a:rPr lang="ru-RU" i="1">
                          <a:latin typeface="Cambria Math"/>
                        </a:rPr>
                        <m:t>↑=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ru-RU" i="1">
                          <a:latin typeface="Cambria Math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/>
                            </a:rPr>
                            <m:t>(</m:t>
                          </m:r>
                          <m:r>
                            <a:rPr lang="ru-RU" i="1">
                              <a:latin typeface="Cambria Math"/>
                            </a:rPr>
                            <m:t>𝑖</m:t>
                          </m:r>
                          <m:r>
                            <a:rPr lang="ru-RU" i="1">
                              <a:latin typeface="Cambria Math"/>
                            </a:rPr>
                            <m:t>,</m:t>
                          </m:r>
                          <m:r>
                            <a:rPr lang="ru-RU" i="1">
                              <a:latin typeface="Cambria Math"/>
                            </a:rPr>
                            <m:t>𝑗</m:t>
                          </m:r>
                          <m:r>
                            <a:rPr lang="ru-RU" i="1">
                              <a:latin typeface="Cambria Math"/>
                            </a:rPr>
                            <m:t>)∈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ru-RU" i="1">
                                  <a:latin typeface="Cambria Math"/>
                                </a:rPr>
                                <m:t>с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↑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 </a:t>
                </a:r>
              </a:p>
              <a:p>
                <a:pPr marL="0" indent="0">
                  <a:buNone/>
                </a:pPr>
                <a:r>
                  <a:rPr lang="en-US" dirty="0"/>
                  <a:t>	 </a:t>
                </a:r>
                <a:r>
                  <a:rPr lang="ru-RU" dirty="0"/>
                  <a:t> 	</a:t>
                </a:r>
                <a:r>
                  <a:rPr lang="en-US" dirty="0"/>
                  <a:t>                                 </a:t>
                </a:r>
                <a:r>
                  <a:rPr lang="ru-RU" dirty="0"/>
                  <a:t>(38)</a:t>
                </a:r>
              </a:p>
              <a:p>
                <a:pPr marL="0" indent="0">
                  <a:buNone/>
                </a:pPr>
                <a:r>
                  <a:rPr lang="ru-RU" dirty="0"/>
                  <a:t> </a:t>
                </a:r>
              </a:p>
              <a:p>
                <a:pPr marL="0" indent="0">
                  <a:buNone/>
                </a:pPr>
                <a:r>
                  <a:rPr lang="ru-RU" dirty="0"/>
                  <a:t>Это критерий оптимальности.</a:t>
                </a:r>
              </a:p>
              <a:p>
                <a:pPr marL="0" indent="0">
                  <a:buNone/>
                </a:pPr>
                <a:r>
                  <a:rPr lang="ru-RU" dirty="0"/>
                  <a:t>Перейдём к двойственным переменным. </a:t>
                </a:r>
              </a:p>
              <a:p>
                <a:pPr marL="0" indent="0">
                  <a:buNone/>
                </a:pPr>
                <a:r>
                  <a:rPr lang="ru-RU" dirty="0"/>
                  <a:t> 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  <a:sym typeface="Symbol"/>
                      </a:rPr>
                      <m:t></m:t>
                    </m:r>
                    <m:r>
                      <a:rPr lang="ru-RU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𝑢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𝑣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i="1">
                              <a:latin typeface="Cambria Math"/>
                            </a:rPr>
                            <m:t>𝑚</m:t>
                          </m:r>
                        </m:e>
                      </m:mr>
                      <m:mr>
                        <m:e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e>
                      </m:mr>
                    </m:m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Назовём эти переменные потенциалами.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𝑢</m:t>
                    </m:r>
                  </m:oMath>
                </a14:m>
                <a:r>
                  <a:rPr lang="ru-RU" dirty="0"/>
                  <a:t> – потенциал источников,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𝑣</m:t>
                    </m:r>
                  </m:oMath>
                </a14:m>
                <a:r>
                  <a:rPr lang="ru-RU" dirty="0"/>
                  <a:t> –потенциал потребителей.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88640"/>
                <a:ext cx="8784976" cy="6480720"/>
              </a:xfrm>
              <a:blipFill rotWithShape="1">
                <a:blip r:embed="rId2"/>
                <a:stretch>
                  <a:fillRect l="-1248" t="-11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564904"/>
            <a:ext cx="1440160" cy="800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33738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260648"/>
                <a:ext cx="8784976" cy="6408712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Вспомним, что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∆</m:t>
                    </m:r>
                  </m:oMath>
                </a14:m>
                <a:r>
                  <a:rPr lang="ru-RU" dirty="0"/>
                  <a:t> , соответствующие базисным переменным, равны нулю.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∆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=0, (</m:t>
                    </m:r>
                    <m:r>
                      <a:rPr lang="en-US" i="1">
                        <a:latin typeface="Cambria Math"/>
                      </a:rPr>
                      <m:t>𝑖</m:t>
                    </m:r>
                    <m:r>
                      <a:rPr lang="ru-RU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𝑗</m:t>
                    </m:r>
                    <m:r>
                      <a:rPr lang="ru-RU" i="1">
                        <a:latin typeface="Cambria Math"/>
                      </a:rPr>
                      <m:t>)∈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б</m:t>
                        </m:r>
                      </m:sub>
                    </m:sSub>
                  </m:oMath>
                </a14:m>
                <a:r>
                  <a:rPr lang="ru-RU" i="1" dirty="0"/>
                  <a:t> , </a:t>
                </a:r>
                <a:r>
                  <a:rPr lang="ru-RU" dirty="0"/>
                  <a:t>то есть для заполненных дорог.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ru-RU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ru-RU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Значит,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∆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u-RU" dirty="0"/>
                  <a:t>  </a:t>
                </a:r>
              </a:p>
              <a:p>
                <a:pPr marL="0" indent="0">
                  <a:buNone/>
                </a:pPr>
                <a:r>
                  <a:rPr lang="ru-RU" dirty="0"/>
                  <a:t> </a:t>
                </a:r>
              </a:p>
              <a:p>
                <a:pPr marL="0" indent="0">
                  <a:buNone/>
                </a:pPr>
                <a:r>
                  <a:rPr lang="ru-RU" dirty="0"/>
                  <a:t>Получили формулу:</a:t>
                </a:r>
              </a:p>
              <a:p>
                <a:pPr marL="0" indent="0">
                  <a:buNone/>
                </a:pPr>
                <a:r>
                  <a:rPr lang="ru-RU" dirty="0"/>
                  <a:t>	</a:t>
                </a:r>
                <a:r>
                  <a:rPr lang="en-US" dirty="0"/>
                  <a:t>                                                                                  </a:t>
                </a:r>
                <a:r>
                  <a:rPr lang="ru-RU" dirty="0"/>
                  <a:t> 	(39)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Для 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(</m:t>
                    </m:r>
                    <m:r>
                      <a:rPr lang="ru-RU" i="1">
                        <a:latin typeface="Cambria Math"/>
                      </a:rPr>
                      <m:t>𝑖</m:t>
                    </m:r>
                    <m:r>
                      <a:rPr lang="ru-RU" i="1">
                        <a:latin typeface="Cambria Math"/>
                      </a:rPr>
                      <m:t>,</m:t>
                    </m:r>
                    <m:r>
                      <a:rPr lang="ru-RU" i="1">
                        <a:latin typeface="Cambria Math"/>
                      </a:rPr>
                      <m:t>𝑗</m:t>
                    </m:r>
                    <m:r>
                      <a:rPr lang="ru-RU" i="1">
                        <a:latin typeface="Cambria Math"/>
                      </a:rPr>
                      <m:t>)∈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б</m:t>
                        </m:r>
                      </m:sub>
                    </m:sSub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∆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=0 </m:t>
                    </m:r>
                    <m:r>
                      <a:rPr lang="ru-RU" i="1">
                        <a:latin typeface="Cambria Math"/>
                        <a:sym typeface="Symbol"/>
                      </a:rPr>
                      <m:t></m:t>
                    </m:r>
                    <m:r>
                      <a:rPr lang="ru-RU" i="1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Это система для определения потенциалов, в которой  уравнений, </a:t>
                </a:r>
                <a:r>
                  <a:rPr lang="en-US" i="1" dirty="0"/>
                  <a:t>m</a:t>
                </a:r>
                <a:r>
                  <a:rPr lang="ru-RU" i="1" dirty="0"/>
                  <a:t>+</a:t>
                </a:r>
                <a:r>
                  <a:rPr lang="en-US" i="1" dirty="0"/>
                  <a:t>n </a:t>
                </a:r>
                <a:r>
                  <a:rPr lang="ru-RU" dirty="0"/>
                  <a:t>переменных. Уравнений на одно больше, чем неизвестных, поэтому одному  неизвестному, обычно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, придают значение 0. После этого определяем остальные потенциалы. После нахождения </a:t>
                </a:r>
                <a:r>
                  <a:rPr lang="ru-RU" dirty="0">
                    <a:sym typeface="Symbol"/>
                  </a:rPr>
                  <a:t></a:t>
                </a:r>
                <a:r>
                  <a:rPr lang="ru-RU" dirty="0"/>
                  <a:t> можем найти все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∆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u-RU" dirty="0"/>
                  <a:t> из (39).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260648"/>
                <a:ext cx="8784976" cy="6408712"/>
              </a:xfrm>
              <a:blipFill rotWithShape="1">
                <a:blip r:embed="rId2"/>
                <a:stretch>
                  <a:fillRect l="-1110" t="-1713" r="-6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3405116"/>
            <a:ext cx="2766627" cy="720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03197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490066"/>
          </a:xfrm>
        </p:spPr>
        <p:txBody>
          <a:bodyPr>
            <a:noAutofit/>
          </a:bodyPr>
          <a:lstStyle/>
          <a:p>
            <a:r>
              <a:rPr lang="en-US" sz="3200" b="1" i="1" dirty="0">
                <a:solidFill>
                  <a:srgbClr val="FF0000"/>
                </a:solidFill>
              </a:rPr>
              <a:t>III. </a:t>
            </a:r>
            <a:r>
              <a:rPr lang="ru-RU" sz="3200" b="1" i="1" dirty="0">
                <a:solidFill>
                  <a:srgbClr val="FF0000"/>
                </a:solidFill>
              </a:rPr>
              <a:t>Улучшение базиса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548680"/>
                <a:ext cx="8928992" cy="630932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600" dirty="0"/>
                  <a:t>Пусть критерий (38) не выполняется, то есть существует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600" i="1">
                            <a:latin typeface="Cambria Math"/>
                          </a:rPr>
                          <m:t>∆</m:t>
                        </m:r>
                      </m:e>
                      <m:sub>
                        <m:r>
                          <a:rPr lang="ru-RU" sz="2600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u-RU" sz="2600" i="1">
                        <a:latin typeface="Cambria Math"/>
                      </a:rPr>
                      <m:t>&gt;0</m:t>
                    </m:r>
                  </m:oMath>
                </a14:m>
                <a:r>
                  <a:rPr lang="ru-RU" sz="2600" dirty="0"/>
                  <a:t>. Тогда </a:t>
                </a:r>
                <a14:m>
                  <m:oMath xmlns:m="http://schemas.openxmlformats.org/officeDocument/2006/math">
                    <m:r>
                      <a:rPr lang="ru-RU" sz="2600" i="1">
                        <a:latin typeface="Cambria Math"/>
                      </a:rPr>
                      <m:t>𝑓</m:t>
                    </m:r>
                    <m:r>
                      <a:rPr lang="ru-RU" sz="2600" i="1">
                        <a:latin typeface="Cambria Math"/>
                      </a:rPr>
                      <m:t>↓=</m:t>
                    </m:r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6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6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ru-RU" sz="2600" i="1">
                        <a:latin typeface="Cambria Math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sz="2600" i="1">
                            <a:latin typeface="Cambria Math"/>
                          </a:rPr>
                          <m:t>(</m:t>
                        </m:r>
                        <m:r>
                          <a:rPr lang="ru-RU" sz="2600" i="1">
                            <a:latin typeface="Cambria Math"/>
                          </a:rPr>
                          <m:t>𝑖</m:t>
                        </m:r>
                        <m:r>
                          <a:rPr lang="ru-RU" sz="2600" i="1">
                            <a:latin typeface="Cambria Math"/>
                          </a:rPr>
                          <m:t>,</m:t>
                        </m:r>
                        <m:r>
                          <a:rPr lang="ru-RU" sz="2600" i="1">
                            <a:latin typeface="Cambria Math"/>
                          </a:rPr>
                          <m:t>𝑗</m:t>
                        </m:r>
                        <m:r>
                          <a:rPr lang="ru-RU" sz="2600" i="1">
                            <a:latin typeface="Cambria Math"/>
                          </a:rPr>
                          <m:t>)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ru-RU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600" i="1">
                                <a:latin typeface="Cambria Math"/>
                              </a:rPr>
                              <m:t>∆</m:t>
                            </m:r>
                          </m:e>
                          <m:sub>
                            <m:r>
                              <a:rPr lang="ru-RU" sz="2600" i="1"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ru-RU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600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ru-RU" sz="2600" i="1"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  <m:r>
                          <a:rPr lang="ru-RU" sz="2600" i="1">
                            <a:latin typeface="Cambria Math"/>
                          </a:rPr>
                          <m:t>↑</m:t>
                        </m:r>
                      </m:e>
                    </m:nary>
                  </m:oMath>
                </a14:m>
                <a:endParaRPr lang="ru-RU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600" i="1">
                              <a:latin typeface="Cambria Math"/>
                            </a:rPr>
                            <m:t>∆</m:t>
                          </m:r>
                        </m:e>
                        <m:sub>
                          <m:sSup>
                            <m:sSupPr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600" i="1">
                                  <a:latin typeface="Cambria Math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ru-RU" sz="2600" i="1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600" i="1">
                                  <a:latin typeface="Cambria Math"/>
                                </a:rPr>
                                <m:t>𝑗</m:t>
                              </m:r>
                            </m:e>
                            <m:sup>
                              <m:r>
                                <a:rPr lang="ru-RU" sz="2600" i="1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lang="ru-RU" sz="260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600">
                              <a:latin typeface="Cambria Math"/>
                            </a:rPr>
                            <m:t>max</m:t>
                          </m:r>
                        </m:fName>
                        <m:e>
                          <m:sSub>
                            <m:sSubPr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600" i="1">
                                  <a:latin typeface="Cambria Math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ru-RU" sz="2600" i="1"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ru-RU" sz="2600" i="1">
                              <a:latin typeface="Cambria Math"/>
                            </a:rPr>
                            <m:t>&gt;0</m:t>
                          </m:r>
                        </m:e>
                      </m:func>
                    </m:oMath>
                  </m:oMathPara>
                </a14:m>
                <a:endParaRPr lang="ru-RU" sz="2600" dirty="0"/>
              </a:p>
              <a:p>
                <a:pPr marL="0" indent="0">
                  <a:buNone/>
                </a:pPr>
                <a:r>
                  <a:rPr lang="ru-RU" sz="2600" dirty="0"/>
                  <a:t>Пунктиром рисуем дорогу от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600" i="1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ru-RU" sz="2600" i="1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600" dirty="0"/>
                  <a:t> 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600" i="1">
                            <a:latin typeface="Cambria Math"/>
                          </a:rPr>
                          <m:t>𝑗</m:t>
                        </m:r>
                      </m:e>
                      <m:sup>
                        <m:r>
                          <a:rPr lang="ru-RU" sz="2600" i="1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600" dirty="0"/>
                  <a:t>, по которой не везли груз, а теперь надо везти. Добавим на неё грузопоток и обозначим +ϴ. Выделим контур, содержащий эту дорогу. Нужно сохранить баланс, поэтому прибавляем и вычитаем ϴ на контуре. </a:t>
                </a:r>
                <a:endParaRPr lang="en-US" sz="2600" dirty="0"/>
              </a:p>
              <a:p>
                <a:pPr marL="4394200" indent="0">
                  <a:buNone/>
                </a:pPr>
                <a:r>
                  <a:rPr lang="ru-RU" sz="2600" dirty="0"/>
                  <a:t>Найдём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600" i="1">
                            <a:latin typeface="Cambria Math"/>
                          </a:rPr>
                          <m:t>𝛳</m:t>
                        </m:r>
                      </m:e>
                      <m:sup>
                        <m:r>
                          <a:rPr lang="ru-RU" sz="2600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ru-RU" sz="2600" i="1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26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 sz="2600">
                                <a:latin typeface="Cambria Math"/>
                              </a:rPr>
                              <m:t>min</m:t>
                            </m:r>
                          </m:e>
                          <m:lim>
                            <m:r>
                              <a:rPr lang="ru-RU" sz="2600" i="1">
                                <a:latin typeface="Cambria Math"/>
                              </a:rPr>
                              <m:t>−</m:t>
                            </m:r>
                            <m:r>
                              <a:rPr lang="ru-RU" sz="2600" i="1">
                                <a:latin typeface="Cambria Math"/>
                              </a:rPr>
                              <m:t>𝛳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ru-RU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600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ru-RU" sz="2600" i="1"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  <m:r>
                          <a:rPr lang="ru-RU" sz="2600" i="1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ru-RU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600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sSup>
                              <m:sSupPr>
                                <m:ctrlPr>
                                  <a:rPr lang="ru-RU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2600" i="1">
                                    <a:latin typeface="Cambria Math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ru-RU" sz="2600" i="1">
                                    <a:latin typeface="Cambria Math"/>
                                  </a:rPr>
                                  <m:t>∗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ru-RU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2600" i="1">
                                    <a:latin typeface="Cambria Math"/>
                                  </a:rPr>
                                  <m:t>𝑗</m:t>
                                </m:r>
                              </m:e>
                              <m:sup>
                                <m:r>
                                  <a:rPr lang="ru-RU" sz="2600" i="1">
                                    <a:latin typeface="Cambria Math"/>
                                  </a:rPr>
                                  <m:t>∗</m:t>
                                </m:r>
                              </m:sup>
                            </m:sSup>
                          </m:sub>
                        </m:sSub>
                      </m:e>
                    </m:func>
                  </m:oMath>
                </a14:m>
                <a:endParaRPr lang="ru-RU" sz="2600" dirty="0"/>
              </a:p>
              <a:p>
                <a:pPr marL="4394200" indent="0">
                  <a:buNone/>
                </a:pPr>
                <a:r>
                  <a:rPr lang="ru-RU" sz="2600" dirty="0"/>
                  <a:t>По дороге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600" i="1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ru-RU" sz="2600" i="1">
                            <a:latin typeface="Cambria Math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600" i="1">
                            <a:latin typeface="Cambria Math"/>
                          </a:rPr>
                          <m:t>𝑗</m:t>
                        </m:r>
                      </m:e>
                      <m:sup>
                        <m:r>
                          <a:rPr lang="ru-RU" sz="2600" i="1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600" dirty="0"/>
                  <a:t> пойдёт нулевой грузопоток. </a:t>
                </a:r>
              </a:p>
              <a:p>
                <a:pPr marL="4394200" indent="0">
                  <a:buNone/>
                </a:pPr>
                <a:r>
                  <a:rPr lang="ru-RU" sz="2600" dirty="0"/>
                  <a:t>              </a:t>
                </a:r>
                <a14:m>
                  <m:oMath xmlns:m="http://schemas.openxmlformats.org/officeDocument/2006/math">
                    <m:r>
                      <a:rPr lang="ru-RU" sz="2600" i="1">
                        <a:latin typeface="Cambria Math"/>
                      </a:rPr>
                      <m:t>𝑓</m:t>
                    </m:r>
                    <m:r>
                      <a:rPr lang="ru-RU" sz="26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6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6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ru-RU" sz="2600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600" i="1">
                            <a:latin typeface="Cambria Math"/>
                          </a:rPr>
                          <m:t>∆</m:t>
                        </m:r>
                      </m:e>
                      <m:sub>
                        <m:r>
                          <a:rPr lang="ru-RU" sz="2600" i="1">
                            <a:latin typeface="Cambria Math"/>
                          </a:rPr>
                          <m:t>𝑖𝑗</m:t>
                        </m:r>
                      </m:sub>
                    </m:sSub>
                    <m:sSup>
                      <m:sSup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600" i="1">
                            <a:latin typeface="Cambria Math"/>
                          </a:rPr>
                          <m:t>𝛳</m:t>
                        </m:r>
                      </m:e>
                      <m:sup>
                        <m:r>
                          <a:rPr lang="ru-RU" sz="2600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ru-RU" sz="2600" i="1"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6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60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600" dirty="0"/>
                  <a:t> </a:t>
                </a:r>
              </a:p>
              <a:p>
                <a:pPr marL="0" indent="0">
                  <a:buNone/>
                </a:pPr>
                <a:endParaRPr lang="ru-RU" sz="2700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548680"/>
                <a:ext cx="8928992" cy="6309320"/>
              </a:xfrm>
              <a:blipFill rotWithShape="1">
                <a:blip r:embed="rId2"/>
                <a:stretch>
                  <a:fillRect l="-1230" t="-773" r="-18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645024"/>
            <a:ext cx="1944216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20879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420888"/>
            <a:ext cx="8229600" cy="1143000"/>
          </a:xfrm>
        </p:spPr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Спасибо за внимание!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96020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3391</TotalTime>
  <Words>1748</Words>
  <Application>Microsoft Office PowerPoint</Application>
  <PresentationFormat>Экран (4:3)</PresentationFormat>
  <Paragraphs>203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 Math</vt:lpstr>
      <vt:lpstr>Symbol</vt:lpstr>
      <vt:lpstr>Тема Office</vt:lpstr>
      <vt:lpstr>Методы оптимизации</vt:lpstr>
      <vt:lpstr>Постановка транспортных задач</vt:lpstr>
      <vt:lpstr>I. Общая транспортная задача (ОТЗ)</vt:lpstr>
      <vt:lpstr>Презентация PowerPoint</vt:lpstr>
      <vt:lpstr>Презентация PowerPoint</vt:lpstr>
      <vt:lpstr>Классическая транспортная задача (КТЗ).</vt:lpstr>
      <vt:lpstr>Презентация PowerPoint</vt:lpstr>
      <vt:lpstr>III. Задача определения кратчайшего пути на сети.</vt:lpstr>
      <vt:lpstr>Алгоритм поиска кратчайшего пути</vt:lpstr>
      <vt:lpstr>I этап.  Прямой проход. </vt:lpstr>
      <vt:lpstr>II этап.  Обратный проход.</vt:lpstr>
      <vt:lpstr>Доказательство оптимальности пути, найденного по алгоритму поиска кратчайшего пути</vt:lpstr>
      <vt:lpstr>Презентация PowerPoint</vt:lpstr>
      <vt:lpstr>Презентация PowerPoint</vt:lpstr>
      <vt:lpstr>Классическая транспортная задача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Решение классической транспортной задачи методом потенциалов</vt:lpstr>
      <vt:lpstr>I. Нахождение первоначального базиса. Метод наименьшего элемента.</vt:lpstr>
      <vt:lpstr>Презентация PowerPoint</vt:lpstr>
      <vt:lpstr>II. Проверка текущего базиса на оптимальность</vt:lpstr>
      <vt:lpstr>Презентация PowerPoint</vt:lpstr>
      <vt:lpstr>Презентация PowerPoint</vt:lpstr>
      <vt:lpstr>Презентация PowerPoint</vt:lpstr>
      <vt:lpstr>III. Улучшение базиса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оптимизации</dc:title>
  <dc:creator>Виктор</dc:creator>
  <cp:lastModifiedBy>Хапаева Полина Павловна</cp:lastModifiedBy>
  <cp:revision>38</cp:revision>
  <dcterms:created xsi:type="dcterms:W3CDTF">2019-11-15T19:36:29Z</dcterms:created>
  <dcterms:modified xsi:type="dcterms:W3CDTF">2024-04-02T13:17:08Z</dcterms:modified>
</cp:coreProperties>
</file>