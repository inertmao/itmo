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6" r:id="rId18"/>
    <p:sldId id="273" r:id="rId19"/>
    <p:sldId id="275" r:id="rId20"/>
    <p:sldId id="284" r:id="rId21"/>
    <p:sldId id="285" r:id="rId22"/>
    <p:sldId id="28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4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1BB14-A600-4D37-998A-8BBC70F25688}" type="datetimeFigureOut">
              <a:rPr lang="ru-RU" smtClean="0"/>
              <a:t>27.03.2024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5FD040-DBAF-485F-BD46-D9EE4AAD09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880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6500C-B635-414C-8652-51AE0CA80DE7}" type="datetime1">
              <a:rPr lang="ru-RU" smtClean="0"/>
              <a:t>27.03.2024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21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C1343-1D3F-4792-A4E9-4ECC1A845AB0}" type="datetime1">
              <a:rPr lang="ru-RU" smtClean="0"/>
              <a:t>27.03.2024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721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EA6D7-676A-4A8B-A82B-5D4C7A84F858}" type="datetime1">
              <a:rPr lang="ru-RU" smtClean="0"/>
              <a:t>27.03.2024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241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4771A-34E2-4DD2-B619-C7DEFCA06DD8}" type="datetime1">
              <a:rPr lang="ru-RU" smtClean="0"/>
              <a:t>27.03.2024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42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04864-36CC-464C-A136-BC9099F0CB0F}" type="datetime1">
              <a:rPr lang="ru-RU" smtClean="0"/>
              <a:t>27.03.2024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34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8811-0517-4975-9BAF-2376B1844104}" type="datetime1">
              <a:rPr lang="ru-RU" smtClean="0"/>
              <a:t>27.03.2024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498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ABC07-6CA2-4EF0-BF5B-CA0F415DB577}" type="datetime1">
              <a:rPr lang="ru-RU" smtClean="0"/>
              <a:t>27.03.2024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646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4860E-3D4A-480F-A0D0-38B56554C7BA}" type="datetime1">
              <a:rPr lang="ru-RU" smtClean="0"/>
              <a:t>27.03.2024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178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26598-E3D9-46CE-B954-9F7601106F3A}" type="datetime1">
              <a:rPr lang="ru-RU" smtClean="0"/>
              <a:t>27.03.2024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693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04906-CD21-475A-91C9-81A749005135}" type="datetime1">
              <a:rPr lang="ru-RU" smtClean="0"/>
              <a:t>27.03.2024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148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25EFE-CDF6-449E-BF30-675AC583B8F2}" type="datetime1">
              <a:rPr lang="ru-RU" smtClean="0"/>
              <a:t>27.03.2024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80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0">
              <a:schemeClr val="bg1"/>
            </a:gs>
            <a:gs pos="100000">
              <a:srgbClr val="FFFF99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FD2CD-4224-4EDB-BA7A-99586F70492A}" type="datetime1">
              <a:rPr lang="ru-RU" smtClean="0"/>
              <a:t>27.03.2024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5081F4-1C9F-46BC-8CC7-6387CA204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76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1640" y="908720"/>
            <a:ext cx="7052320" cy="1470025"/>
          </a:xfrm>
        </p:spPr>
        <p:txBody>
          <a:bodyPr/>
          <a:lstStyle/>
          <a:p>
            <a:r>
              <a:rPr lang="ru-RU" b="1" i="1" dirty="0"/>
              <a:t>Методы оптимизации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10258" y="2348880"/>
            <a:ext cx="7494190" cy="4104456"/>
          </a:xfrm>
        </p:spPr>
        <p:txBody>
          <a:bodyPr>
            <a:noAutofit/>
          </a:bodyPr>
          <a:lstStyle/>
          <a:p>
            <a:r>
              <a:rPr lang="ru-RU" i="1" dirty="0">
                <a:solidFill>
                  <a:schemeClr val="tx1"/>
                </a:solidFill>
              </a:rPr>
              <a:t>Лекция 6</a:t>
            </a:r>
            <a:r>
              <a:rPr lang="en-US" i="1" dirty="0">
                <a:solidFill>
                  <a:schemeClr val="tx1"/>
                </a:solidFill>
              </a:rPr>
              <a:t>. </a:t>
            </a:r>
            <a:r>
              <a:rPr lang="ru-RU" b="1" i="1" dirty="0">
                <a:solidFill>
                  <a:srgbClr val="FF0000"/>
                </a:solidFill>
              </a:rPr>
              <a:t>Двойственная задача линейного программирования</a:t>
            </a:r>
          </a:p>
          <a:p>
            <a:endParaRPr lang="ru-RU" sz="2400" i="1" dirty="0">
              <a:solidFill>
                <a:schemeClr val="tx1"/>
              </a:solidFill>
            </a:endParaRPr>
          </a:p>
          <a:p>
            <a:pPr marL="4749800" algn="l"/>
            <a:r>
              <a:rPr lang="ru-RU" sz="2400" i="1" dirty="0">
                <a:solidFill>
                  <a:schemeClr val="tx1"/>
                </a:solidFill>
              </a:rPr>
              <a:t>Селина </a:t>
            </a:r>
            <a:r>
              <a:rPr lang="ru-RU" sz="2400" i="1">
                <a:solidFill>
                  <a:schemeClr val="tx1"/>
                </a:solidFill>
              </a:rPr>
              <a:t>Елена Георгиевна</a:t>
            </a:r>
            <a:endParaRPr lang="ru-RU" sz="2400" i="1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222415"/>
            <a:ext cx="2933700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5AF022-2ABA-49D5-8A90-517B29A3852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721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8636"/>
            <a:ext cx="8229600" cy="952092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Постановка и правила построения двойственной задачи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908720"/>
                <a:ext cx="8784976" cy="5949280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Каждой задаче линейного программирования можно поставить в соответствие другую задачу линейного программирования, составленную определенным образом. Связь между первой задачей и второй задачей, которую будем называть двойственной, заключается в том, что из решения одной задачи можно получить решение другой.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Пусть есть задача линейного программирования, записанная в матричной форме: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Найти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500" i="1">
                        <a:latin typeface="Cambria Math"/>
                      </a:rPr>
                      <m:t>𝑚𝑎𝑥</m:t>
                    </m:r>
                    <m:d>
                      <m:dPr>
                        <m:begChr m:val="{"/>
                        <m:endChr m:val="}"/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500" i="1">
                                <a:latin typeface="Cambria Math"/>
                              </a:rPr>
                              <m:t>𝐶</m:t>
                            </m:r>
                          </m:e>
                          <m:sup>
                            <m:r>
                              <a:rPr lang="ru-RU" sz="25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r>
                          <a:rPr lang="ru-RU" sz="2500" i="1">
                            <a:latin typeface="Cambria Math"/>
                          </a:rPr>
                          <m:t>𝑋</m:t>
                        </m:r>
                        <m:r>
                          <a:rPr lang="ru-RU" sz="2500">
                            <a:latin typeface="Cambria Math"/>
                            <a:sym typeface="Symbol"/>
                          </a:rPr>
                          <m:t></m:t>
                        </m:r>
                        <m:r>
                          <a:rPr lang="ru-RU" sz="2500" i="1">
                            <a:latin typeface="Cambria Math"/>
                          </a:rPr>
                          <m:t>𝐴𝑋</m:t>
                        </m:r>
                        <m:r>
                          <a:rPr lang="ru-RU" sz="2500" i="1">
                            <a:latin typeface="Cambria Math"/>
                          </a:rPr>
                          <m:t>≤</m:t>
                        </m:r>
                        <m:r>
                          <a:rPr lang="ru-RU" sz="2500" i="1">
                            <a:latin typeface="Cambria Math"/>
                          </a:rPr>
                          <m:t>𝐵</m:t>
                        </m:r>
                        <m:r>
                          <a:rPr lang="ru-RU" sz="2500" i="1">
                            <a:latin typeface="Cambria Math"/>
                          </a:rPr>
                          <m:t>, </m:t>
                        </m:r>
                        <m:r>
                          <a:rPr lang="ru-RU" sz="2500" i="1">
                            <a:latin typeface="Cambria Math"/>
                          </a:rPr>
                          <m:t>𝑋</m:t>
                        </m:r>
                        <m:r>
                          <a:rPr lang="ru-RU" sz="2500" i="1">
                            <a:latin typeface="Cambria Math"/>
                          </a:rPr>
                          <m:t>≥0</m:t>
                        </m:r>
                      </m:e>
                    </m:d>
                  </m:oMath>
                </a14:m>
                <a:r>
                  <a:rPr lang="ru-RU" sz="2500" dirty="0"/>
                  <a:t>                       (25)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 Будем ее называть прямой задачей. Двойственной задаче (25) называется следующая задача: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Найти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400" dirty="0"/>
                  <a:t>min</a:t>
                </a:r>
                <a:r>
                  <a:rPr lang="ru-RU" sz="2400" dirty="0"/>
                  <a:t>{</a:t>
                </a:r>
                <a:r>
                  <a:rPr lang="en-US" sz="2400" dirty="0"/>
                  <a:t>B</a:t>
                </a:r>
                <a:r>
                  <a:rPr lang="en-US" sz="2400" baseline="30000" dirty="0"/>
                  <a:t>T</a:t>
                </a:r>
                <a:r>
                  <a:rPr lang="ru-RU" sz="2400" i="1" dirty="0">
                    <a:sym typeface="Symbol"/>
                  </a:rPr>
                  <a:t></a:t>
                </a:r>
                <a:r>
                  <a:rPr lang="ru-RU" sz="2400" dirty="0"/>
                  <a:t> | </a:t>
                </a:r>
                <a:r>
                  <a:rPr lang="en-US" sz="2400" dirty="0"/>
                  <a:t>A</a:t>
                </a:r>
                <a:r>
                  <a:rPr lang="en-US" sz="2400" baseline="30000" dirty="0"/>
                  <a:t>T</a:t>
                </a:r>
                <a:r>
                  <a:rPr lang="ru-RU" sz="2400" i="1" dirty="0">
                    <a:sym typeface="Symbol"/>
                  </a:rPr>
                  <a:t>≥</a:t>
                </a:r>
                <a:r>
                  <a:rPr lang="en-US" sz="2400" dirty="0"/>
                  <a:t>C</a:t>
                </a:r>
                <a:r>
                  <a:rPr lang="ru-RU" sz="2400" dirty="0"/>
                  <a:t>,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/>
                      </a:rPr>
                      <m:t> </m:t>
                    </m:r>
                    <m:r>
                      <a:rPr lang="ru-RU" sz="2400" i="1">
                        <a:latin typeface="Cambria Math"/>
                        <a:sym typeface="Symbol"/>
                      </a:rPr>
                      <m:t></m:t>
                    </m:r>
                    <m:r>
                      <a:rPr lang="ru-RU" sz="2400" i="1">
                        <a:latin typeface="Cambria Math"/>
                      </a:rPr>
                      <m:t>0}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                                  </m:t>
                    </m:r>
                  </m:oMath>
                </a14:m>
                <a:r>
                  <a:rPr lang="ru-RU" sz="2500" dirty="0"/>
                  <a:t> (26)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 Переменные </a:t>
                </a:r>
                <a:r>
                  <a:rPr lang="ru-RU" sz="2500" dirty="0">
                    <a:sym typeface="Symbol"/>
                  </a:rPr>
                  <a:t></a:t>
                </a:r>
                <a:r>
                  <a:rPr lang="ru-RU" sz="2500" dirty="0"/>
                  <a:t> называют двойственными переменными.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908720"/>
                <a:ext cx="8784976" cy="5949280"/>
              </a:xfrm>
              <a:blipFill>
                <a:blip r:embed="rId2"/>
                <a:stretch>
                  <a:fillRect l="-1110" t="-717" r="-1664" b="-10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5140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955701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rgbClr val="FF0000"/>
                </a:solidFill>
              </a:rPr>
              <a:t>Постановка и правила построения двойственной задачи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9386" y="908720"/>
                <a:ext cx="9007109" cy="594928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90000"/>
                  </a:lnSpc>
                  <a:spcBef>
                    <a:spcPts val="0"/>
                  </a:spcBef>
                  <a:buNone/>
                </a:pPr>
                <a:r>
                  <a:rPr lang="ru-RU" sz="2500" dirty="0"/>
                  <a:t>При переходе от исходной задачи к соответствующей двойственной</a:t>
                </a:r>
                <a:r>
                  <a:rPr lang="en-US" sz="2500" dirty="0"/>
                  <a:t> </a:t>
                </a:r>
                <a:r>
                  <a:rPr lang="ru-RU" sz="2500" dirty="0"/>
                  <a:t>задаче</a:t>
                </a:r>
                <a:r>
                  <a:rPr lang="en-US" sz="2500" dirty="0"/>
                  <a:t> </a:t>
                </a:r>
                <a:r>
                  <a:rPr lang="ru-RU" sz="2500" dirty="0"/>
                  <a:t>производят следующие</a:t>
                </a:r>
                <a:r>
                  <a:rPr lang="en-US" sz="2500" dirty="0"/>
                  <a:t> </a:t>
                </a:r>
                <a:r>
                  <a:rPr lang="ru-RU" sz="2500" dirty="0"/>
                  <a:t>преобразования:</a:t>
                </a:r>
              </a:p>
              <a:p>
                <a:pPr marL="457200" indent="-457200">
                  <a:lnSpc>
                    <a:spcPct val="9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ru-RU" sz="2500" dirty="0"/>
                  <a:t>заменяют максимизацию целевой функции минимизацией;</a:t>
                </a:r>
              </a:p>
              <a:p>
                <a:pPr marL="457200" indent="-457200">
                  <a:lnSpc>
                    <a:spcPct val="9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ru-RU" sz="2500" dirty="0"/>
                  <a:t>знак неравенств – ограничений меняется на противоположный. Если в исходной задаче неравенство меньше или равно нулю, то в двойственной задаче – больше или равно нулю;</a:t>
                </a:r>
              </a:p>
              <a:p>
                <a:pPr marL="457200" indent="-457200">
                  <a:lnSpc>
                    <a:spcPct val="9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ru-RU" sz="2500" dirty="0"/>
                  <a:t>число переменных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500" dirty="0"/>
                  <a:t> в исходной задаче равно числу ограничений в двойственной, и наоборот;</a:t>
                </a:r>
              </a:p>
              <a:p>
                <a:pPr marL="457200" indent="-457200">
                  <a:lnSpc>
                    <a:spcPct val="9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ru-RU" sz="2500" dirty="0"/>
                  <a:t>матрица A системы ограничений исходной задачи транспонируется;</a:t>
                </a:r>
                <a:endParaRPr lang="en-US" sz="2500" dirty="0"/>
              </a:p>
              <a:p>
                <a:pPr marL="457200" indent="-457200">
                  <a:lnSpc>
                    <a:spcPct val="90000"/>
                  </a:lnSpc>
                  <a:spcBef>
                    <a:spcPts val="0"/>
                  </a:spcBef>
                  <a:buFont typeface="+mj-lt"/>
                  <a:buAutoNum type="arabicPeriod"/>
                </a:pPr>
                <a:r>
                  <a:rPr lang="ru-RU" sz="2500" dirty="0"/>
                  <a:t>векторы </a:t>
                </a:r>
                <a:r>
                  <a:rPr lang="en-US" sz="2500" dirty="0"/>
                  <a:t>B</a:t>
                </a:r>
                <a:r>
                  <a:rPr lang="ru-RU" sz="2500" dirty="0"/>
                  <a:t> и </a:t>
                </a:r>
                <a:r>
                  <a:rPr lang="en-US" sz="2500" dirty="0"/>
                  <a:t>C</a:t>
                </a:r>
                <a:r>
                  <a:rPr lang="ru-RU" sz="2500" dirty="0"/>
                  <a:t> меняются местами, т.е. коэффициенты целевой функции исходной задачи (</a:t>
                </a:r>
                <a:r>
                  <a:rPr lang="en-US" sz="2500" dirty="0"/>
                  <a:t>C</a:t>
                </a:r>
                <a:r>
                  <a:rPr lang="ru-RU" sz="2500" dirty="0"/>
                  <a:t>) становятся столбцом свободных членов системы ограничений двойственной задачи, а столбец свободных членов системы ограничений исходной задачи (</a:t>
                </a:r>
                <a:r>
                  <a:rPr lang="en-US" sz="2500" dirty="0"/>
                  <a:t>B</a:t>
                </a:r>
                <a:r>
                  <a:rPr lang="ru-RU" sz="2500" dirty="0"/>
                  <a:t>) становится коэффициентами целевой функции двойственной задачи.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386" y="908720"/>
                <a:ext cx="9007109" cy="5949280"/>
              </a:xfrm>
              <a:blipFill rotWithShape="1">
                <a:blip r:embed="rId2"/>
                <a:stretch>
                  <a:fillRect l="-1219" t="-1332" r="-1896" b="-20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04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84245"/>
                <a:ext cx="8964488" cy="666936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800" dirty="0"/>
                  <a:t>Если </a:t>
                </a:r>
                <a:r>
                  <a:rPr lang="en-US" sz="2800" dirty="0"/>
                  <a:t>A</a:t>
                </a:r>
                <a:r>
                  <a:rPr lang="ru-RU" sz="2800" dirty="0"/>
                  <a:t> имеет размер </a:t>
                </a:r>
                <a:r>
                  <a:rPr lang="en-US" sz="2800" dirty="0" err="1"/>
                  <a:t>m</a:t>
                </a:r>
                <a:r>
                  <a:rPr lang="en-US" sz="2800" dirty="0" err="1">
                    <a:sym typeface="Symbol"/>
                  </a:rPr>
                  <a:t></a:t>
                </a:r>
                <a:r>
                  <a:rPr lang="en-US" sz="2800" dirty="0" err="1"/>
                  <a:t>n</a:t>
                </a:r>
                <a:r>
                  <a:rPr lang="ru-RU" sz="2800" dirty="0"/>
                  <a:t> , то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𝑋</m:t>
                    </m:r>
                    <m:r>
                      <a:rPr lang="ru-RU" sz="2800" i="1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ru-RU" sz="2800" i="1">
                        <a:latin typeface="Cambria Math"/>
                      </a:rPr>
                      <m:t>, </m:t>
                    </m:r>
                    <m:r>
                      <a:rPr lang="ru-RU" sz="2800" i="1">
                        <a:latin typeface="Cambria Math"/>
                        <a:sym typeface="Symbol"/>
                      </a:rPr>
                      <m:t></m:t>
                    </m:r>
                    <m:r>
                      <a:rPr lang="ru-RU" sz="2800" i="1"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ru-RU" sz="2800" dirty="0"/>
                  <a:t>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dirty="0"/>
                  <a:t>m</a:t>
                </a:r>
                <a:r>
                  <a:rPr lang="ru-RU" sz="2800" dirty="0"/>
                  <a:t>&lt;</a:t>
                </a:r>
                <a:r>
                  <a:rPr lang="en-US" sz="2800" dirty="0"/>
                  <a:t>n </a:t>
                </a:r>
                <a:r>
                  <a:rPr lang="en-US" sz="2800" dirty="0">
                    <a:sym typeface="Symbol"/>
                  </a:rPr>
                  <a:t></a:t>
                </a:r>
                <a:r>
                  <a:rPr lang="ru-RU" sz="2800" dirty="0"/>
                  <a:t> размерность двойственной задачи меньше размерности прямой.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ru-RU" sz="2600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ru-RU" sz="2800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ru-RU" sz="2800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ru-RU" sz="2800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ru-RU" sz="2800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ru-RU" sz="28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900" dirty="0"/>
                  <a:t>В симметричных задачах система ограничений как исходной, так и двойственной задачи задается неравенствами, причем на двойственные переменные налагается условие </a:t>
                </a:r>
                <a:r>
                  <a:rPr lang="ru-RU" sz="2900" dirty="0" err="1"/>
                  <a:t>неотрицательности</a:t>
                </a:r>
                <a:r>
                  <a:rPr lang="ru-RU" sz="2900" dirty="0"/>
                  <a:t>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900" dirty="0"/>
                  <a:t>В несимметричных задачах система ограничений исходной задачи задается в виде равенств, а система ограничений двойственной в виде неравенств, причем если в целевой функции двойственной задачи требуется найти минимум, то знак неравенств ≥, если максимум, то ≤. Кроме того, в двойственной задаче переменные могут принимать любое значение, в том числе и отрицательные.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900" dirty="0"/>
                  <a:t>Взаимозависимость исходной и двойственной задач определяется рядом теорем.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84245"/>
                <a:ext cx="8964488" cy="6669360"/>
              </a:xfrm>
              <a:blipFill>
                <a:blip r:embed="rId2"/>
                <a:stretch>
                  <a:fillRect l="-884" t="-1737" r="-12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980728"/>
            <a:ext cx="5226149" cy="1589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500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18094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solidFill>
                  <a:srgbClr val="FF0000"/>
                </a:solidFill>
              </a:rPr>
              <a:t>Первая теорема двойственности</a:t>
            </a:r>
            <a:endParaRPr lang="ru-R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548680"/>
                <a:ext cx="8784976" cy="6309320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b="1" i="1" dirty="0"/>
                  <a:t>Теорема. </a:t>
                </a:r>
                <a:r>
                  <a:rPr lang="ru-RU" sz="2500" dirty="0"/>
                  <a:t>Рассмотрим несимметричную пару двойственных задач: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500" i="1">
                        <a:latin typeface="Cambria Math"/>
                      </a:rPr>
                      <m:t>𝑚𝑎𝑥</m:t>
                    </m:r>
                    <m:d>
                      <m:dPr>
                        <m:begChr m:val="{"/>
                        <m:endChr m:val="}"/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500" i="1">
                                <a:latin typeface="Cambria Math"/>
                              </a:rPr>
                              <m:t>𝐶</m:t>
                            </m:r>
                          </m:e>
                          <m:sup>
                            <m:r>
                              <a:rPr lang="ru-RU" sz="25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r>
                          <a:rPr lang="ru-RU" sz="2500" i="1">
                            <a:latin typeface="Cambria Math"/>
                          </a:rPr>
                          <m:t>𝑋</m:t>
                        </m:r>
                        <m:r>
                          <a:rPr lang="ru-RU" sz="2500">
                            <a:latin typeface="Cambria Math"/>
                            <a:sym typeface="Symbol"/>
                          </a:rPr>
                          <m:t></m:t>
                        </m:r>
                        <m:r>
                          <a:rPr lang="ru-RU" sz="2500" i="1">
                            <a:latin typeface="Cambria Math"/>
                          </a:rPr>
                          <m:t>𝐴</m:t>
                        </m:r>
                        <m:r>
                          <a:rPr lang="en-US" sz="2500" i="1">
                            <a:latin typeface="Cambria Math"/>
                          </a:rPr>
                          <m:t>𝑋</m:t>
                        </m:r>
                        <m:r>
                          <a:rPr lang="ru-RU" sz="2500" i="1">
                            <a:latin typeface="Cambria Math"/>
                          </a:rPr>
                          <m:t>=</m:t>
                        </m:r>
                        <m:r>
                          <a:rPr lang="ru-RU" sz="2500" i="1">
                            <a:latin typeface="Cambria Math"/>
                          </a:rPr>
                          <m:t>𝐵</m:t>
                        </m:r>
                        <m:r>
                          <a:rPr lang="ru-RU" sz="2500" i="1">
                            <a:latin typeface="Cambria Math"/>
                          </a:rPr>
                          <m:t>, </m:t>
                        </m:r>
                        <m:r>
                          <a:rPr lang="ru-RU" sz="2500" i="1">
                            <a:latin typeface="Cambria Math"/>
                          </a:rPr>
                          <m:t>𝑋</m:t>
                        </m:r>
                        <m:r>
                          <a:rPr lang="ru-RU" sz="2500" i="1">
                            <a:latin typeface="Cambria Math"/>
                          </a:rPr>
                          <m:t>≥0</m:t>
                        </m:r>
                      </m:e>
                    </m:d>
                  </m:oMath>
                </a14:m>
                <a:r>
                  <a:rPr lang="ru-RU" sz="2500" dirty="0"/>
                  <a:t>                       (</a:t>
                </a:r>
                <a:r>
                  <a:rPr lang="en-US" sz="2500" dirty="0"/>
                  <a:t>27</a:t>
                </a:r>
                <a:r>
                  <a:rPr lang="ru-RU" sz="2500" dirty="0"/>
                  <a:t>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и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500" i="1">
                        <a:latin typeface="Cambria Math"/>
                      </a:rPr>
                      <m:t>𝑚𝑖𝑛</m:t>
                    </m:r>
                    <m:d>
                      <m:dPr>
                        <m:begChr m:val="{"/>
                        <m:endChr m:val="}"/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500" i="1">
                                <a:latin typeface="Cambria Math"/>
                              </a:rPr>
                              <m:t>𝐵</m:t>
                            </m:r>
                          </m:e>
                          <m:sup>
                            <m:r>
                              <a:rPr lang="ru-RU" sz="25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500" i="1">
                                <a:latin typeface="Cambria Math"/>
                                <a:sym typeface="Symbol"/>
                              </a:rPr>
                              <m:t></m:t>
                            </m:r>
                            <m:r>
                              <a:rPr lang="ru-RU" sz="2500">
                                <a:latin typeface="Cambria Math"/>
                                <a:sym typeface="Symbol"/>
                              </a:rPr>
                              <m:t></m:t>
                            </m:r>
                            <m:r>
                              <a:rPr lang="ru-RU" sz="2500" i="1">
                                <a:latin typeface="Cambria Math"/>
                              </a:rPr>
                              <m:t>𝐴</m:t>
                            </m:r>
                          </m:e>
                          <m:sup>
                            <m:r>
                              <a:rPr lang="ru-RU" sz="25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r>
                          <a:rPr lang="ru-RU" sz="2500" i="1">
                            <a:latin typeface="Cambria Math"/>
                            <a:sym typeface="Symbol"/>
                          </a:rPr>
                          <m:t></m:t>
                        </m:r>
                        <m:r>
                          <a:rPr lang="ru-RU" sz="2500" i="1">
                            <a:latin typeface="Cambria Math"/>
                          </a:rPr>
                          <m:t>≥</m:t>
                        </m:r>
                        <m:r>
                          <a:rPr lang="ru-RU" sz="2500" i="1">
                            <a:latin typeface="Cambria Math"/>
                          </a:rPr>
                          <m:t>𝐶</m:t>
                        </m:r>
                      </m:e>
                    </m:d>
                  </m:oMath>
                </a14:m>
                <a:r>
                  <a:rPr lang="ru-RU" sz="2500" dirty="0"/>
                  <a:t>                       (</a:t>
                </a:r>
                <a:r>
                  <a:rPr lang="en-US" sz="2500" dirty="0"/>
                  <a:t>28</a:t>
                </a:r>
                <a:r>
                  <a:rPr lang="ru-RU" sz="2500" dirty="0"/>
                  <a:t>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 Пусть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500" i="1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ru-RU" sz="2500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500" dirty="0"/>
                  <a:t> 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500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p>
                        <m:r>
                          <a:rPr lang="ru-RU" sz="2500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500" dirty="0"/>
                  <a:t> являются соответственно решениями прямой и двойственной задач.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п</m:t>
                        </m:r>
                      </m:sub>
                    </m:sSub>
                    <m:d>
                      <m:d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500" i="1">
                                <a:latin typeface="Cambria Math"/>
                              </a:rPr>
                              <m:t>𝑋</m:t>
                            </m:r>
                          </m:e>
                          <m:sup>
                            <m:r>
                              <a:rPr lang="ru-RU" sz="2500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ru-RU" sz="25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д</m:t>
                        </m:r>
                      </m:sub>
                    </m:sSub>
                    <m:d>
                      <m:d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500" i="1">
                                <a:latin typeface="Cambria Math"/>
                                <a:sym typeface="Symbol"/>
                              </a:rPr>
                              <m:t></m:t>
                            </m:r>
                          </m:e>
                          <m:sup>
                            <m:r>
                              <a:rPr lang="ru-RU" sz="2500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2500" dirty="0"/>
                  <a:t> соответственно точки максимума и минимума. Тогда:</a:t>
                </a:r>
              </a:p>
              <a:p>
                <a:pPr marL="0" lv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5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sz="2500" i="1">
                              <a:latin typeface="Cambria Math"/>
                            </a:rPr>
                            <m:t>п</m:t>
                          </m:r>
                        </m:sub>
                      </m:sSub>
                      <m:d>
                        <m:dPr>
                          <m:ctrlPr>
                            <a:rPr lang="ru-RU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ru-RU" sz="25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ru-RU" sz="25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sz="2500" i="1">
                              <a:latin typeface="Cambria Math"/>
                            </a:rPr>
                            <m:t>д</m:t>
                          </m:r>
                        </m:sub>
                      </m:sSub>
                      <m:d>
                        <m:dPr>
                          <m:ctrlPr>
                            <a:rPr lang="ru-RU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p>
                              <m:r>
                                <a:rPr lang="ru-RU" sz="25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sz="2500" dirty="0">
                  <a:effectLst/>
                </a:endParaRPr>
              </a:p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ru-RU" sz="2500" dirty="0"/>
                  <a:t>Выполняются соотношения дополняющей </a:t>
                </a:r>
                <a:r>
                  <a:rPr lang="ru-RU" sz="2500" dirty="0" err="1"/>
                  <a:t>нежесткости</a:t>
                </a:r>
                <a:r>
                  <a:rPr lang="ru-RU" sz="2500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𝑗</m:t>
                        </m:r>
                      </m:sub>
                      <m:sup>
                        <m:r>
                          <a:rPr lang="ru-RU" sz="2500" i="1">
                            <a:latin typeface="Cambria Math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500" i="1">
                                <a:latin typeface="Cambria Math"/>
                              </a:rPr>
                              <m:t>𝐴</m:t>
                            </m:r>
                          </m:e>
                          <m:sup>
                            <m:r>
                              <a:rPr lang="ru-RU" sz="25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500" i="1">
                                <a:latin typeface="Cambria Math"/>
                                <a:sym typeface="Symbol"/>
                              </a:rPr>
                              <m:t></m:t>
                            </m:r>
                          </m:e>
                          <m:sup>
                            <m:r>
                              <a:rPr lang="ru-RU" sz="2500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r>
                          <a:rPr lang="ru-RU" sz="2500" i="1">
                            <a:latin typeface="Cambria Math"/>
                          </a:rPr>
                          <m:t>−</m:t>
                        </m:r>
                        <m:r>
                          <a:rPr lang="ru-RU" sz="2500" i="1">
                            <a:latin typeface="Cambria Math"/>
                          </a:rPr>
                          <m:t>𝐶</m:t>
                        </m:r>
                        <m:r>
                          <a:rPr lang="ru-RU" sz="2500" i="1">
                            <a:latin typeface="Cambria Math"/>
                          </a:rPr>
                          <m:t>)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500" dirty="0"/>
                  <a:t>=0</a:t>
                </a:r>
                <a:endParaRPr lang="ru-RU" sz="2500" dirty="0">
                  <a:effectLst/>
                </a:endParaRPr>
              </a:p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ru-RU" sz="2500" dirty="0"/>
                  <a:t>Если одна из задач имеет неограниченное решение, то другая не имеет допустимого решения, но не наоборот:</a:t>
                </a:r>
                <a:endParaRPr lang="ru-RU" sz="2500" dirty="0">
                  <a:effectLst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п</m:t>
                        </m:r>
                      </m:sub>
                    </m:sSub>
                    <m:r>
                      <a:rPr lang="ru-RU" sz="2500" i="1">
                        <a:latin typeface="Cambria Math"/>
                      </a:rPr>
                      <m:t>=∞</m:t>
                    </m:r>
                    <m:r>
                      <a:rPr lang="ru-RU" sz="2500" i="1">
                        <a:latin typeface="Cambria Math"/>
                        <a:sym typeface="Symbol"/>
                      </a:rPr>
                      <m:t></m:t>
                    </m:r>
                    <m:r>
                      <a:rPr lang="ru-RU" sz="2500" i="1">
                        <a:latin typeface="Cambria Math"/>
                      </a:rPr>
                      <m:t>=</m:t>
                    </m:r>
                  </m:oMath>
                </a14:m>
                <a:r>
                  <a:rPr lang="ru-RU" sz="2500" i="1" dirty="0">
                    <a:sym typeface="Symbol"/>
                  </a:rPr>
                  <a:t></a:t>
                </a:r>
                <a:endParaRPr lang="ru-RU" sz="25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Д</m:t>
                        </m:r>
                      </m:sub>
                    </m:sSub>
                    <m:r>
                      <a:rPr lang="ru-RU" sz="2500" i="1">
                        <a:latin typeface="Cambria Math"/>
                      </a:rPr>
                      <m:t>=∞</m:t>
                    </m:r>
                    <m:r>
                      <a:rPr lang="ru-RU" sz="2500" i="1">
                        <a:latin typeface="Cambria Math"/>
                        <a:sym typeface="Symbol"/>
                      </a:rPr>
                      <m:t></m:t>
                    </m:r>
                    <m:r>
                      <a:rPr lang="en-US" sz="2500" i="1">
                        <a:latin typeface="Cambria Math"/>
                      </a:rPr>
                      <m:t>𝑋</m:t>
                    </m:r>
                    <m:r>
                      <a:rPr lang="ru-RU" sz="2500" i="1">
                        <a:latin typeface="Cambria Math"/>
                      </a:rPr>
                      <m:t>=</m:t>
                    </m:r>
                  </m:oMath>
                </a14:m>
                <a:r>
                  <a:rPr lang="ru-RU" sz="2500" i="1" dirty="0">
                    <a:sym typeface="Symbol"/>
                  </a:rPr>
                  <a:t></a:t>
                </a:r>
                <a:endParaRPr lang="ru-RU" sz="250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548680"/>
                <a:ext cx="8784976" cy="6309320"/>
              </a:xfrm>
              <a:blipFill>
                <a:blip r:embed="rId2"/>
                <a:stretch>
                  <a:fillRect l="-1110" t="-676" r="-3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579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88640"/>
                <a:ext cx="8784976" cy="648072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ru-RU" b="1" i="1" dirty="0"/>
                  <a:t>Доказательство. 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1а)Докажем сначала, что для любых допустимых </a:t>
                </a:r>
                <a:r>
                  <a:rPr lang="en-US" dirty="0"/>
                  <a:t>X</a:t>
                </a:r>
                <a:r>
                  <a:rPr lang="ru-RU" dirty="0"/>
                  <a:t>, </a:t>
                </a:r>
                <a:r>
                  <a:rPr lang="en-US" dirty="0">
                    <a:sym typeface="Symbol"/>
                  </a:rPr>
                  <a:t></a:t>
                </a:r>
                <a:r>
                  <a:rPr lang="ru-RU" dirty="0"/>
                  <a:t> выполняется: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Д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  <a:sym typeface="Symbol"/>
                              </a:rPr>
                              <m:t>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ru-RU" i="1">
                        <a:latin typeface="Cambria Math"/>
                      </a:rPr>
                      <m:t>≥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п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Рассмотрим ограничения двойственной задачи: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ru-RU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ru-RU" i="1">
                          <a:latin typeface="Cambria Math"/>
                          <a:sym typeface="Symbol"/>
                        </a:rPr>
                        <m:t></m:t>
                      </m:r>
                      <m:r>
                        <a:rPr lang="ru-RU" i="1">
                          <a:latin typeface="Cambria Math"/>
                        </a:rPr>
                        <m:t>≥</m:t>
                      </m:r>
                      <m:r>
                        <a:rPr lang="ru-RU" i="1">
                          <a:latin typeface="Cambria Math"/>
                        </a:rPr>
                        <m:t>𝐶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Транспонируем обе части: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ru-RU" i="1">
                          <a:latin typeface="Cambria Math"/>
                        </a:rPr>
                        <m:t>𝐴</m:t>
                      </m:r>
                      <m:r>
                        <a:rPr lang="ru-RU" i="1">
                          <a:latin typeface="Cambria Math"/>
                        </a:rPr>
                        <m:t>≥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</a:rPr>
                            <m:t>𝐶</m:t>
                          </m:r>
                        </m:e>
                        <m:sup>
                          <m:r>
                            <a:rPr lang="ru-RU" i="1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Умножим обе части на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𝑋</m:t>
                    </m:r>
                    <m:r>
                      <a:rPr lang="ru-RU" i="1">
                        <a:latin typeface="Cambria Math"/>
                      </a:rPr>
                      <m:t>≥0: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𝐴𝑋</m:t>
                      </m:r>
                      <m:r>
                        <a:rPr lang="en-US" i="1">
                          <a:latin typeface="Cambria Math"/>
                        </a:rPr>
                        <m:t>≥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𝐵</m:t>
                      </m:r>
                      <m:r>
                        <a:rPr lang="en-US" i="1">
                          <a:latin typeface="Cambria Math"/>
                        </a:rPr>
                        <m:t>≥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𝐵</m:t>
                    </m:r>
                  </m:oMath>
                </a14:m>
                <a:r>
                  <a:rPr lang="ru-RU" dirty="0"/>
                  <a:t> – произведение строки на столбец, следовательно это скаляр и при транспонировании не изменится.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𝐵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/>
                          <a:sym typeface="Symbol"/>
                        </a:rPr>
                        <m:t></m:t>
                      </m:r>
                      <m:r>
                        <a:rPr lang="en-US" i="1">
                          <a:latin typeface="Cambria Math"/>
                        </a:rPr>
                        <m:t>≥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Следовательно,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Д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p>
                              <m:r>
                                <a:rPr lang="ru-RU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ru-RU" i="1">
                          <a:latin typeface="Cambria Math"/>
                        </a:rPr>
                        <m:t>≥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п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ru-RU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88640"/>
                <a:ext cx="8784976" cy="6480720"/>
              </a:xfrm>
              <a:blipFill rotWithShape="1">
                <a:blip r:embed="rId2"/>
                <a:stretch>
                  <a:fillRect l="-1110" t="-16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912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88640"/>
                <a:ext cx="8784976" cy="6552728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1б) Докажем теперь,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Д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  <a:sym typeface="Symbol"/>
                              </a:rPr>
                              <m:t>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п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Предположим, что мы решили прямую задачу симплекс-методом и получено оптимальное решение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dirty="0"/>
                  <a:t>. Рассмотрим последний шаг симплекс-метода. Для удобства базисная матрица стоит в начале. Тогда ограничение записывается так: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б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б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/>
                                    </a:rPr>
                                    <m:t>б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𝑐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б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б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∗−1</m:t>
                          </m:r>
                        </m:sup>
                      </m:sSubSup>
                      <m:r>
                        <a:rPr lang="en-US" i="1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п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б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б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+</m:t>
                    </m:r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С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с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𝑐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б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</m:t>
                        </m:r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б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∗−1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          (29)</a:t>
                </a: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88640"/>
                <a:ext cx="8784976" cy="6552728"/>
              </a:xfrm>
              <a:blipFill rotWithShape="1">
                <a:blip r:embed="rId2"/>
                <a:stretch>
                  <a:fillRect l="-1248" t="-17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030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88640"/>
                <a:ext cx="8856984" cy="6552728"/>
              </a:xfrm>
            </p:spPr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I. </a:t>
                </a:r>
                <a:r>
                  <a:rPr lang="ru-RU" dirty="0"/>
                  <a:t>Покажем,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u-RU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б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б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∗−1</m:t>
                        </m:r>
                      </m:sup>
                    </m:sSubSup>
                  </m:oMath>
                </a14:m>
                <a:r>
                  <a:rPr lang="ru-RU" dirty="0"/>
                  <a:t> является допустимым значением двойственной задачи, то есть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u-RU" i="1">
                        <a:latin typeface="Cambria Math"/>
                        <a:sym typeface="Symbol"/>
                      </a:rPr>
                      <m:t></m:t>
                    </m:r>
                    <m:r>
                      <a:rPr lang="ru-RU" i="1">
                        <a:latin typeface="Cambria Math"/>
                      </a:rPr>
                      <m:t>≥</m:t>
                    </m:r>
                    <m:r>
                      <a:rPr lang="ru-RU" i="1">
                        <a:latin typeface="Cambria Math"/>
                      </a:rPr>
                      <m:t>𝐶</m:t>
                    </m:r>
                  </m:oMath>
                </a14:m>
                <a:endParaRPr lang="ru-RU" dirty="0">
                  <a:effectLst/>
                </a:endParaRPr>
              </a:p>
              <a:p>
                <a:pPr marL="0" indent="0">
                  <a:buNone/>
                </a:pPr>
                <a:r>
                  <a:rPr lang="ru-RU" dirty="0"/>
                  <a:t>Транспонируем: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ru-RU" i="1">
                          <a:latin typeface="Cambria Math"/>
                        </a:rPr>
                        <m:t>𝐴</m:t>
                      </m:r>
                      <m:r>
                        <a:rPr lang="ru-RU" i="1">
                          <a:latin typeface="Cambria Math"/>
                        </a:rPr>
                        <m:t>≥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</a:rPr>
                            <m:t>𝐶</m:t>
                          </m:r>
                        </m:e>
                        <m:sup>
                          <m:r>
                            <a:rPr lang="ru-RU" i="1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Для </a:t>
                </a:r>
                <a:r>
                  <a:rPr lang="en-US" dirty="0"/>
                  <a:t>j-</a:t>
                </a:r>
                <a:r>
                  <a:rPr lang="ru-RU" dirty="0" err="1"/>
                  <a:t>го</a:t>
                </a:r>
                <a:r>
                  <a:rPr lang="ru-RU" dirty="0"/>
                  <a:t> элемента: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≥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Надо показать, что </a:t>
                </a:r>
                <a:r>
                  <a:rPr lang="ru-RU" dirty="0">
                    <a:sym typeface="Symbol"/>
                  </a:rPr>
                  <a:t></a:t>
                </a:r>
                <a:r>
                  <a:rPr lang="ru-RU" dirty="0"/>
                  <a:t> удовлетворяет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≤0 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 </m:t>
                          </m:r>
                          <m:r>
                            <a:rPr lang="ru-RU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−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б</m:t>
                          </m:r>
                        </m:sub>
                        <m:sup>
                          <m:r>
                            <a:rPr lang="ru-RU" i="1">
                              <a:latin typeface="Cambria Math"/>
                            </a:rPr>
                            <m:t>∗</m:t>
                          </m:r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sup>
                      </m:sSubSup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б</m:t>
                          </m:r>
                        </m:sub>
                        <m:sup>
                          <m:r>
                            <a:rPr lang="ru-RU" i="1">
                              <a:latin typeface="Cambria Math"/>
                            </a:rPr>
                            <m:t>∗−1</m:t>
                          </m:r>
                        </m:sup>
                      </m:sSubSup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≤0</m:t>
                      </m:r>
                      <m:r>
                        <a:rPr lang="en-US" i="1">
                          <a:latin typeface="Cambria Math"/>
                        </a:rPr>
                        <m:t>, </m:t>
                      </m:r>
                      <m:r>
                        <a:rPr lang="en-US" i="1">
                          <a:latin typeface="Cambria Math"/>
                        </a:rPr>
                        <m:t>𝑗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/>
                            </a:rPr>
                            <m:t>1,</m:t>
                          </m:r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или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/>
                          </a:rPr>
                          <m:t>∆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i="1">
                        <a:latin typeface="Cambria Math"/>
                      </a:rPr>
                      <m:t>≤0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На последнем шаге симплекс-метода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/>
                          </a:rPr>
                          <m:t>∆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i="1">
                        <a:latin typeface="Cambria Math"/>
                      </a:rPr>
                      <m:t>≤0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Поскольку все выкладки равносильны, то идя по обратному пути придём к тому,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u-RU" i="1">
                        <a:latin typeface="Cambria Math"/>
                        <a:sym typeface="Symbol"/>
                      </a:rPr>
                      <m:t></m:t>
                    </m:r>
                    <m:r>
                      <a:rPr lang="ru-RU" i="1">
                        <a:latin typeface="Cambria Math"/>
                      </a:rPr>
                      <m:t>≥</m:t>
                    </m:r>
                    <m:r>
                      <a:rPr lang="ru-RU" i="1">
                        <a:latin typeface="Cambria Math"/>
                      </a:rPr>
                      <m:t>𝐶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88640"/>
                <a:ext cx="8856984" cy="6552728"/>
              </a:xfrm>
              <a:blipFill rotWithShape="1">
                <a:blip r:embed="rId2"/>
                <a:stretch>
                  <a:fillRect l="-1583" t="-11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185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88640"/>
                <a:ext cx="8784976" cy="6480720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ru-RU" dirty="0"/>
                  <a:t>Покажем, что это </a:t>
                </a:r>
                <a:r>
                  <a:rPr lang="ru-RU" dirty="0">
                    <a:sym typeface="Symbol"/>
                  </a:rPr>
                  <a:t></a:t>
                </a:r>
                <a:r>
                  <a:rPr lang="ru-RU" dirty="0"/>
                  <a:t> оптимальное.</a:t>
                </a:r>
                <a:endParaRPr lang="ru-RU" dirty="0">
                  <a:effectLst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Д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</m:d>
                    <m:r>
                      <a:rPr lang="ru-RU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/>
                        <a:sym typeface="Symbol"/>
                      </a:rPr>
                      <m:t>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𝐵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б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б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∗−1</m:t>
                        </m:r>
                      </m:sup>
                    </m:sSubSup>
                    <m:r>
                      <a:rPr lang="en-US" i="1">
                        <a:latin typeface="Cambria Math"/>
                      </a:rPr>
                      <m:t>𝐵</m:t>
                    </m:r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п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dirty="0"/>
                  <a:t> (по (</a:t>
                </a:r>
                <a:r>
                  <a:rPr lang="en-US" dirty="0"/>
                  <a:t>29</a:t>
                </a:r>
                <a:r>
                  <a:rPr lang="ru-RU" dirty="0"/>
                  <a:t>))</a:t>
                </a:r>
              </a:p>
              <a:p>
                <a:pPr marL="0" indent="0">
                  <a:buNone/>
                </a:pPr>
                <a:r>
                  <a:rPr lang="ru-RU" dirty="0"/>
                  <a:t>Возьмём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</m:acc>
                  </m:oMath>
                </a14:m>
                <a:r>
                  <a:rPr lang="ru-RU" dirty="0"/>
                  <a:t> - любое, удовлетворяющее ограничению двойственной задачи,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∗ </m:t>
                        </m:r>
                      </m:sup>
                    </m:sSup>
                  </m:oMath>
                </a14:m>
                <a:r>
                  <a:rPr lang="ru-RU" dirty="0"/>
                  <a:t>- оптимальное решение прямой задачи.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Д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</m:acc>
                        </m:e>
                      </m:d>
                      <m:r>
                        <a:rPr lang="ru-RU" i="1">
                          <a:latin typeface="Cambria Math"/>
                        </a:rPr>
                        <m:t>≥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п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ru-RU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Д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</m:d>
                      <m:r>
                        <a:rPr lang="ru-RU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Д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б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б</m:t>
                              </m:r>
                            </m:sub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∗−1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Получили, что для любого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</m:acc>
                  </m:oMath>
                </a14:m>
                <a:r>
                  <a:rPr lang="ru-RU" dirty="0"/>
                  <a:t>, удовлетворяющего ограничению двойственной задачи,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Д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б</m:t>
                              </m:r>
                            </m:sub>
                            <m:sup>
                              <m:r>
                                <a:rPr lang="ru-RU" i="1">
                                  <a:latin typeface="Cambria Math"/>
                                </a:rPr>
                                <m:t>∗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i="1">
                                  <a:latin typeface="Cambria Math"/>
                                </a:rPr>
                                <m:t>б</m:t>
                              </m:r>
                            </m:sub>
                            <m:sup>
                              <m:r>
                                <a:rPr lang="ru-RU" i="1">
                                  <a:latin typeface="Cambria Math"/>
                                </a:rPr>
                                <m:t>∗−1</m:t>
                              </m:r>
                            </m:sup>
                          </m:sSubSup>
                        </m:e>
                      </m:d>
                      <m:r>
                        <a:rPr lang="ru-RU" i="1">
                          <a:latin typeface="Cambria Math"/>
                        </a:rPr>
                        <m:t>≤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Д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Значит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ru-RU" i="1"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б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  <m:r>
                          <a:rPr lang="en-US" i="1">
                            <a:latin typeface="Cambria Math"/>
                          </a:rPr>
                          <m:t>𝑇</m:t>
                        </m:r>
                      </m:sup>
                    </m:sSubSup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б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∗−1</m:t>
                        </m:r>
                      </m:sup>
                    </m:sSubSup>
                  </m:oMath>
                </a14:m>
                <a:r>
                  <a:rPr lang="ru-RU" dirty="0"/>
                  <a:t> – оптимальное решение двойственной задачи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п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𝑋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ru-RU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д</m:t>
                        </m:r>
                      </m:sub>
                    </m:sSub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/>
                                <a:sym typeface="Symbol"/>
                              </a:rPr>
                              <m:t>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88640"/>
                <a:ext cx="8784976" cy="6480720"/>
              </a:xfrm>
              <a:blipFill rotWithShape="0">
                <a:blip r:embed="rId2"/>
                <a:stretch>
                  <a:fillRect l="-1595" t="-2070" r="-1595" b="-7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066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6632"/>
                <a:ext cx="8784976" cy="662473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2)Условие дополняющей </a:t>
                </a:r>
                <a:r>
                  <a:rPr lang="ru-RU" dirty="0" err="1"/>
                  <a:t>нежесткости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dirty="0"/>
                  <a:t>Надо доказать: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𝑗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𝐴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  <a:sym typeface="Symbol"/>
                              </a:rPr>
                              <m:t>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r>
                          <a:rPr lang="ru-RU" i="1">
                            <a:latin typeface="Cambria Math"/>
                          </a:rPr>
                          <m:t>−</m:t>
                        </m:r>
                        <m:r>
                          <a:rPr lang="ru-RU" i="1">
                            <a:latin typeface="Cambria Math"/>
                          </a:rPr>
                          <m:t>𝐶</m:t>
                        </m:r>
                        <m:r>
                          <a:rPr lang="ru-RU" i="1">
                            <a:latin typeface="Cambria Math"/>
                          </a:rPr>
                          <m:t>)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dirty="0"/>
                  <a:t>=0</a:t>
                </a:r>
              </a:p>
              <a:p>
                <a:pPr marL="0" indent="0">
                  <a:buNone/>
                </a:pPr>
                <a:r>
                  <a:rPr lang="ru-RU" dirty="0"/>
                  <a:t>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</a:rPr>
                              <m:t>𝐴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/>
                                <a:sym typeface="Symbol"/>
                              </a:rPr>
                              <m:t></m:t>
                            </m:r>
                          </m:e>
                          <m:sup>
                            <m:r>
                              <a:rPr lang="ru-RU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r>
                          <a:rPr lang="ru-RU" i="1">
                            <a:latin typeface="Cambria Math"/>
                          </a:rPr>
                          <m:t>−</m:t>
                        </m:r>
                        <m:r>
                          <a:rPr lang="ru-RU" i="1">
                            <a:latin typeface="Cambria Math"/>
                          </a:rPr>
                          <m:t>𝐶</m:t>
                        </m:r>
                        <m:r>
                          <a:rPr lang="ru-RU" i="1">
                            <a:latin typeface="Cambria Math"/>
                          </a:rPr>
                          <m:t>)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=−</m:t>
                    </m:r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/>
                          </a:rPr>
                          <m:t>∆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То есть нужно доказать: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𝑗</m:t>
                          </m:r>
                        </m:sub>
                        <m:sup>
                          <m:r>
                            <a:rPr lang="ru-RU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/>
                            </a:rPr>
                            <m:t>∆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𝑗</m:t>
                          </m:r>
                        </m:sub>
                        <m:sup>
                          <m:r>
                            <a:rPr lang="ru-RU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ru-RU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Так как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dirty="0"/>
                  <a:t> удовлетворяет ограничениям задачи, возможны два варианта: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ru-RU" i="1">
                        <a:latin typeface="Cambria Math"/>
                      </a:rPr>
                      <m:t>=0</m:t>
                    </m:r>
                  </m:oMath>
                </a14:m>
                <a:r>
                  <a:rPr lang="ru-RU" dirty="0"/>
                  <a:t>. Тогда условие дополняющей </a:t>
                </a:r>
                <a:r>
                  <a:rPr lang="ru-RU" dirty="0" err="1"/>
                  <a:t>нежесткости</a:t>
                </a:r>
                <a:r>
                  <a:rPr lang="ru-RU" dirty="0"/>
                  <a:t> выполнено.</a:t>
                </a:r>
                <a:endParaRPr lang="ru-RU" dirty="0">
                  <a:effectLst/>
                </a:endParaRP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dirty="0"/>
                  <a:t> &gt;0 </a:t>
                </a:r>
                <a:r>
                  <a:rPr lang="ru-RU" dirty="0">
                    <a:sym typeface="Symbol"/>
                  </a:rPr>
                  <a:t>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𝑗</m:t>
                    </m:r>
                    <m:r>
                      <a:rPr lang="ru-RU" i="1"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/>
                          </a:rPr>
                          <m:t>𝐽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б</m:t>
                        </m:r>
                      </m:sub>
                    </m:sSub>
                  </m:oMath>
                </a14:m>
                <a:r>
                  <a:rPr lang="ru-RU" dirty="0"/>
                  <a:t> </a:t>
                </a:r>
                <a:r>
                  <a:rPr lang="ru-RU" dirty="0">
                    <a:sym typeface="Symbol"/>
                  </a:rPr>
                  <a:t>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/>
                          </a:rPr>
                          <m:t>∆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0 </m:t>
                    </m:r>
                  </m:oMath>
                </a14:m>
                <a:r>
                  <a:rPr lang="ru-RU" dirty="0">
                    <a:sym typeface="Symbol"/>
                  </a:rPr>
                  <a:t></a:t>
                </a:r>
                <a:r>
                  <a:rPr lang="ru-RU" dirty="0"/>
                  <a:t> условие дополняющей </a:t>
                </a:r>
                <a:r>
                  <a:rPr lang="ru-RU" dirty="0" err="1"/>
                  <a:t>нежесткости</a:t>
                </a:r>
                <a:r>
                  <a:rPr lang="ru-RU" dirty="0"/>
                  <a:t> выполнено.</a:t>
                </a:r>
                <a:endParaRPr lang="ru-RU" dirty="0">
                  <a:effectLst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6632"/>
                <a:ext cx="8784976" cy="6624736"/>
              </a:xfrm>
              <a:blipFill rotWithShape="1">
                <a:blip r:embed="rId2"/>
                <a:stretch>
                  <a:fillRect l="-1595" t="-2392" b="-16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166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88640"/>
                <a:ext cx="8856984" cy="648072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800" dirty="0"/>
                  <a:t>3) Пусть для определенности прямая задач имеет неограниченное решение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п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=∞</m:t>
                    </m:r>
                  </m:oMath>
                </a14:m>
                <a:r>
                  <a:rPr lang="ru-RU" sz="2800" dirty="0"/>
                  <a:t>. Докажем, что двойственная задача не имеет допустимого решения.</a:t>
                </a:r>
              </a:p>
              <a:p>
                <a:pPr marL="0" indent="0">
                  <a:buNone/>
                </a:pPr>
                <a:r>
                  <a:rPr lang="ru-RU" sz="2800" dirty="0"/>
                  <a:t>Допустим противное. Пусть существует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800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</m:acc>
                  </m:oMath>
                </a14:m>
                <a:r>
                  <a:rPr lang="ru-RU" sz="2800" dirty="0"/>
                  <a:t> - допустимое решения двойственной задачи.</a:t>
                </a:r>
                <a:endParaRPr lang="en-US" sz="2800" dirty="0"/>
              </a:p>
              <a:p>
                <a:pPr marL="0" indent="0">
                  <a:buNone/>
                </a:pPr>
                <a:endParaRPr lang="ru-RU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Д</m:t>
                        </m:r>
                      </m:sub>
                    </m:sSub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2800" i="1">
                                <a:latin typeface="Cambria Math"/>
                                <a:sym typeface="Symbol"/>
                              </a:rPr>
                              <m:t></m:t>
                            </m:r>
                          </m:e>
                        </m:acc>
                      </m:e>
                    </m:d>
                    <m:r>
                      <a:rPr lang="ru-RU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800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</m:acc>
                    <m:r>
                      <a:rPr lang="ru-RU" sz="2800" i="1">
                        <a:latin typeface="Cambria Math"/>
                      </a:rPr>
                      <m:t>&lt;</m:t>
                    </m:r>
                  </m:oMath>
                </a14:m>
                <a:r>
                  <a:rPr lang="ru-RU" sz="2800" i="1" dirty="0">
                    <a:sym typeface="Symbol"/>
                  </a:rPr>
                  <a:t></a:t>
                </a:r>
                <a:endParaRPr lang="en-US" sz="2800" i="1" dirty="0">
                  <a:sym typeface="Symbol"/>
                </a:endParaRPr>
              </a:p>
              <a:p>
                <a:pPr marL="0" indent="0">
                  <a:buNone/>
                </a:pPr>
                <a:endParaRPr lang="ru-RU" sz="2800" dirty="0"/>
              </a:p>
              <a:p>
                <a:pPr marL="0" indent="0">
                  <a:buNone/>
                </a:pPr>
                <a:r>
                  <a:rPr lang="ru-RU" sz="2800" dirty="0"/>
                  <a:t>По пункту 1а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Д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≥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п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=</m:t>
                    </m:r>
                  </m:oMath>
                </a14:m>
                <a:r>
                  <a:rPr lang="ru-RU" sz="2800" i="1" dirty="0">
                    <a:sym typeface="Symbol"/>
                  </a:rPr>
                  <a:t></a:t>
                </a:r>
                <a:r>
                  <a:rPr lang="ru-RU" sz="2800" dirty="0"/>
                  <a:t> . Противоречие.</a:t>
                </a:r>
              </a:p>
              <a:p>
                <a:pPr marL="0" indent="0">
                  <a:buNone/>
                </a:pPr>
                <a:r>
                  <a:rPr lang="ru-RU" sz="2800" dirty="0"/>
                  <a:t>Аналогично доказывается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Д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=−</m:t>
                    </m:r>
                  </m:oMath>
                </a14:m>
                <a:r>
                  <a:rPr lang="ru-RU" sz="2800" i="1" dirty="0">
                    <a:sym typeface="Symbol"/>
                  </a:rPr>
                  <a:t></a:t>
                </a:r>
                <a:r>
                  <a:rPr lang="ru-RU" sz="2800" dirty="0"/>
                  <a:t> , то нет допустимого решения у прямой задачи.</a:t>
                </a:r>
              </a:p>
              <a:p>
                <a:pPr marL="0" indent="0">
                  <a:buNone/>
                </a:pPr>
                <a:r>
                  <a:rPr lang="ru-RU" sz="2800" dirty="0"/>
                  <a:t>Теорема доказана.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88640"/>
                <a:ext cx="8856984" cy="6480720"/>
              </a:xfrm>
              <a:blipFill rotWithShape="1">
                <a:blip r:embed="rId2"/>
                <a:stretch>
                  <a:fillRect l="-1376" t="-8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06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517450"/>
          </a:xfrm>
        </p:spPr>
        <p:txBody>
          <a:bodyPr>
            <a:noAutofit/>
          </a:bodyPr>
          <a:lstStyle/>
          <a:p>
            <a:r>
              <a:rPr lang="ru-RU" sz="3200" b="1" i="1" dirty="0">
                <a:solidFill>
                  <a:srgbClr val="FF0000"/>
                </a:solidFill>
              </a:rPr>
              <a:t>Вторая теорема двойственности</a:t>
            </a:r>
            <a:endParaRPr lang="ru-RU" sz="3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476672"/>
                <a:ext cx="8712968" cy="6381328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b="1" i="1" dirty="0"/>
                  <a:t>Теорема.</a:t>
                </a:r>
                <a:r>
                  <a:rPr lang="ru-RU" sz="2500" dirty="0"/>
                  <a:t> Рассмотрим симметричную пару двойственных задач.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500" i="1">
                        <a:latin typeface="Cambria Math"/>
                      </a:rPr>
                      <m:t>𝑚𝑎𝑥</m:t>
                    </m:r>
                    <m:d>
                      <m:dPr>
                        <m:begChr m:val="{"/>
                        <m:endChr m:val="}"/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500" i="1">
                                <a:latin typeface="Cambria Math"/>
                              </a:rPr>
                              <m:t>𝐶</m:t>
                            </m:r>
                          </m:e>
                          <m:sup>
                            <m:r>
                              <a:rPr lang="ru-RU" sz="25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r>
                          <a:rPr lang="ru-RU" sz="2500" i="1">
                            <a:latin typeface="Cambria Math"/>
                          </a:rPr>
                          <m:t>𝑋</m:t>
                        </m:r>
                        <m:r>
                          <a:rPr lang="ru-RU" sz="2500">
                            <a:latin typeface="Cambria Math"/>
                            <a:sym typeface="Symbol"/>
                          </a:rPr>
                          <m:t></m:t>
                        </m:r>
                        <m:r>
                          <a:rPr lang="ru-RU" sz="2500" i="1">
                            <a:latin typeface="Cambria Math"/>
                          </a:rPr>
                          <m:t>𝐴</m:t>
                        </m:r>
                        <m:r>
                          <a:rPr lang="en-US" sz="2500" i="1">
                            <a:latin typeface="Cambria Math"/>
                          </a:rPr>
                          <m:t>𝑋</m:t>
                        </m:r>
                        <m:r>
                          <a:rPr lang="ru-RU" sz="2500" i="1">
                            <a:latin typeface="Cambria Math"/>
                          </a:rPr>
                          <m:t>≤</m:t>
                        </m:r>
                        <m:r>
                          <a:rPr lang="ru-RU" sz="2500" i="1">
                            <a:latin typeface="Cambria Math"/>
                          </a:rPr>
                          <m:t>𝐵</m:t>
                        </m:r>
                        <m:r>
                          <a:rPr lang="ru-RU" sz="2500" i="1">
                            <a:latin typeface="Cambria Math"/>
                          </a:rPr>
                          <m:t>, </m:t>
                        </m:r>
                        <m:r>
                          <a:rPr lang="ru-RU" sz="2500" i="1">
                            <a:latin typeface="Cambria Math"/>
                          </a:rPr>
                          <m:t>𝑋</m:t>
                        </m:r>
                        <m:r>
                          <a:rPr lang="ru-RU" sz="2500" i="1">
                            <a:latin typeface="Cambria Math"/>
                          </a:rPr>
                          <m:t>≥0</m:t>
                        </m:r>
                      </m:e>
                    </m:d>
                  </m:oMath>
                </a14:m>
                <a:r>
                  <a:rPr lang="ru-RU" sz="2500" dirty="0"/>
                  <a:t>                       (</a:t>
                </a:r>
                <a:r>
                  <a:rPr lang="en-US" sz="2500" dirty="0"/>
                  <a:t>30)      </a:t>
                </a:r>
                <a:r>
                  <a:rPr lang="ru-RU" sz="2500" dirty="0"/>
                  <a:t>и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500" i="1">
                        <a:latin typeface="Cambria Math"/>
                      </a:rPr>
                      <m:t>𝑚𝑖𝑛</m:t>
                    </m:r>
                    <m:d>
                      <m:dPr>
                        <m:begChr m:val="{"/>
                        <m:endChr m:val="}"/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500" i="1">
                                <a:latin typeface="Cambria Math"/>
                              </a:rPr>
                              <m:t>𝐵</m:t>
                            </m:r>
                          </m:e>
                          <m:sup>
                            <m:r>
                              <a:rPr lang="ru-RU" sz="25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500" i="1">
                                <a:latin typeface="Cambria Math"/>
                              </a:rPr>
                              <m:t>𝐴</m:t>
                            </m:r>
                          </m:e>
                          <m:sup>
                            <m:r>
                              <a:rPr lang="ru-RU" sz="25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r>
                          <a:rPr lang="ru-RU" sz="2500" i="1">
                            <a:latin typeface="Cambria Math"/>
                            <a:sym typeface="Symbol"/>
                          </a:rPr>
                          <m:t></m:t>
                        </m:r>
                        <m:r>
                          <a:rPr lang="ru-RU" sz="2500" i="1">
                            <a:latin typeface="Cambria Math"/>
                          </a:rPr>
                          <m:t>≥</m:t>
                        </m:r>
                        <m:r>
                          <a:rPr lang="ru-RU" sz="2500" i="1">
                            <a:latin typeface="Cambria Math"/>
                          </a:rPr>
                          <m:t>𝐶</m:t>
                        </m:r>
                        <m:r>
                          <a:rPr lang="ru-RU" sz="2500" i="1">
                            <a:latin typeface="Cambria Math"/>
                          </a:rPr>
                          <m:t>,≥0</m:t>
                        </m:r>
                      </m:e>
                    </m:d>
                  </m:oMath>
                </a14:m>
                <a:r>
                  <a:rPr lang="ru-RU" sz="2500" dirty="0"/>
                  <a:t>                       (</a:t>
                </a:r>
                <a:r>
                  <a:rPr lang="en-US" sz="2500" dirty="0"/>
                  <a:t>31</a:t>
                </a:r>
                <a:r>
                  <a:rPr lang="ru-RU" sz="2500" dirty="0"/>
                  <a:t>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Пусть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500" i="1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ru-RU" sz="2500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500" dirty="0"/>
                  <a:t> 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500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p>
                        <m:r>
                          <a:rPr lang="ru-RU" sz="2500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500" dirty="0"/>
                  <a:t> являются соответственно решениями прямой и двойственной задач.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п</m:t>
                        </m:r>
                      </m:sub>
                    </m:sSub>
                    <m:d>
                      <m:d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500" i="1">
                                <a:latin typeface="Cambria Math"/>
                              </a:rPr>
                              <m:t>𝑋</m:t>
                            </m:r>
                          </m:e>
                          <m:sup>
                            <m:r>
                              <a:rPr lang="ru-RU" sz="2500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ru-RU" sz="25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д</m:t>
                        </m:r>
                      </m:sub>
                    </m:sSub>
                    <m:d>
                      <m:d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500" i="1">
                                <a:latin typeface="Cambria Math"/>
                                <a:sym typeface="Symbol"/>
                              </a:rPr>
                              <m:t></m:t>
                            </m:r>
                          </m:e>
                          <m:sup>
                            <m:r>
                              <a:rPr lang="ru-RU" sz="2500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2500" dirty="0"/>
                  <a:t> соответственно точки максимума и минимума. Тогда:</a:t>
                </a:r>
              </a:p>
              <a:p>
                <a:pPr marL="0" lv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5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sz="2500" i="1">
                              <a:latin typeface="Cambria Math"/>
                            </a:rPr>
                            <m:t>п</m:t>
                          </m:r>
                        </m:sub>
                      </m:sSub>
                      <m:d>
                        <m:dPr>
                          <m:ctrlPr>
                            <a:rPr lang="ru-RU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 i="1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ru-RU" sz="25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ru-RU" sz="25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5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sz="2500" i="1">
                              <a:latin typeface="Cambria Math"/>
                            </a:rPr>
                            <m:t>д</m:t>
                          </m:r>
                        </m:sub>
                      </m:sSub>
                      <m:d>
                        <m:dPr>
                          <m:ctrlPr>
                            <a:rPr lang="ru-RU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5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500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p>
                              <m:r>
                                <a:rPr lang="ru-RU" sz="25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ru-RU" sz="2500" dirty="0">
                  <a:effectLst/>
                </a:endParaRPr>
              </a:p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ru-RU" sz="2500" dirty="0"/>
                  <a:t>Выполняются соотношения дополняющей </a:t>
                </a:r>
                <a:r>
                  <a:rPr lang="ru-RU" sz="2500" dirty="0" err="1"/>
                  <a:t>нежесткости</a:t>
                </a:r>
                <a:r>
                  <a:rPr lang="ru-RU" sz="2500" dirty="0"/>
                  <a:t>:</a:t>
                </a:r>
                <a:endParaRPr lang="ru-RU" sz="2500" dirty="0">
                  <a:effectLst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а)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500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𝑗</m:t>
                        </m:r>
                      </m:sub>
                      <m:sup>
                        <m:r>
                          <a:rPr lang="ru-RU" sz="2500" i="1">
                            <a:latin typeface="Cambria Math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500" i="1">
                                <a:latin typeface="Cambria Math"/>
                              </a:rPr>
                              <m:t>𝐴</m:t>
                            </m:r>
                          </m:e>
                          <m:sup>
                            <m:r>
                              <a:rPr lang="ru-RU" sz="25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500">
                                <a:latin typeface="Cambria Math"/>
                                <a:sym typeface="Symbol"/>
                              </a:rPr>
                              <m:t></m:t>
                            </m:r>
                          </m:e>
                          <m:sup>
                            <m:r>
                              <a:rPr lang="ru-RU" sz="2500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r>
                          <a:rPr lang="ru-RU" sz="2500" i="1">
                            <a:latin typeface="Cambria Math"/>
                          </a:rPr>
                          <m:t>−</m:t>
                        </m:r>
                        <m:r>
                          <a:rPr lang="ru-RU" sz="2500" i="1">
                            <a:latin typeface="Cambria Math"/>
                          </a:rPr>
                          <m:t>𝐶</m:t>
                        </m:r>
                        <m:r>
                          <a:rPr lang="ru-RU" sz="2500" i="1">
                            <a:latin typeface="Cambria Math"/>
                          </a:rPr>
                          <m:t>)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ru-RU" sz="2500" i="1">
                        <a:latin typeface="Cambria Math"/>
                      </a:rPr>
                      <m:t>=0, </m:t>
                    </m:r>
                    <m:r>
                      <a:rPr lang="ru-RU" sz="2500" i="1">
                        <a:latin typeface="Cambria Math"/>
                      </a:rPr>
                      <m:t>𝑗</m:t>
                    </m:r>
                    <m:r>
                      <a:rPr lang="ru-RU" sz="2500" i="1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500" i="1">
                            <a:latin typeface="Cambria Math"/>
                          </a:rPr>
                          <m:t>1,</m:t>
                        </m:r>
                        <m:r>
                          <a:rPr lang="ru-RU" sz="2500" i="1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endParaRPr lang="ru-RU" sz="25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б)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500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ru-RU" sz="2500" i="1">
                            <a:latin typeface="Cambria Math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(</m:t>
                        </m:r>
                        <m:r>
                          <a:rPr lang="ru-RU" sz="2500" i="1">
                            <a:latin typeface="Cambria Math"/>
                          </a:rPr>
                          <m:t>𝐴</m:t>
                        </m:r>
                        <m:sSup>
                          <m:sSupPr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500" i="1">
                                <a:latin typeface="Cambria Math"/>
                              </a:rPr>
                              <m:t>𝑋</m:t>
                            </m:r>
                          </m:e>
                          <m:sup>
                            <m:r>
                              <a:rPr lang="ru-RU" sz="2500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r>
                          <a:rPr lang="ru-RU" sz="2500" i="1">
                            <a:latin typeface="Cambria Math"/>
                          </a:rPr>
                          <m:t>−</m:t>
                        </m:r>
                        <m:r>
                          <a:rPr lang="ru-RU" sz="2500" i="1">
                            <a:latin typeface="Cambria Math"/>
                          </a:rPr>
                          <m:t>𝐵</m:t>
                        </m:r>
                        <m:r>
                          <a:rPr lang="ru-RU" sz="2500" i="1">
                            <a:latin typeface="Cambria Math"/>
                          </a:rPr>
                          <m:t>)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u-RU" sz="2500" i="1">
                        <a:latin typeface="Cambria Math"/>
                      </a:rPr>
                      <m:t>=0, </m:t>
                    </m:r>
                    <m:r>
                      <a:rPr lang="ru-RU" sz="2500" i="1">
                        <a:latin typeface="Cambria Math"/>
                      </a:rPr>
                      <m:t>𝑖</m:t>
                    </m:r>
                    <m:r>
                      <a:rPr lang="ru-RU" sz="2500" i="1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500" i="1">
                            <a:latin typeface="Cambria Math"/>
                          </a:rPr>
                          <m:t>1,</m:t>
                        </m:r>
                        <m:r>
                          <a:rPr lang="ru-RU" sz="2500" i="1">
                            <a:latin typeface="Cambria Math"/>
                          </a:rPr>
                          <m:t>𝑚</m:t>
                        </m:r>
                      </m:e>
                    </m:acc>
                  </m:oMath>
                </a14:m>
                <a:endParaRPr lang="ru-RU" sz="2500" dirty="0"/>
              </a:p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ru-RU" sz="2500" dirty="0"/>
                  <a:t>Если одна из задач имеет неограниченное решение, то другая не имеет допустимого решения, но не наоборот:</a:t>
                </a:r>
                <a:endParaRPr lang="ru-RU" sz="2500" dirty="0">
                  <a:effectLst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п</m:t>
                        </m:r>
                      </m:sub>
                    </m:sSub>
                    <m:r>
                      <a:rPr lang="ru-RU" sz="2500" i="1">
                        <a:latin typeface="Cambria Math"/>
                      </a:rPr>
                      <m:t>=∞</m:t>
                    </m:r>
                    <m:r>
                      <a:rPr lang="ru-RU" sz="2500" i="1">
                        <a:latin typeface="Cambria Math"/>
                        <a:sym typeface="Symbol"/>
                      </a:rPr>
                      <m:t></m:t>
                    </m:r>
                    <m:r>
                      <a:rPr lang="ru-RU" sz="2500" i="1">
                        <a:latin typeface="Cambria Math"/>
                      </a:rPr>
                      <m:t>=</m:t>
                    </m:r>
                  </m:oMath>
                </a14:m>
                <a:r>
                  <a:rPr lang="ru-RU" sz="2500" i="1" dirty="0">
                    <a:sym typeface="Symbol"/>
                  </a:rPr>
                  <a:t></a:t>
                </a:r>
                <a:endParaRPr lang="ru-RU" sz="25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Д</m:t>
                        </m:r>
                      </m:sub>
                    </m:sSub>
                    <m:r>
                      <a:rPr lang="ru-RU" sz="2500" i="1">
                        <a:latin typeface="Cambria Math"/>
                      </a:rPr>
                      <m:t>=∞</m:t>
                    </m:r>
                    <m:r>
                      <a:rPr lang="ru-RU" sz="2500" i="1">
                        <a:latin typeface="Cambria Math"/>
                        <a:sym typeface="Symbol"/>
                      </a:rPr>
                      <m:t></m:t>
                    </m:r>
                    <m:r>
                      <a:rPr lang="en-US" sz="2500" i="1">
                        <a:latin typeface="Cambria Math"/>
                      </a:rPr>
                      <m:t>𝑋</m:t>
                    </m:r>
                    <m:r>
                      <a:rPr lang="ru-RU" sz="2500" i="1">
                        <a:latin typeface="Cambria Math"/>
                      </a:rPr>
                      <m:t>=</m:t>
                    </m:r>
                  </m:oMath>
                </a14:m>
                <a:r>
                  <a:rPr lang="ru-RU" sz="2500" i="1" dirty="0">
                    <a:sym typeface="Symbol"/>
                  </a:rPr>
                  <a:t></a:t>
                </a:r>
                <a:endParaRPr lang="ru-RU" sz="2500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476672"/>
                <a:ext cx="8712968" cy="6381328"/>
              </a:xfrm>
              <a:blipFill>
                <a:blip r:embed="rId2"/>
                <a:stretch>
                  <a:fillRect l="-1119" t="-669" r="-11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206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88640"/>
                <a:ext cx="8784976" cy="648072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2700" b="1" i="1" dirty="0"/>
                  <a:t>Доказательство. </a:t>
                </a:r>
                <a:endParaRPr lang="ru-RU" sz="2700" dirty="0"/>
              </a:p>
              <a:p>
                <a:pPr marL="0" indent="0">
                  <a:buNone/>
                </a:pPr>
                <a:r>
                  <a:rPr lang="ru-RU" sz="2700" dirty="0"/>
                  <a:t>Сведём прямую задачу (</a:t>
                </a:r>
                <a:r>
                  <a:rPr lang="en-US" sz="2700" dirty="0"/>
                  <a:t>30</a:t>
                </a:r>
                <a:r>
                  <a:rPr lang="ru-RU" sz="2700" dirty="0"/>
                  <a:t>) к каноническому виду. </a:t>
                </a:r>
              </a:p>
              <a:p>
                <a:pPr marL="0" indent="0">
                  <a:buNone/>
                </a:pPr>
                <a:r>
                  <a:rPr lang="ru-RU" sz="2700" dirty="0"/>
                  <a:t>Введём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700" i="1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ru-RU" sz="27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ru-RU" sz="27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sz="2700" i="1">
                                <a:latin typeface="Cambria Math"/>
                              </a:rPr>
                              <m:t>𝑋</m:t>
                            </m:r>
                          </m:num>
                          <m:den>
                            <m:r>
                              <a:rPr lang="ru-RU" sz="2700" i="1">
                                <a:latin typeface="Cambria Math"/>
                              </a:rPr>
                              <m:t>𝑌</m:t>
                            </m:r>
                          </m:den>
                        </m:f>
                      </m:e>
                    </m:d>
                  </m:oMath>
                </a14:m>
                <a:r>
                  <a:rPr lang="ru-RU" sz="2700" dirty="0"/>
                  <a:t>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ru-RU" sz="2700" i="1">
                              <a:latin typeface="Cambria Math"/>
                            </a:rPr>
                            <m:t>𝑛</m:t>
                          </m:r>
                        </m:e>
                      </m:mr>
                      <m:mr>
                        <m:e>
                          <m:r>
                            <a:rPr lang="ru-RU" sz="2700" i="1">
                              <a:latin typeface="Cambria Math"/>
                            </a:rPr>
                            <m:t>𝑚</m:t>
                          </m:r>
                        </m:e>
                      </m:mr>
                    </m:m>
                  </m:oMath>
                </a14:m>
                <a:endParaRPr lang="ru-RU" sz="27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>
                            <a:latin typeface="Cambria Math"/>
                          </a:rPr>
                          <m:t>max</m:t>
                        </m:r>
                      </m:fName>
                      <m:e>
                        <m:r>
                          <a:rPr lang="ru-RU" sz="2800" i="1">
                            <a:latin typeface="Cambria Math"/>
                          </a:rPr>
                          <m:t>{</m:t>
                        </m:r>
                        <m:sSup>
                          <m:sSup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ru-RU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𝐶</m:t>
                                </m:r>
                              </m:e>
                            </m:acc>
                          </m:e>
                          <m:sup>
                            <m:r>
                              <a:rPr lang="en-US" sz="28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acc>
                          <m:accPr>
                            <m:chr m:val="̅"/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𝑋</m:t>
                            </m:r>
                          </m:e>
                        </m:acc>
                        <m:r>
                          <a:rPr lang="ru-RU" sz="2800" i="1">
                            <a:latin typeface="Cambria Math"/>
                          </a:rPr>
                          <m:t>|</m:t>
                        </m:r>
                        <m:acc>
                          <m:accPr>
                            <m:chr m:val="̅"/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𝐴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𝑋</m:t>
                            </m:r>
                          </m:e>
                        </m:acc>
                        <m:r>
                          <a:rPr lang="ru-RU" sz="2800" i="1">
                            <a:latin typeface="Cambria Math"/>
                          </a:rPr>
                          <m:t>=</m:t>
                        </m:r>
                        <m:r>
                          <a:rPr lang="en-US" sz="2800" i="1">
                            <a:latin typeface="Cambria Math"/>
                          </a:rPr>
                          <m:t>𝐵</m:t>
                        </m:r>
                        <m:r>
                          <a:rPr lang="ru-RU" sz="2800" i="1">
                            <a:latin typeface="Cambria Math"/>
                          </a:rPr>
                          <m:t>, </m:t>
                        </m:r>
                        <m:acc>
                          <m:accPr>
                            <m:chr m:val="̅"/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𝑋</m:t>
                            </m:r>
                          </m:e>
                        </m:acc>
                        <m:r>
                          <a:rPr lang="ru-RU" sz="2800" i="1">
                            <a:latin typeface="Cambria Math"/>
                          </a:rPr>
                          <m:t>≥0}</m:t>
                        </m:r>
                      </m:e>
                    </m:func>
                  </m:oMath>
                </a14:m>
                <a:r>
                  <a:rPr lang="ru-RU" sz="2800" dirty="0"/>
                  <a:t>,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/>
                          </a:rPr>
                          <m:t>𝐶</m:t>
                        </m:r>
                      </m:e>
                    </m:acc>
                    <m:r>
                      <a:rPr lang="ru-RU" sz="2800" i="1">
                        <a:latin typeface="Cambria Math"/>
                      </a:rPr>
                      <m:t>= </m:t>
                    </m:r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/>
                              </a:rPr>
                              <m:t>𝐶</m:t>
                            </m:r>
                          </m:num>
                          <m:den>
                            <m:r>
                              <a:rPr lang="ru-RU" sz="2800" i="1">
                                <a:latin typeface="Cambria Math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800" dirty="0"/>
                  <a:t>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dirty="0" smtClean="0">
                            <a:latin typeface="Cambria Math"/>
                          </a:rPr>
                          <m:t>𝐴</m:t>
                        </m:r>
                      </m:e>
                    </m:acc>
                    <m:r>
                      <a:rPr lang="en-US" sz="2800" b="0" i="0" dirty="0" smtClean="0">
                        <a:latin typeface="Cambria Math"/>
                      </a:rPr>
                      <m:t>=</m:t>
                    </m:r>
                    <m:r>
                      <a:rPr lang="ru-RU" sz="2800" b="0" i="0" dirty="0" smtClean="0">
                        <a:latin typeface="Cambria Math"/>
                      </a:rPr>
                      <m:t>                  (32)</m:t>
                    </m:r>
                  </m:oMath>
                </a14:m>
                <a:endParaRPr lang="ru-RU" sz="2800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𝐶</m:t>
                            </m:r>
                          </m:e>
                        </m:acc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ru-RU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/>
                          </a:rPr>
                          <m:t>𝐶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u-RU" sz="2800" i="1">
                        <a:latin typeface="Cambria Math"/>
                      </a:rPr>
                      <m:t>𝑋</m:t>
                    </m:r>
                    <m:r>
                      <a:rPr lang="ru-RU" sz="2800" i="1">
                        <a:latin typeface="Cambria Math"/>
                      </a:rPr>
                      <m:t>,</m:t>
                    </m:r>
                  </m:oMath>
                </a14:m>
                <a:r>
                  <a:rPr lang="ru-RU" sz="2800" dirty="0"/>
                  <a:t>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/>
                          </a:rPr>
                          <m:t>𝑋</m:t>
                        </m:r>
                      </m:e>
                    </m:acc>
                    <m:r>
                      <a:rPr lang="ru-RU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𝐴𝑋</m:t>
                    </m:r>
                    <m:r>
                      <a:rPr lang="ru-RU" sz="2800" i="1">
                        <a:latin typeface="Cambria Math"/>
                      </a:rPr>
                      <m:t>+</m:t>
                    </m:r>
                    <m:r>
                      <a:rPr lang="en-US" sz="2800" i="1">
                        <a:latin typeface="Cambria Math"/>
                      </a:rPr>
                      <m:t>𝑌</m:t>
                    </m:r>
                    <m:r>
                      <a:rPr lang="ru-RU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𝐵</m:t>
                    </m:r>
                    <m:r>
                      <a:rPr lang="ru-RU" sz="2800" i="1">
                        <a:latin typeface="Cambria Math"/>
                      </a:rPr>
                      <m:t>,  </m:t>
                    </m:r>
                    <m:r>
                      <a:rPr lang="en-US" sz="2800" i="1">
                        <a:latin typeface="Cambria Math"/>
                      </a:rPr>
                      <m:t>𝑋</m:t>
                    </m:r>
                    <m:r>
                      <a:rPr lang="ru-RU" sz="2800" i="1">
                        <a:latin typeface="Cambria Math"/>
                      </a:rPr>
                      <m:t>≥0,  </m:t>
                    </m:r>
                    <m:r>
                      <a:rPr lang="en-US" sz="2800" i="1">
                        <a:latin typeface="Cambria Math"/>
                      </a:rPr>
                      <m:t>𝑌</m:t>
                    </m:r>
                    <m:r>
                      <a:rPr lang="ru-RU" sz="2800" i="1">
                        <a:latin typeface="Cambria Math"/>
                      </a:rPr>
                      <m:t>≥0</m:t>
                    </m:r>
                  </m:oMath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ru-RU" sz="2800" dirty="0"/>
                  <a:t> </a:t>
                </a:r>
              </a:p>
              <a:p>
                <a:pPr marL="0" indent="0">
                  <a:buNone/>
                </a:pPr>
                <a:r>
                  <a:rPr lang="ru-RU" sz="2800" dirty="0"/>
                  <a:t>Задача (32) полностью эквивалентна задаче (30).</a:t>
                </a:r>
              </a:p>
              <a:p>
                <a:pPr marL="0" indent="0">
                  <a:buNone/>
                </a:pPr>
                <a:r>
                  <a:rPr lang="ru-RU" sz="2800" dirty="0"/>
                  <a:t>В соответствии с первой теоремой двойственности можно написать двойственную задачу для задачи (32):</a:t>
                </a:r>
              </a:p>
              <a:p>
                <a:pPr marL="0" indent="0">
                  <a:buNone/>
                </a:pPr>
                <a:r>
                  <a:rPr lang="ru-RU" sz="2800" dirty="0"/>
                  <a:t> 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𝑚𝑖𝑛</m:t>
                    </m:r>
                    <m:d>
                      <m:dPr>
                        <m:begChr m:val="{"/>
                        <m:endChr m:val="}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800" i="1">
                                <a:latin typeface="Cambria Math"/>
                              </a:rPr>
                              <m:t>𝐵</m:t>
                            </m:r>
                          </m:e>
                          <m:sup>
                            <m:r>
                              <a:rPr lang="ru-RU" sz="28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ru-RU" sz="2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sz="2800" i="1">
                                    <a:latin typeface="Cambria Math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r>
                              <a:rPr lang="ru-RU" sz="28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r>
                          <a:rPr lang="ru-RU" sz="2800" i="1">
                            <a:latin typeface="Cambria Math"/>
                            <a:sym typeface="Symbol"/>
                          </a:rPr>
                          <m:t></m:t>
                        </m:r>
                        <m:r>
                          <a:rPr lang="ru-RU" sz="2800" i="1">
                            <a:latin typeface="Cambria Math"/>
                          </a:rPr>
                          <m:t>≥</m:t>
                        </m:r>
                        <m:acc>
                          <m:accPr>
                            <m:chr m:val="̅"/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2800" i="1">
                                <a:latin typeface="Cambria Math"/>
                              </a:rPr>
                              <m:t>𝐶</m:t>
                            </m:r>
                          </m:e>
                        </m:acc>
                      </m:e>
                    </m:d>
                  </m:oMath>
                </a14:m>
                <a:r>
                  <a:rPr lang="ru-RU" sz="2800" dirty="0"/>
                  <a:t>                    (33)</a:t>
                </a:r>
              </a:p>
              <a:p>
                <a:pPr marL="0" indent="0">
                  <a:buNone/>
                </a:pPr>
                <a:r>
                  <a:rPr lang="en-US" sz="2800" dirty="0"/>
                  <a:t> </a:t>
                </a:r>
              </a:p>
              <a:p>
                <a:pPr marL="0" indent="0">
                  <a:buNone/>
                </a:pPr>
                <a:endParaRPr lang="ru-RU" sz="27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88640"/>
                <a:ext cx="8784976" cy="6480720"/>
              </a:xfrm>
              <a:blipFill rotWithShape="1">
                <a:blip r:embed="rId2"/>
                <a:stretch>
                  <a:fillRect l="-1387" t="-14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1789694"/>
            <a:ext cx="1070635" cy="515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456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260648"/>
                <a:ext cx="8784976" cy="63367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700" dirty="0"/>
                  <a:t>Условие неравенства в ограничениях задачи (33) распадается на два неравенства. </a:t>
                </a:r>
              </a:p>
              <a:p>
                <a:pPr marL="0" indent="0">
                  <a:buNone/>
                </a:pPr>
                <a:r>
                  <a:rPr lang="ru-RU" sz="2700" dirty="0"/>
                  <a:t>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7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ru-RU" sz="27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u-RU" sz="2700" i="1">
                        <a:latin typeface="Cambria Math"/>
                        <a:sym typeface="Symbol"/>
                      </a:rPr>
                      <m:t></m:t>
                    </m:r>
                    <m:r>
                      <a:rPr lang="ru-RU" sz="2700" i="1">
                        <a:latin typeface="Cambria Math"/>
                      </a:rPr>
                      <m:t>≥</m:t>
                    </m:r>
                    <m:r>
                      <a:rPr lang="ru-RU" sz="2700" i="1">
                        <a:latin typeface="Cambria Math"/>
                      </a:rPr>
                      <m:t>𝐶</m:t>
                    </m:r>
                    <m:r>
                      <a:rPr lang="ru-RU" sz="2700" i="1">
                        <a:latin typeface="Cambria Math"/>
                      </a:rPr>
                      <m:t>,       ≥0</m:t>
                    </m:r>
                  </m:oMath>
                </a14:m>
                <a:endParaRPr lang="ru-RU" sz="2700" dirty="0"/>
              </a:p>
              <a:p>
                <a:pPr marL="0" indent="0">
                  <a:buNone/>
                </a:pPr>
                <a:endParaRPr lang="ru-RU" sz="2700" dirty="0"/>
              </a:p>
              <a:p>
                <a:pPr marL="0" indent="0">
                  <a:buNone/>
                </a:pPr>
                <a:r>
                  <a:rPr lang="ru-RU" sz="2800" dirty="0"/>
                  <a:t>Таким образом, задача (33) полностью эквивалентна задаче (31). Значит, между (30) и (31) выполняются те же самые соотношения, что и между (32) и (33).</a:t>
                </a:r>
              </a:p>
              <a:p>
                <a:pPr marL="0" indent="0">
                  <a:buNone/>
                </a:pPr>
                <a:r>
                  <a:rPr lang="ru-RU" sz="2800" dirty="0"/>
                  <a:t>По первой теореме двойственности для задач (32) и (33):    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п</m:t>
                                  </m:r>
                                </m:sub>
                              </m:sSub>
                              <m:r>
                                <a:rPr lang="ru-RU" sz="2800" i="1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Д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п</m:t>
                                  </m:r>
                                </m:sub>
                              </m:sSub>
                              <m:r>
                                <a:rPr lang="ru-RU" sz="2800" i="1">
                                  <a:latin typeface="Cambria Math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ru-RU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i="1">
                                          <a:latin typeface="Cambria Math"/>
                                        </a:rPr>
                                        <m:t>𝐶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2800" i="1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ru-RU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800" i="1">
                                          <a:latin typeface="Cambria Math"/>
                                        </a:rPr>
                                        <m:t>𝑋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ru-RU" sz="2800" i="1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ru-RU" sz="2800" i="1">
                                  <a:latin typeface="Cambria Math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800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ru-RU" sz="2800" i="1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800" i="1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ru-RU" sz="2800" i="1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Д</m:t>
                                  </m:r>
                                </m:sub>
                              </m:sSub>
                              <m:r>
                                <a:rPr lang="ru-RU" sz="2800" i="1">
                                  <a:latin typeface="Cambria Math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ru-RU" sz="2800" i="1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800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p>
                                  <m:r>
                                    <a:rPr lang="ru-RU" sz="2800" i="1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lang="ru-RU" sz="2800" dirty="0">
                    <a:sym typeface="Symbol"/>
                  </a:rPr>
                  <a:t>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/>
                          </a:rPr>
                          <m:t>𝐶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/>
                          </a:rPr>
                          <m:t>𝑋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ru-RU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ru-RU" sz="2800">
                        <a:latin typeface="Cambria Math"/>
                        <a:sym typeface="Symbol"/>
                      </a:rPr>
                      <m:t></m:t>
                    </m:r>
                    <m:r>
                      <a:rPr lang="ru-RU" sz="280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п</m:t>
                        </m:r>
                      </m:sub>
                    </m:sSub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𝑋</m:t>
                            </m:r>
                          </m:e>
                          <m:sup>
                            <m:r>
                              <a:rPr lang="ru-RU" sz="2800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ru-RU" sz="2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д</m:t>
                        </m:r>
                      </m:sub>
                    </m:sSub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>
                                <a:latin typeface="Cambria Math"/>
                                <a:sym typeface="Symbol"/>
                              </a:rPr>
                              <m:t></m:t>
                            </m:r>
                          </m:e>
                          <m:sup>
                            <m:r>
                              <a:rPr lang="ru-RU" sz="2800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ru-RU" sz="2800" dirty="0"/>
              </a:p>
              <a:p>
                <a:pPr marL="0" indent="0">
                  <a:buNone/>
                </a:pPr>
                <a:endParaRPr lang="ru-RU" sz="27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260648"/>
                <a:ext cx="8784976" cy="6336704"/>
              </a:xfrm>
              <a:blipFill rotWithShape="1">
                <a:blip r:embed="rId2"/>
                <a:stretch>
                  <a:fillRect l="-1387" t="-7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77782"/>
            <a:ext cx="1224136" cy="805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966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260648"/>
                <a:ext cx="8712968" cy="648072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700" dirty="0"/>
                  <a:t>2)По первой теореме двойственности для (32) и (33)</a:t>
                </a:r>
              </a:p>
              <a:p>
                <a:pPr marL="0" indent="0" algn="ctr">
                  <a:buNone/>
                </a:pPr>
                <a:r>
                  <a:rPr lang="ru-RU" sz="2700" dirty="0"/>
                  <a:t>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̅"/>
                            <m:ctrlPr>
                              <a:rPr lang="ru-RU" sz="27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700" i="1">
                                <a:latin typeface="Cambria Math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n-US" sz="2700" i="1">
                            <a:latin typeface="Cambria Math"/>
                          </a:rPr>
                          <m:t>𝑗</m:t>
                        </m:r>
                      </m:sub>
                      <m:sup>
                        <m:r>
                          <a:rPr lang="en-US" sz="2700" i="1">
                            <a:latin typeface="Cambria Math"/>
                          </a:rPr>
                          <m:t>∗</m:t>
                        </m:r>
                      </m:sup>
                    </m:sSubSup>
                    <m:sSub>
                      <m:sSubPr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700" i="1"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ru-RU" sz="2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̅"/>
                                <m:ctrlPr>
                                  <a:rPr lang="ru-RU" sz="27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700" i="1">
                                    <a:latin typeface="Cambria Math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r>
                              <a:rPr lang="en-US" sz="2700" i="1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ru-RU" sz="2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700" i="1">
                                <a:latin typeface="Cambria Math"/>
                                <a:sym typeface="Symbol"/>
                              </a:rPr>
                              <m:t></m:t>
                            </m:r>
                          </m:e>
                          <m:sup>
                            <m:r>
                              <a:rPr lang="en-US" sz="2700" i="1">
                                <a:latin typeface="Cambria Math"/>
                              </a:rPr>
                              <m:t>∗</m:t>
                            </m:r>
                          </m:sup>
                        </m:sSup>
                        <m:r>
                          <a:rPr lang="en-US" sz="2700" i="1">
                            <a:latin typeface="Cambria Math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ru-RU" sz="27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700" i="1">
                                <a:latin typeface="Cambria Math"/>
                              </a:rPr>
                              <m:t>𝐶</m:t>
                            </m:r>
                          </m:e>
                        </m:acc>
                        <m:r>
                          <a:rPr lang="en-US" sz="2700" i="1">
                            <a:latin typeface="Cambria Math"/>
                          </a:rPr>
                          <m:t>)</m:t>
                        </m:r>
                      </m:e>
                      <m:sub>
                        <m:r>
                          <a:rPr lang="en-US" sz="2700" i="1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700" i="1">
                        <a:latin typeface="Cambria Math"/>
                      </a:rPr>
                      <m:t>=0,  </m:t>
                    </m:r>
                    <m:r>
                      <a:rPr lang="en-US" sz="2700" i="1">
                        <a:latin typeface="Cambria Math"/>
                      </a:rPr>
                      <m:t>𝑗</m:t>
                    </m:r>
                    <m:r>
                      <a:rPr lang="en-US" sz="2700" i="1">
                        <a:latin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ru-RU" sz="27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700" i="1">
                            <a:latin typeface="Cambria Math"/>
                          </a:rPr>
                          <m:t>1,</m:t>
                        </m:r>
                        <m:r>
                          <a:rPr lang="en-US" sz="2700" i="1">
                            <a:latin typeface="Cambria Math"/>
                          </a:rPr>
                          <m:t>𝑚</m:t>
                        </m:r>
                        <m:r>
                          <a:rPr lang="en-US" sz="2700" i="1">
                            <a:latin typeface="Cambria Math"/>
                          </a:rPr>
                          <m:t>+</m:t>
                        </m:r>
                        <m:r>
                          <a:rPr lang="en-US" sz="2700" i="1">
                            <a:latin typeface="Cambria Math"/>
                          </a:rPr>
                          <m:t>𝑛</m:t>
                        </m:r>
                      </m:e>
                    </m:acc>
                  </m:oMath>
                </a14:m>
                <a:endParaRPr lang="ru-RU" sz="27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ru-RU" sz="27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latin typeface="Cambria Math"/>
                                </a:rPr>
                                <m:t>𝑋</m:t>
                              </m:r>
                            </m:e>
                          </m:acc>
                        </m:e>
                        <m:sup>
                          <m:r>
                            <a:rPr lang="en-US" sz="2700" i="1">
                              <a:latin typeface="Cambria Math"/>
                            </a:rPr>
                            <m:t>∗</m:t>
                          </m:r>
                          <m:r>
                            <a:rPr lang="en-US" sz="27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ru-RU" sz="2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ru-RU" sz="27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700" i="1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7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7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p>
                              <m:r>
                                <a:rPr lang="en-US" sz="27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700" i="1">
                              <a:latin typeface="Cambria Math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ru-RU" sz="27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700" i="1">
                                  <a:latin typeface="Cambria Math"/>
                                </a:rPr>
                                <m:t>𝐶</m:t>
                              </m:r>
                            </m:e>
                          </m:acc>
                        </m:e>
                      </m:d>
                      <m:r>
                        <a:rPr lang="en-US" sz="27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ru-RU" sz="2700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sz="2900" dirty="0"/>
                  <a:t>Разбиваем на две части.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900" i="1">
                              <a:latin typeface="Cambria Math"/>
                            </a:rPr>
                            <m:t>𝑋</m:t>
                          </m:r>
                        </m:e>
                        <m:sub>
                          <m:r>
                            <a:rPr lang="en-US" sz="2900" i="1">
                              <a:latin typeface="Cambria Math"/>
                            </a:rPr>
                            <m:t>𝑗</m:t>
                          </m:r>
                        </m:sub>
                        <m:sup>
                          <m:r>
                            <a:rPr lang="en-US" sz="2900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900" i="1"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ru-RU" sz="2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ru-RU" sz="29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900" i="1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2900" i="1">
                                  <a:latin typeface="Cambria Math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9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p>
                              <m:r>
                                <a:rPr lang="en-US" sz="29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900" i="1">
                              <a:latin typeface="Cambria Math"/>
                            </a:rPr>
                            <m:t>−</m:t>
                          </m:r>
                          <m:r>
                            <a:rPr lang="en-US" sz="2900" i="1">
                              <a:latin typeface="Cambria Math"/>
                            </a:rPr>
                            <m:t>𝐶</m:t>
                          </m:r>
                          <m:r>
                            <a:rPr lang="en-US" sz="2900" i="1">
                              <a:latin typeface="Cambria Math"/>
                            </a:rPr>
                            <m:t>)</m:t>
                          </m:r>
                        </m:e>
                        <m:sub>
                          <m:r>
                            <a:rPr lang="en-US" sz="2900" i="1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2900" i="1">
                          <a:latin typeface="Cambria Math"/>
                        </a:rPr>
                        <m:t>=0,  </m:t>
                      </m:r>
                      <m:r>
                        <a:rPr lang="en-US" sz="2900" i="1">
                          <a:latin typeface="Cambria Math"/>
                        </a:rPr>
                        <m:t>𝑗</m:t>
                      </m:r>
                      <m:r>
                        <a:rPr lang="en-US" sz="2900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900" i="1">
                              <a:latin typeface="Cambria Math"/>
                            </a:rPr>
                            <m:t>1,</m:t>
                          </m:r>
                          <m:r>
                            <a:rPr lang="en-US" sz="2900" i="1">
                              <a:latin typeface="Cambria Math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ru-RU" sz="2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9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sz="290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sz="2900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sSubSup>
                        <m:sSubSupPr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9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90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sz="2900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sz="2900" i="1">
                          <a:latin typeface="Cambria Math"/>
                        </a:rPr>
                        <m:t>=0,  </m:t>
                      </m:r>
                      <m:r>
                        <a:rPr lang="en-US" sz="2900" i="1">
                          <a:latin typeface="Cambria Math"/>
                        </a:rPr>
                        <m:t>𝑖</m:t>
                      </m:r>
                      <m:r>
                        <a:rPr lang="en-US" sz="2900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900" i="1">
                              <a:latin typeface="Cambria Math"/>
                            </a:rPr>
                            <m:t>1,</m:t>
                          </m:r>
                          <m:r>
                            <a:rPr lang="en-US" sz="2900" i="1">
                              <a:latin typeface="Cambria Math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lang="ru-RU" sz="2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900" i="1">
                          <a:latin typeface="Cambria Math"/>
                        </a:rPr>
                        <m:t>𝑌</m:t>
                      </m:r>
                      <m:r>
                        <a:rPr lang="en-US" sz="2900" i="1">
                          <a:latin typeface="Cambria Math"/>
                        </a:rPr>
                        <m:t>=</m:t>
                      </m:r>
                      <m:r>
                        <a:rPr lang="en-US" sz="2900" i="1">
                          <a:latin typeface="Cambria Math"/>
                        </a:rPr>
                        <m:t>𝐵</m:t>
                      </m:r>
                      <m:r>
                        <a:rPr lang="en-US" sz="2900" i="1">
                          <a:latin typeface="Cambria Math"/>
                        </a:rPr>
                        <m:t>−</m:t>
                      </m:r>
                      <m:r>
                        <a:rPr lang="en-US" sz="2900" i="1">
                          <a:latin typeface="Cambria Math"/>
                        </a:rPr>
                        <m:t>𝐴</m:t>
                      </m:r>
                      <m:sSup>
                        <m:sSupPr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900" i="1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sz="2900" i="1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sz="2900" i="1">
                          <a:latin typeface="Cambria Math"/>
                        </a:rPr>
                        <m:t> </m:t>
                      </m:r>
                      <m:r>
                        <a:rPr lang="en-US" sz="2900" i="1">
                          <a:latin typeface="Cambria Math"/>
                          <a:sym typeface="Symbol"/>
                        </a:rPr>
                        <m:t></m:t>
                      </m:r>
                      <m:r>
                        <a:rPr lang="en-US" sz="2900" i="1">
                          <a:latin typeface="Cambria Math"/>
                        </a:rPr>
                        <m:t> </m:t>
                      </m:r>
                      <m:sSubSup>
                        <m:sSubSupPr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900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sz="290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sz="2900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sz="29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900" i="1">
                              <a:latin typeface="Cambria Math"/>
                            </a:rPr>
                            <m:t>(</m:t>
                          </m:r>
                          <m:r>
                            <a:rPr lang="en-US" sz="2900" i="1">
                              <a:latin typeface="Cambria Math"/>
                            </a:rPr>
                            <m:t>𝐵</m:t>
                          </m:r>
                          <m:r>
                            <a:rPr lang="en-US" sz="2900" i="1">
                              <a:latin typeface="Cambria Math"/>
                            </a:rPr>
                            <m:t>−</m:t>
                          </m:r>
                          <m:r>
                            <a:rPr lang="en-US" sz="2900" i="1">
                              <a:latin typeface="Cambria Math"/>
                            </a:rPr>
                            <m:t>𝐴</m:t>
                          </m:r>
                          <m:sSup>
                            <m:sSupPr>
                              <m:ctrlPr>
                                <a:rPr lang="ru-RU" sz="2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900" i="1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9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900" i="1">
                              <a:latin typeface="Cambria Math"/>
                            </a:rPr>
                            <m:t>)</m:t>
                          </m:r>
                        </m:e>
                        <m:sub>
                          <m:r>
                            <a:rPr lang="en-US" sz="2900" i="1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2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900" i="1">
                              <a:latin typeface="Cambria Math"/>
                            </a:rPr>
                            <m:t>(</m:t>
                          </m:r>
                          <m:r>
                            <a:rPr lang="en-US" sz="2900" i="1">
                              <a:latin typeface="Cambria Math"/>
                            </a:rPr>
                            <m:t>𝐵</m:t>
                          </m:r>
                          <m:r>
                            <a:rPr lang="en-US" sz="2900" i="1">
                              <a:latin typeface="Cambria Math"/>
                            </a:rPr>
                            <m:t>−</m:t>
                          </m:r>
                          <m:r>
                            <a:rPr lang="en-US" sz="2900" i="1">
                              <a:latin typeface="Cambria Math"/>
                            </a:rPr>
                            <m:t>𝐴</m:t>
                          </m:r>
                          <m:sSup>
                            <m:sSupPr>
                              <m:ctrlPr>
                                <a:rPr lang="ru-RU" sz="2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900" i="1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9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900" i="1">
                              <a:latin typeface="Cambria Math"/>
                            </a:rPr>
                            <m:t>)</m:t>
                          </m:r>
                        </m:e>
                        <m:sub>
                          <m:r>
                            <a:rPr lang="en-US" sz="29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sSubSup>
                        <m:sSubSupPr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9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90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sz="2900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sz="2900" i="1">
                          <a:latin typeface="Cambria Math"/>
                        </a:rPr>
                        <m:t>=0,  </m:t>
                      </m:r>
                      <m:r>
                        <a:rPr lang="en-US" sz="2900" i="1">
                          <a:latin typeface="Cambria Math"/>
                        </a:rPr>
                        <m:t>𝑖</m:t>
                      </m:r>
                      <m:r>
                        <a:rPr lang="en-US" sz="2900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900" i="1">
                              <a:latin typeface="Cambria Math"/>
                            </a:rPr>
                            <m:t>1,</m:t>
                          </m:r>
                          <m:r>
                            <a:rPr lang="en-US" sz="2900" i="1">
                              <a:latin typeface="Cambria Math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lang="ru-RU" sz="2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900" i="1">
                                  <a:latin typeface="Cambria Math"/>
                                </a:rPr>
                                <m:t>𝐵</m:t>
                              </m:r>
                              <m:r>
                                <a:rPr lang="en-US" sz="29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900" i="1">
                                  <a:latin typeface="Cambria Math"/>
                                </a:rPr>
                                <m:t>𝐴</m:t>
                              </m:r>
                              <m:sSup>
                                <m:sSupPr>
                                  <m:ctrlPr>
                                    <a:rPr lang="ru-RU" sz="29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900" i="1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900" i="1">
                                      <a:latin typeface="Cambria Math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9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9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p>
                          <m:r>
                            <a:rPr lang="en-US" sz="2900" i="1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sz="29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ru-RU" sz="2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9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p>
                          <m:r>
                            <a:rPr lang="en-US" sz="2900" i="1">
                              <a:latin typeface="Cambria Math"/>
                            </a:rPr>
                            <m:t>∗</m:t>
                          </m:r>
                          <m:r>
                            <a:rPr lang="en-US" sz="29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900" i="1">
                              <a:latin typeface="Cambria Math"/>
                            </a:rPr>
                            <m:t>𝐵</m:t>
                          </m:r>
                          <m:r>
                            <a:rPr lang="en-US" sz="2900" i="1">
                              <a:latin typeface="Cambria Math"/>
                            </a:rPr>
                            <m:t>−</m:t>
                          </m:r>
                          <m:r>
                            <a:rPr lang="en-US" sz="2900" i="1">
                              <a:latin typeface="Cambria Math"/>
                            </a:rPr>
                            <m:t>𝐴</m:t>
                          </m:r>
                          <m:sSup>
                            <m:sSupPr>
                              <m:ctrlPr>
                                <a:rPr lang="ru-RU" sz="2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900" i="1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9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29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ru-RU" sz="2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9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ru-RU" sz="290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ru-RU" sz="2900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sSub>
                        <m:sSubPr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900" i="1">
                              <a:latin typeface="Cambria Math"/>
                            </a:rPr>
                            <m:t>(</m:t>
                          </m:r>
                          <m:r>
                            <a:rPr lang="ru-RU" sz="2900" i="1">
                              <a:latin typeface="Cambria Math"/>
                            </a:rPr>
                            <m:t>𝐴</m:t>
                          </m:r>
                          <m:sSup>
                            <m:sSupPr>
                              <m:ctrlPr>
                                <a:rPr lang="ru-RU" sz="2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900" i="1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ru-RU" sz="29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  <m:r>
                            <a:rPr lang="ru-RU" sz="2900" i="1">
                              <a:latin typeface="Cambria Math"/>
                            </a:rPr>
                            <m:t>−</m:t>
                          </m:r>
                          <m:r>
                            <a:rPr lang="ru-RU" sz="2900" i="1">
                              <a:latin typeface="Cambria Math"/>
                            </a:rPr>
                            <m:t>𝐵</m:t>
                          </m:r>
                          <m:r>
                            <a:rPr lang="ru-RU" sz="2900" i="1">
                              <a:latin typeface="Cambria Math"/>
                            </a:rPr>
                            <m:t>)</m:t>
                          </m:r>
                        </m:e>
                        <m:sub>
                          <m:r>
                            <a:rPr lang="ru-RU" sz="2900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ru-RU" sz="2900" i="1">
                          <a:latin typeface="Cambria Math"/>
                        </a:rPr>
                        <m:t>=0, </m:t>
                      </m:r>
                      <m:r>
                        <a:rPr lang="ru-RU" sz="2900" i="1">
                          <a:latin typeface="Cambria Math"/>
                        </a:rPr>
                        <m:t>𝑖</m:t>
                      </m:r>
                      <m:r>
                        <a:rPr lang="ru-RU" sz="2900" i="1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ru-RU" sz="29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2900" i="1">
                              <a:latin typeface="Cambria Math"/>
                            </a:rPr>
                            <m:t>1,</m:t>
                          </m:r>
                          <m:r>
                            <a:rPr lang="ru-RU" sz="2900" i="1">
                              <a:latin typeface="Cambria Math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lang="ru-RU" sz="29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260648"/>
                <a:ext cx="8712968" cy="6480720"/>
              </a:xfrm>
              <a:blipFill rotWithShape="0">
                <a:blip r:embed="rId2"/>
                <a:stretch>
                  <a:fillRect l="-1469" t="-8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1" y="1700808"/>
            <a:ext cx="2706967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4765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0" y="0"/>
                <a:ext cx="9144000" cy="6858000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3)Докажем сначала вспомогательное утверждение: </a:t>
                </a:r>
              </a:p>
              <a:p>
                <a:pPr marL="0" indent="0" algn="ctr">
                  <a:spcBef>
                    <a:spcPts val="0"/>
                  </a:spcBef>
                  <a:buNone/>
                </a:pPr>
                <a:r>
                  <a:rPr lang="ru-RU" sz="25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Д</m:t>
                        </m:r>
                      </m:sub>
                    </m:sSub>
                    <m:d>
                      <m:d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</m:d>
                    <m:r>
                      <a:rPr lang="ru-RU" sz="2500" i="1">
                        <a:latin typeface="Cambria Math"/>
                      </a:rPr>
                      <m:t>≥</m:t>
                    </m:r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п</m:t>
                        </m:r>
                      </m:sub>
                    </m:sSub>
                    <m:d>
                      <m:d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i="1">
                            <a:latin typeface="Cambria Math"/>
                          </a:rPr>
                          <m:t>𝑋</m:t>
                        </m:r>
                      </m:e>
                    </m:d>
                  </m:oMath>
                </a14:m>
                <a:endParaRPr lang="ru-RU" sz="25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 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ru-RU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5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p>
                                  <m:r>
                                    <a:rPr lang="en-US" sz="2500" i="1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ru-RU" sz="2500" i="1">
                                  <a:latin typeface="Cambria Math"/>
                                </a:rPr>
                                <m:t>∗  |  </m:t>
                              </m:r>
                              <m:r>
                                <a:rPr lang="en-US" sz="2500" i="1">
                                  <a:latin typeface="Cambria Math"/>
                                </a:rPr>
                                <m:t>𝐴𝑋</m:t>
                              </m:r>
                              <m:r>
                                <a:rPr lang="ru-RU" sz="2500" i="1">
                                  <a:latin typeface="Cambria Math"/>
                                </a:rPr>
                                <m:t>≤</m:t>
                              </m:r>
                              <m:r>
                                <a:rPr lang="en-US" sz="2500" i="1">
                                  <a:latin typeface="Cambria Math"/>
                                </a:rPr>
                                <m:t>𝐵</m:t>
                              </m:r>
                              <m:r>
                                <a:rPr lang="en-US" sz="2500" i="1">
                                  <a:latin typeface="Cambria Math"/>
                                </a:rPr>
                                <m:t>  </m:t>
                              </m:r>
                              <m:sSup>
                                <m:sSupPr>
                                  <m:ctrlPr>
                                    <a:rPr lang="ru-RU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5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p>
                                  <m:r>
                                    <a:rPr lang="ru-RU" sz="2500" i="1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ru-RU" sz="2500" i="1">
                                  <a:latin typeface="Cambria Math"/>
                                </a:rPr>
                                <m:t>𝐴𝑋</m:t>
                              </m:r>
                              <m:r>
                                <a:rPr lang="ru-RU" sz="2500" i="1">
                                  <a:latin typeface="Cambria Math"/>
                                </a:rPr>
                                <m:t>≤</m:t>
                              </m:r>
                              <m:sSup>
                                <m:sSupPr>
                                  <m:ctrlPr>
                                    <a:rPr lang="ru-RU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5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p>
                                  <m:r>
                                    <a:rPr lang="ru-RU" sz="2500" i="1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500" i="1">
                                  <a:latin typeface="Cambria Math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ru-RU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500" i="1">
                                      <a:latin typeface="Cambria Math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ru-RU" sz="2500" i="1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ru-RU" sz="25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  <m:r>
                                <a:rPr lang="ru-RU" sz="2500" i="1">
                                  <a:latin typeface="Cambria Math"/>
                                </a:rPr>
                                <m:t>≥</m:t>
                              </m:r>
                              <m:r>
                                <a:rPr lang="ru-RU" sz="2500" i="1">
                                  <a:latin typeface="Cambria Math"/>
                                </a:rPr>
                                <m:t>𝐶</m:t>
                              </m:r>
                              <m:r>
                                <a:rPr lang="ru-RU" sz="2500" i="1">
                                  <a:latin typeface="Cambria Math"/>
                                </a:rPr>
                                <m:t>  </m:t>
                              </m:r>
                              <m:sSup>
                                <m:sSupPr>
                                  <m:ctrlPr>
                                    <a:rPr lang="ru-RU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5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p>
                                  <m:r>
                                    <a:rPr lang="ru-RU" sz="2500" i="1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ru-RU" sz="2500" i="1">
                                  <a:latin typeface="Cambria Math"/>
                                </a:rPr>
                                <m:t>𝐴</m:t>
                              </m:r>
                              <m:r>
                                <a:rPr lang="ru-RU" sz="2500" i="1">
                                  <a:latin typeface="Cambria Math"/>
                                </a:rPr>
                                <m:t>≥</m:t>
                              </m:r>
                              <m:sSup>
                                <m:sSupPr>
                                  <m:ctrlPr>
                                    <a:rPr lang="ru-RU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500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ru-RU" sz="2500" i="1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ru-RU" sz="2500" i="1">
                                  <a:latin typeface="Cambria Math"/>
                                </a:rPr>
                                <m:t> |∗</m:t>
                              </m:r>
                              <m:r>
                                <a:rPr lang="ru-RU" sz="2500" i="1">
                                  <a:latin typeface="Cambria Math"/>
                                </a:rPr>
                                <m:t>𝑋</m:t>
                              </m:r>
                              <m:r>
                                <a:rPr lang="ru-RU" sz="2500" i="1">
                                  <a:latin typeface="Cambria Math"/>
                                </a:rPr>
                                <m:t>≥0 </m:t>
                              </m:r>
                              <m:sSup>
                                <m:sSupPr>
                                  <m:ctrlPr>
                                    <a:rPr lang="ru-RU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5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p>
                                  <m:r>
                                    <a:rPr lang="ru-RU" sz="2500" i="1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ru-RU" sz="2500" i="1">
                                  <a:latin typeface="Cambria Math"/>
                                </a:rPr>
                                <m:t>𝐴𝑋</m:t>
                              </m:r>
                              <m:r>
                                <a:rPr lang="ru-RU" sz="2500" i="1">
                                  <a:latin typeface="Cambria Math"/>
                                </a:rPr>
                                <m:t>≥</m:t>
                              </m:r>
                              <m:sSup>
                                <m:sSupPr>
                                  <m:ctrlPr>
                                    <a:rPr lang="ru-RU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500" i="1">
                                      <a:latin typeface="Cambria Math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ru-RU" sz="2500" i="1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ru-RU" sz="2500" i="1">
                                  <a:latin typeface="Cambria Math"/>
                                </a:rPr>
                                <m:t>𝑋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sz="2500" dirty="0">
                    <a:sym typeface="Symbol"/>
                  </a:rPr>
                  <a:t></a:t>
                </a:r>
                <a:r>
                  <a:rPr lang="ru-RU" sz="25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500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p>
                        <m:r>
                          <a:rPr lang="ru-RU" sz="25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sz="2500" i="1">
                        <a:latin typeface="Cambria Math"/>
                      </a:rPr>
                      <m:t>𝐵</m:t>
                    </m:r>
                    <m:r>
                      <a:rPr lang="ru-RU" sz="2500" i="1">
                        <a:latin typeface="Cambria Math"/>
                      </a:rPr>
                      <m:t>≥</m:t>
                    </m:r>
                    <m:sSup>
                      <m:sSup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500" i="1">
                            <a:latin typeface="Cambria Math"/>
                          </a:rPr>
                          <m:t>𝐶</m:t>
                        </m:r>
                      </m:e>
                      <m:sup>
                        <m:r>
                          <a:rPr lang="ru-RU" sz="25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u-RU" sz="2500" i="1">
                        <a:latin typeface="Cambria Math"/>
                      </a:rPr>
                      <m:t>𝑋</m:t>
                    </m:r>
                    <m:r>
                      <a:rPr lang="ru-RU" sz="2500" i="1">
                        <a:latin typeface="Cambria Math"/>
                        <a:sym typeface="Symbol"/>
                      </a:rPr>
                      <m:t></m:t>
                    </m:r>
                    <m:r>
                      <a:rPr lang="ru-RU" sz="2500" i="1">
                        <a:latin typeface="Cambria Math"/>
                      </a:rPr>
                      <m:t> </m:t>
                    </m:r>
                    <m:sSup>
                      <m:sSup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500" i="1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ru-RU" sz="25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u-RU" sz="2500" i="1">
                        <a:latin typeface="Cambria Math"/>
                        <a:sym typeface="Symbol"/>
                      </a:rPr>
                      <m:t></m:t>
                    </m:r>
                    <m:r>
                      <a:rPr lang="ru-RU" sz="2500" i="1">
                        <a:latin typeface="Cambria Math"/>
                      </a:rPr>
                      <m:t>≥</m:t>
                    </m:r>
                    <m:sSup>
                      <m:sSup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500" i="1">
                            <a:latin typeface="Cambria Math"/>
                          </a:rPr>
                          <m:t>𝐶</m:t>
                        </m:r>
                      </m:e>
                      <m:sup>
                        <m:r>
                          <a:rPr lang="ru-RU" sz="25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u-RU" sz="2500" i="1">
                        <a:latin typeface="Cambria Math"/>
                      </a:rPr>
                      <m:t>𝑋</m:t>
                    </m:r>
                    <m:r>
                      <a:rPr lang="ru-RU" sz="2500" i="1">
                        <a:latin typeface="Cambria Math"/>
                      </a:rPr>
                      <m:t> </m:t>
                    </m:r>
                  </m:oMath>
                </a14:m>
                <a:endParaRPr lang="ru-RU" sz="25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Следовательно,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Д</m:t>
                        </m:r>
                      </m:sub>
                    </m:sSub>
                    <m:d>
                      <m:d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</m:d>
                    <m:r>
                      <a:rPr lang="ru-RU" sz="2500" i="1">
                        <a:latin typeface="Cambria Math"/>
                      </a:rPr>
                      <m:t>≥</m:t>
                    </m:r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п</m:t>
                        </m:r>
                      </m:sub>
                    </m:sSub>
                    <m:d>
                      <m:d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i="1">
                            <a:latin typeface="Cambria Math"/>
                          </a:rPr>
                          <m:t>𝑋</m:t>
                        </m:r>
                      </m:e>
                    </m:d>
                  </m:oMath>
                </a14:m>
                <a:r>
                  <a:rPr lang="ru-RU" sz="2500" dirty="0"/>
                  <a:t>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Пусть для определенности прямая задач имеет неограниченное решение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п</m:t>
                        </m:r>
                      </m:sub>
                    </m:sSub>
                    <m:r>
                      <a:rPr lang="ru-RU" sz="2500" i="1">
                        <a:latin typeface="Cambria Math"/>
                      </a:rPr>
                      <m:t>=∞</m:t>
                    </m:r>
                  </m:oMath>
                </a14:m>
                <a:r>
                  <a:rPr lang="ru-RU" sz="2500" dirty="0"/>
                  <a:t>. Докажем, что двойственная задача не имеет допустимого решения.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Допустим противное. Пусть существует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500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</m:acc>
                  </m:oMath>
                </a14:m>
                <a:r>
                  <a:rPr lang="ru-RU" sz="2500" dirty="0"/>
                  <a:t> - допустимое решения двойственной задачи.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Д</m:t>
                        </m:r>
                      </m:sub>
                    </m:sSub>
                    <m:d>
                      <m:d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ru-RU" sz="25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sz="2500" i="1">
                                <a:latin typeface="Cambria Math"/>
                                <a:sym typeface="Symbol"/>
                              </a:rPr>
                              <m:t></m:t>
                            </m:r>
                          </m:e>
                        </m:acc>
                      </m:e>
                    </m:d>
                    <m:r>
                      <a:rPr lang="ru-RU" sz="25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i="1">
                            <a:latin typeface="Cambria Math"/>
                          </a:rPr>
                          <m:t>𝐵</m:t>
                        </m:r>
                      </m:e>
                      <m:sup>
                        <m:r>
                          <a:rPr lang="ru-RU" sz="2500" i="1">
                            <a:latin typeface="Cambria Math"/>
                          </a:rPr>
                          <m:t>𝑇</m:t>
                        </m:r>
                      </m:sup>
                    </m:sSup>
                    <m:acc>
                      <m:accPr>
                        <m:chr m:val="̅"/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sz="2500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</m:acc>
                    <m:r>
                      <a:rPr lang="ru-RU" sz="2500" i="1">
                        <a:latin typeface="Cambria Math"/>
                      </a:rPr>
                      <m:t>&lt;</m:t>
                    </m:r>
                  </m:oMath>
                </a14:m>
                <a:r>
                  <a:rPr lang="ru-RU" sz="2500" i="1" dirty="0">
                    <a:sym typeface="Symbol"/>
                  </a:rPr>
                  <a:t></a:t>
                </a:r>
                <a:endParaRPr lang="ru-RU" sz="25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По вспомогательному утверждению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Д</m:t>
                        </m:r>
                      </m:sub>
                    </m:sSub>
                    <m:r>
                      <a:rPr lang="ru-RU" sz="2500" i="1">
                        <a:latin typeface="Cambria Math"/>
                      </a:rPr>
                      <m:t>≥</m:t>
                    </m:r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п</m:t>
                        </m:r>
                      </m:sub>
                    </m:sSub>
                    <m:r>
                      <a:rPr lang="ru-RU" sz="2500" i="1">
                        <a:latin typeface="Cambria Math"/>
                      </a:rPr>
                      <m:t>=</m:t>
                    </m:r>
                  </m:oMath>
                </a14:m>
                <a:r>
                  <a:rPr lang="ru-RU" sz="2500" i="1" dirty="0">
                    <a:sym typeface="Symbol"/>
                  </a:rPr>
                  <a:t></a:t>
                </a:r>
                <a:r>
                  <a:rPr lang="ru-RU" sz="2500" dirty="0"/>
                  <a:t> . Противоречие.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Аналогично доказывается 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500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sz="2500" i="1">
                            <a:latin typeface="Cambria Math"/>
                          </a:rPr>
                          <m:t>Д</m:t>
                        </m:r>
                      </m:sub>
                    </m:sSub>
                    <m:r>
                      <a:rPr lang="ru-RU" sz="2500" i="1">
                        <a:latin typeface="Cambria Math"/>
                      </a:rPr>
                      <m:t>=−</m:t>
                    </m:r>
                  </m:oMath>
                </a14:m>
                <a:r>
                  <a:rPr lang="ru-RU" sz="2500" i="1" dirty="0">
                    <a:sym typeface="Symbol"/>
                  </a:rPr>
                  <a:t></a:t>
                </a:r>
                <a:r>
                  <a:rPr lang="ru-RU" sz="2500" dirty="0"/>
                  <a:t> , то нет допустимого решения у прямой задачи.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500" dirty="0"/>
                  <a:t>Теорема доказана.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0"/>
                <a:ext cx="9144000" cy="6858000"/>
              </a:xfrm>
              <a:blipFill rotWithShape="1">
                <a:blip r:embed="rId2"/>
                <a:stretch>
                  <a:fillRect l="-1067" t="-622" b="-1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648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0"/>
            <a:ext cx="8856984" cy="6858000"/>
          </a:xfrm>
        </p:spPr>
        <p:txBody>
          <a:bodyPr>
            <a:normAutofit fontScale="850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ru-RU" sz="2800" b="1" i="1" dirty="0">
                <a:solidFill>
                  <a:srgbClr val="FF0000"/>
                </a:solidFill>
              </a:rPr>
              <a:t>Задание для домашней расчетной работы</a:t>
            </a:r>
            <a:endParaRPr lang="en-US" sz="2800" b="1" i="1" dirty="0">
              <a:solidFill>
                <a:srgbClr val="FF0000"/>
              </a:solidFill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US" sz="3100" dirty="0"/>
              <a:t> </a:t>
            </a:r>
            <a:r>
              <a:rPr lang="ru-RU" sz="3100" b="1" dirty="0"/>
              <a:t>Условие задачи</a:t>
            </a:r>
            <a:r>
              <a:rPr lang="en-US" sz="3100" b="1" dirty="0"/>
              <a:t> </a:t>
            </a:r>
            <a:r>
              <a:rPr lang="en-US" sz="3100" dirty="0"/>
              <a:t>( </a:t>
            </a:r>
            <a:r>
              <a:rPr lang="en-US" sz="31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100" dirty="0"/>
              <a:t>– Ваш номер в журнале преподавателя)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3100" dirty="0"/>
              <a:t>Для кормления животного ежедневно требуются витамины А, В и С. Эти витамины содержатся в кормовых смесях двух видов.  Известно процентное содержание каждого витамина в каждой из смесей, дневная норма витаминов и цена каждой смеси. Определить наиболее дешёвый рацион, обеспечивающий норму. При какой цене смеси 1 её будет невыгодно (выгодно) использовать в рационе?</a:t>
            </a:r>
          </a:p>
          <a:p>
            <a:pPr marL="0" indent="0">
              <a:spcBef>
                <a:spcPts val="0"/>
              </a:spcBef>
              <a:buNone/>
            </a:pPr>
            <a:endParaRPr lang="ru-RU" sz="3100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sz="2800" dirty="0"/>
          </a:p>
          <a:p>
            <a:pPr marL="0" indent="0">
              <a:spcBef>
                <a:spcPts val="0"/>
              </a:spcBef>
              <a:buNone/>
            </a:pPr>
            <a:endParaRPr lang="ru-RU" sz="3100" dirty="0"/>
          </a:p>
          <a:p>
            <a:pPr marL="0" indent="0">
              <a:spcBef>
                <a:spcPts val="0"/>
              </a:spcBef>
              <a:buNone/>
            </a:pPr>
            <a:r>
              <a:rPr lang="ru-RU" sz="3100" dirty="0"/>
              <a:t>Решить 3 способами:</a:t>
            </a:r>
          </a:p>
          <a:p>
            <a:pPr>
              <a:spcBef>
                <a:spcPts val="0"/>
              </a:spcBef>
            </a:pPr>
            <a:r>
              <a:rPr lang="ru-RU" sz="3100" dirty="0"/>
              <a:t>Графический метод</a:t>
            </a:r>
          </a:p>
          <a:p>
            <a:pPr>
              <a:spcBef>
                <a:spcPts val="0"/>
              </a:spcBef>
            </a:pPr>
            <a:r>
              <a:rPr lang="ru-RU" sz="3100" dirty="0"/>
              <a:t>Симплекс-метод</a:t>
            </a:r>
          </a:p>
          <a:p>
            <a:pPr>
              <a:spcBef>
                <a:spcPts val="0"/>
              </a:spcBef>
            </a:pPr>
            <a:r>
              <a:rPr lang="ru-RU" sz="3100" dirty="0"/>
              <a:t>Через двойственную задачу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888841"/>
            <a:ext cx="8352537" cy="2556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064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0"/>
            <a:ext cx="8856984" cy="6741368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ru-RU" sz="3100" b="1" i="1" dirty="0">
                <a:solidFill>
                  <a:srgbClr val="FF0000"/>
                </a:solidFill>
              </a:rPr>
              <a:t>Пример решения домашней расчетной работы.</a:t>
            </a:r>
          </a:p>
          <a:p>
            <a:pPr marL="0" lvl="0" indent="0">
              <a:buNone/>
            </a:pPr>
            <a:r>
              <a:rPr lang="en-US" sz="3100" dirty="0"/>
              <a:t>I. </a:t>
            </a:r>
            <a:r>
              <a:rPr lang="ru-RU" sz="3100" b="1" dirty="0"/>
              <a:t>Условие задачи</a:t>
            </a:r>
          </a:p>
          <a:p>
            <a:pPr marL="0" indent="0">
              <a:buNone/>
            </a:pPr>
            <a:r>
              <a:rPr lang="ru-RU" sz="3100" dirty="0"/>
              <a:t>Для кормления животного ежедневно требуются витамины А, В и С. Эти витамины содержатся в кормовых смесях двух видов.  Известно процентное содержание каждого витамина в каждой из смесей, дневная норма витаминов и цена каждой смеси. Определить наиболее дешёвый рацион, обеспечивающий норму. При какой цене смеси 1 её будет невыгодно (выгодно) использовать в рационе?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sz="2800" dirty="0"/>
          </a:p>
          <a:p>
            <a:pPr marL="0" indent="0">
              <a:buNone/>
            </a:pPr>
            <a:r>
              <a:rPr lang="ru-RU" sz="3100" dirty="0"/>
              <a:t>Решить 3 способами:</a:t>
            </a:r>
          </a:p>
          <a:p>
            <a:r>
              <a:rPr lang="ru-RU" sz="3100" dirty="0"/>
              <a:t>Графический метод</a:t>
            </a:r>
          </a:p>
          <a:p>
            <a:r>
              <a:rPr lang="ru-RU" sz="3100" dirty="0"/>
              <a:t>Симплекс-метод</a:t>
            </a:r>
          </a:p>
          <a:p>
            <a:r>
              <a:rPr lang="ru-RU" sz="3100" dirty="0"/>
              <a:t>Через двойственную задачу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140968"/>
            <a:ext cx="7666574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7988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260648"/>
                <a:ext cx="8784976" cy="6336704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II. </a:t>
                </a:r>
                <a:r>
                  <a:rPr lang="ru-RU" b="1" dirty="0"/>
                  <a:t>Математическая постановка задачи</a:t>
                </a:r>
              </a:p>
              <a:p>
                <a:pPr marL="0" indent="0">
                  <a:buNone/>
                </a:pPr>
                <a:r>
                  <a:rPr lang="ru-RU" dirty="0"/>
                  <a:t>Обозначим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dirty="0"/>
                  <a:t> - вес оптимального количества корма 1 и 2 соответственно. Тогда нам надо решить следующую задачу линейного программирования: найти минимум f при ограничениях (1)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𝑓</m:t>
                      </m:r>
                      <m:r>
                        <a:rPr lang="en-US" i="1">
                          <a:latin typeface="Cambria Math"/>
                        </a:rPr>
                        <m:t>=0,1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+0,255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box>
                        <m:box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i="1">
                              <a:latin typeface="Cambria Math"/>
                              <a:sym typeface="Symbol"/>
                            </a:rPr>
                            <m:t></m:t>
                          </m:r>
                        </m:e>
                      </m:box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𝑚𝑖𝑛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/>
                              </a:rPr>
                              <m:t>0,001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≥0,003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0,003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+0,00217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≥0,027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0,001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+0,00267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≥0,0215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                       (1)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Или</a:t>
                </a:r>
                <a:r>
                  <a:rPr lang="en-US" dirty="0"/>
                  <a:t>:               min{C</a:t>
                </a:r>
                <a:r>
                  <a:rPr lang="en-US" baseline="30000" dirty="0"/>
                  <a:t>T</a:t>
                </a:r>
                <a:r>
                  <a:rPr lang="en-US" dirty="0"/>
                  <a:t>X | AX</a:t>
                </a:r>
                <a:r>
                  <a:rPr lang="en-US" dirty="0">
                    <a:sym typeface="Symbol"/>
                  </a:rPr>
                  <a:t></a:t>
                </a:r>
                <a:r>
                  <a:rPr lang="en-US" dirty="0"/>
                  <a:t>B, X</a:t>
                </a:r>
                <a:r>
                  <a:rPr lang="en-US" dirty="0">
                    <a:sym typeface="Symbol"/>
                  </a:rPr>
                  <a:t></a:t>
                </a:r>
                <a:r>
                  <a:rPr lang="en-US" dirty="0"/>
                  <a:t>0}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Где</a:t>
                </a:r>
                <a:r>
                  <a:rPr lang="en-US" dirty="0"/>
                  <a:t> C=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0,1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0,255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A=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0,001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0,003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0,00217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0,001</m:t>
                              </m:r>
                            </m:e>
                            <m:e>
                              <m:r>
                                <a:rPr lang="en-US" i="1">
                                  <a:latin typeface="Cambria Math"/>
                                </a:rPr>
                                <m:t>0,00267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B=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0,003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0,027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/>
                                </a:rPr>
                                <m:t>0,022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X=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≥3</m:t>
                            </m:r>
                          </m:e>
                          <m:e>
                            <m:r>
                              <a:rPr lang="en-US" i="1">
                                <a:latin typeface="Cambria Math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+2,17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≥27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+2,267≥22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                      </a:t>
                </a: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260648"/>
                <a:ext cx="8784976" cy="6336704"/>
              </a:xfrm>
              <a:blipFill rotWithShape="0">
                <a:blip r:embed="rId2"/>
                <a:stretch>
                  <a:fillRect l="-1110" t="-18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648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6632"/>
                <a:ext cx="8928992" cy="6624736"/>
              </a:xfrm>
            </p:spPr>
            <p:txBody>
              <a:bodyPr>
                <a:normAutofit/>
              </a:bodyPr>
              <a:lstStyle/>
              <a:p>
                <a:pPr marL="0" lvl="0" indent="0">
                  <a:spcBef>
                    <a:spcPts val="0"/>
                  </a:spcBef>
                  <a:buNone/>
                </a:pPr>
                <a:r>
                  <a:rPr lang="ru-RU" sz="2600" dirty="0"/>
                  <a:t>Графический метод.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/>
                          </a:rPr>
                          <m:t>𝑓</m:t>
                        </m:r>
                        <m:r>
                          <a:rPr lang="en-US" sz="2600" i="1">
                            <a:latin typeface="Cambria Math"/>
                          </a:rPr>
                          <m:t>=0,1</m:t>
                        </m:r>
                        <m:r>
                          <a:rPr lang="en-US" sz="26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600" i="1">
                        <a:latin typeface="Cambria Math"/>
                      </a:rPr>
                      <m:t>+0,255</m:t>
                    </m:r>
                  </m:oMath>
                </a14:m>
                <a:r>
                  <a:rPr lang="en-US" sz="2600" dirty="0">
                    <a:sym typeface="Symbol"/>
                  </a:rPr>
                  <a:t></a:t>
                </a:r>
                <a:r>
                  <a:rPr lang="en-US" sz="2600" dirty="0"/>
                  <a:t> min</a:t>
                </a:r>
                <a:endParaRPr lang="ru-RU" sz="26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600" dirty="0"/>
                  <a:t>При следующих ограничениях: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26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600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2600" i="1">
                                <a:latin typeface="Cambria Math"/>
                              </a:rPr>
                              <m:t>≥3</m:t>
                            </m:r>
                          </m:e>
                          <m:e>
                            <m:r>
                              <a:rPr lang="ru-RU" sz="2600" i="1">
                                <a:latin typeface="Cambria Math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ru-RU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6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2600" i="1">
                                <a:latin typeface="Cambria Math"/>
                              </a:rPr>
                              <m:t>+2,17</m:t>
                            </m:r>
                            <m:sSub>
                              <m:sSubPr>
                                <m:ctrlPr>
                                  <a:rPr lang="ru-RU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600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2600" i="1">
                                <a:latin typeface="Cambria Math"/>
                              </a:rPr>
                              <m:t>≥27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6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2600" i="1">
                                <a:latin typeface="Cambria Math"/>
                              </a:rPr>
                              <m:t>+2,67</m:t>
                            </m:r>
                            <m:sSub>
                              <m:sSubPr>
                                <m:ctrlPr>
                                  <a:rPr lang="ru-RU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600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2600" i="1">
                                <a:latin typeface="Cambria Math"/>
                              </a:rPr>
                              <m:t>≥2,2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sz="2600" dirty="0"/>
                  <a:t>                       (2)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600" dirty="0"/>
                  <a:t>Построим область </a:t>
                </a:r>
                <a:r>
                  <a:rPr lang="en-US" sz="2600" dirty="0"/>
                  <a:t>G</a:t>
                </a:r>
                <a:r>
                  <a:rPr lang="ru-RU" sz="2600" dirty="0"/>
                  <a:t>, заданную системой неравенств (2) и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sz="2600" i="1">
                          <a:latin typeface="Cambria Math"/>
                        </a:rPr>
                        <m:t>𝑔𝑟𝑎𝑓</m:t>
                      </m:r>
                      <m:r>
                        <a:rPr lang="ru-RU" sz="26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2600" i="1">
                                    <a:latin typeface="Cambria Math"/>
                                  </a:rPr>
                                  <m:t>0,1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sz="2600" i="1">
                                    <a:latin typeface="Cambria Math"/>
                                  </a:rPr>
                                  <m:t>0,255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2600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sz="2600" dirty="0"/>
                  <a:t>Удобно построить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2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2600" i="1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ru-RU" sz="2600" i="1">
                                  <a:latin typeface="Cambria Math"/>
                                </a:rPr>
                                <m:t>2,55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6632"/>
                <a:ext cx="8928992" cy="6624736"/>
              </a:xfrm>
              <a:blipFill rotWithShape="1">
                <a:blip r:embed="rId2"/>
                <a:stretch>
                  <a:fillRect l="-1230" t="-7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1385" y="2996952"/>
            <a:ext cx="5123359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696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44" y="280477"/>
            <a:ext cx="8812643" cy="631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1199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6632"/>
                <a:ext cx="8856984" cy="6624736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sz="3000" dirty="0"/>
                  <a:t>Движемся противоположно направлению градиента и определим оптимальное решение. Оно расположено на пересечении следующих прямых: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3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3000" i="1">
                                  <a:latin typeface="Cambria Math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ru-RU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3000" i="1">
                                  <a:latin typeface="Cambria Math"/>
                                </a:rPr>
                                <m:t>+2,17</m:t>
                              </m:r>
                              <m:sSub>
                                <m:sSubPr>
                                  <m:ctrlPr>
                                    <a:rPr lang="ru-RU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3000" i="1">
                                  <a:latin typeface="Cambria Math"/>
                                </a:rPr>
                                <m:t>=27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ru-RU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3000" i="1">
                                  <a:latin typeface="Cambria Math"/>
                                </a:rPr>
                                <m:t>+2,67</m:t>
                              </m:r>
                              <m:sSub>
                                <m:sSubPr>
                                  <m:ctrlPr>
                                    <a:rPr lang="ru-RU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3000" i="1">
                                  <a:latin typeface="Cambria Math"/>
                                </a:rPr>
                                <m:t>=22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sz="3000" dirty="0"/>
                  <a:t>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3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3000" i="1">
                                  <a:latin typeface="Cambria Math"/>
                                </a:rPr>
                                <m:t>66−8,01</m:t>
                              </m:r>
                              <m:sSub>
                                <m:sSubPr>
                                  <m:ctrlPr>
                                    <a:rPr lang="ru-RU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3000" i="1">
                                  <a:latin typeface="Cambria Math"/>
                                </a:rPr>
                                <m:t>+2,17</m:t>
                              </m:r>
                              <m:sSub>
                                <m:sSubPr>
                                  <m:ctrlPr>
                                    <a:rPr lang="ru-RU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3000" i="1">
                                  <a:latin typeface="Cambria Math"/>
                                </a:rPr>
                                <m:t>=27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ru-RU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3000" i="1">
                                  <a:latin typeface="Cambria Math"/>
                                </a:rPr>
                                <m:t>=22−2,67</m:t>
                              </m:r>
                              <m:sSub>
                                <m:sSubPr>
                                  <m:ctrlPr>
                                    <a:rPr lang="ru-RU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3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ru-RU" sz="3000" dirty="0"/>
                  <a:t> 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3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ru-RU" sz="3000" i="1">
                                <a:latin typeface="Cambria Math"/>
                              </a:rPr>
                              <m:t>5,84</m:t>
                            </m:r>
                            <m:sSub>
                              <m:sSubPr>
                                <m:ctrlPr>
                                  <a:rPr lang="ru-RU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3000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3000" i="1">
                                <a:latin typeface="Cambria Math"/>
                              </a:rPr>
                              <m:t>=39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30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3000" i="1">
                                <a:latin typeface="Cambria Math"/>
                              </a:rPr>
                              <m:t>=22−2,6</m:t>
                            </m:r>
                            <m:r>
                              <a:rPr lang="en-US" sz="3000" i="1">
                                <a:latin typeface="Cambria Math"/>
                              </a:rPr>
                              <m:t>7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3000" dirty="0"/>
                  <a:t>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3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3000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3000" i="1">
                                <a:latin typeface="Cambria Math"/>
                              </a:rPr>
                              <m:t>=6,678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sz="3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0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30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3000" i="1">
                                <a:latin typeface="Cambria Math"/>
                              </a:rPr>
                              <m:t>=4,1695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3000" dirty="0"/>
                  <a:t>     </a:t>
                </a:r>
                <a:endParaRPr lang="ru-RU" sz="3000" dirty="0"/>
              </a:p>
              <a:p>
                <a:pPr marL="0" indent="0">
                  <a:buNone/>
                </a:pPr>
                <a:r>
                  <a:rPr lang="ru-RU" sz="3000" dirty="0"/>
                  <a:t>Следовательно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3000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ru-RU" sz="3000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sz="3000" i="1">
                        <a:latin typeface="Cambria Math"/>
                      </a:rPr>
                      <m:t>=4,1695</m:t>
                    </m:r>
                  </m:oMath>
                </a14:m>
                <a:endParaRPr lang="ru-RU" sz="3000" dirty="0"/>
              </a:p>
              <a:p>
                <a:pPr marL="0" indent="0">
                  <a:buNone/>
                </a:pPr>
                <a:r>
                  <a:rPr lang="en-US" sz="3000" dirty="0"/>
                  <a:t>              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3000" i="1"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a:rPr lang="en-US" sz="3000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sz="3000" i="1">
                        <a:latin typeface="Cambria Math"/>
                      </a:rPr>
                      <m:t>=</m:t>
                    </m:r>
                    <m:r>
                      <a:rPr lang="ru-RU" sz="3000" i="1">
                        <a:latin typeface="Cambria Math"/>
                      </a:rPr>
                      <m:t>6,678</m:t>
                    </m:r>
                  </m:oMath>
                </a14:m>
                <a:endParaRPr lang="ru-RU" sz="3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000" i="1">
                              <a:latin typeface="Cambria Math"/>
                            </a:rPr>
                            <m:t>𝑋</m:t>
                          </m:r>
                        </m:e>
                        <m:sup>
                          <m:r>
                            <a:rPr lang="en-US" sz="3000" i="1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sz="3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3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sz="3000" i="1">
                                    <a:latin typeface="Cambria Math"/>
                                  </a:rPr>
                                  <m:t>4,1695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3000" i="1">
                                    <a:latin typeface="Cambria Math"/>
                                  </a:rPr>
                                  <m:t>6,678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3000" dirty="0"/>
              </a:p>
              <a:p>
                <a:pPr marL="0" indent="0">
                  <a:buNone/>
                </a:pPr>
                <a:r>
                  <a:rPr lang="ru-RU" sz="3000" dirty="0"/>
                  <a:t>Вычислим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3000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ru-RU" sz="3000" i="1">
                            <a:latin typeface="Cambria Math"/>
                          </a:rPr>
                          <m:t>∗</m:t>
                        </m:r>
                      </m:sup>
                    </m:sSup>
                  </m:oMath>
                </a14:m>
                <a:endParaRPr lang="ru-RU" sz="3000" dirty="0"/>
              </a:p>
              <a:p>
                <a:pPr marL="0" indent="0">
                  <a:buNone/>
                </a:pPr>
                <a:r>
                  <a:rPr lang="en-US" sz="3000" dirty="0"/>
                  <a:t> </a:t>
                </a:r>
                <a:endParaRPr lang="ru-RU" sz="3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000" i="1"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ru-RU" sz="3000" i="1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ru-RU" sz="3000" i="1">
                          <a:latin typeface="Cambria Math"/>
                        </a:rPr>
                        <m:t>=0,1</m:t>
                      </m:r>
                      <m:sSubSup>
                        <m:sSubSup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3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3000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ru-RU" sz="3000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ru-RU" sz="3000" i="1">
                          <a:latin typeface="Cambria Math"/>
                        </a:rPr>
                        <m:t>+0,255</m:t>
                      </m:r>
                      <m:sSubSup>
                        <m:sSubSupPr>
                          <m:ctrlPr>
                            <a:rPr lang="ru-RU" sz="3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3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3000" i="1">
                              <a:latin typeface="Cambria Math"/>
                            </a:rPr>
                            <m:t>2</m:t>
                          </m:r>
                        </m:sub>
                        <m:sup>
                          <m:r>
                            <a:rPr lang="ru-RU" sz="3000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ru-RU" sz="3000" i="1">
                          <a:latin typeface="Cambria Math"/>
                        </a:rPr>
                        <m:t>=0,1∗4,1695+0,255∗</m:t>
                      </m:r>
                      <m:r>
                        <a:rPr lang="en-US" sz="3000" i="1">
                          <a:latin typeface="Cambria Math"/>
                        </a:rPr>
                        <m:t>6,678</m:t>
                      </m:r>
                      <m:r>
                        <a:rPr lang="ru-RU" sz="3000" i="1">
                          <a:latin typeface="Cambria Math"/>
                        </a:rPr>
                        <m:t>=2,11984≈2,12</m:t>
                      </m:r>
                    </m:oMath>
                  </m:oMathPara>
                </a14:m>
                <a:endParaRPr lang="ru-RU" sz="30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6632"/>
                <a:ext cx="8856984" cy="6624736"/>
              </a:xfrm>
              <a:blipFill rotWithShape="0">
                <a:blip r:embed="rId2"/>
                <a:stretch>
                  <a:fillRect l="-1376" t="-2024" r="-13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729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88640"/>
                <a:ext cx="8712968" cy="6480720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lang="en-US" sz="2800" dirty="0"/>
                  <a:t>IV. </a:t>
                </a:r>
                <a:r>
                  <a:rPr lang="ru-RU" sz="2800" b="1" dirty="0"/>
                  <a:t>Симплекс-метод.</a:t>
                </a:r>
              </a:p>
              <a:p>
                <a:pPr marL="0" indent="0">
                  <a:buNone/>
                </a:pPr>
                <a:r>
                  <a:rPr lang="ru-RU" sz="2800" dirty="0"/>
                  <a:t>Зная, что </a:t>
                </a: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min</a:t>
                </a:r>
                <a:r>
                  <a:rPr lang="ru-RU" sz="2800" dirty="0"/>
                  <a:t>(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0,1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+0,255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)=−</m:t>
                    </m:r>
                    <m:r>
                      <m:rPr>
                        <m:sty m:val="p"/>
                      </m:rPr>
                      <a:rPr lang="en-US" sz="2800">
                        <a:latin typeface="Cambria Math"/>
                      </a:rPr>
                      <m:t>max</m:t>
                    </m:r>
                    <m:r>
                      <a:rPr lang="ru-RU" sz="2800" i="1">
                        <a:latin typeface="Cambria Math"/>
                      </a:rPr>
                      <m:t>(−0,1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−0,255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ru-RU" sz="2800" dirty="0"/>
                  <a:t>будем искать </a:t>
                </a:r>
                <a:r>
                  <a:rPr lang="en-US" sz="2800" dirty="0"/>
                  <a:t>max </a:t>
                </a:r>
                <a:r>
                  <a:rPr lang="ru-RU" sz="2800" dirty="0"/>
                  <a:t>функции </a:t>
                </a:r>
                <a:r>
                  <a:rPr lang="en-US" sz="2800" i="1" dirty="0"/>
                  <a:t>-f</a:t>
                </a:r>
                <a:endParaRPr lang="ru-RU" sz="2800" i="1" dirty="0"/>
              </a:p>
              <a:p>
                <a:pPr marL="0" indent="0">
                  <a:buNone/>
                </a:pPr>
                <a:r>
                  <a:rPr lang="ru-RU" sz="2800" dirty="0"/>
                  <a:t>Приведем задачу к каноническому виду, введя дополнительные переменные </a:t>
                </a:r>
                <a:r>
                  <a:rPr lang="en-US" sz="2800" dirty="0"/>
                  <a:t>x</a:t>
                </a:r>
                <a:r>
                  <a:rPr lang="ru-RU" sz="2800" baseline="-25000" dirty="0"/>
                  <a:t>3</a:t>
                </a:r>
                <a:r>
                  <a:rPr lang="ru-RU" sz="2800" dirty="0"/>
                  <a:t>, </a:t>
                </a:r>
                <a:r>
                  <a:rPr lang="en-US" sz="2800" dirty="0"/>
                  <a:t>x</a:t>
                </a:r>
                <a:r>
                  <a:rPr lang="ru-RU" sz="2800" baseline="-25000" dirty="0"/>
                  <a:t>4</a:t>
                </a:r>
                <a:r>
                  <a:rPr lang="ru-RU" sz="2800" dirty="0"/>
                  <a:t>, </a:t>
                </a:r>
                <a:r>
                  <a:rPr lang="en-US" sz="2800" dirty="0"/>
                  <a:t>x</a:t>
                </a:r>
                <a:r>
                  <a:rPr lang="ru-RU" sz="2800" baseline="-25000" dirty="0"/>
                  <a:t>5</a:t>
                </a:r>
                <a:r>
                  <a:rPr lang="ru-RU" sz="2800" dirty="0"/>
                  <a:t>. При этом выберем эти переменные так, чтобы при их прибавлении к левым частям соотношений неравенства превращались в равенства.</a:t>
                </a:r>
              </a:p>
              <a:p>
                <a:pPr marL="0" indent="0">
                  <a:buNone/>
                </a:pPr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28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ru-RU" sz="2800" i="1">
                                  <a:latin typeface="Cambria Math"/>
                                </a:rPr>
                                <m:t>=3</m:t>
                              </m:r>
                            </m:e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2800" i="1">
                                  <a:latin typeface="Cambria Math"/>
                                </a:rPr>
                                <m:t>+2,17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28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ru-RU" sz="2800" i="1">
                                  <a:latin typeface="Cambria Math"/>
                                </a:rPr>
                                <m:t>=27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u-RU" sz="2800" i="1">
                                  <a:latin typeface="Cambria Math"/>
                                </a:rPr>
                                <m:t>+2,67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u-RU" sz="28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ru-RU" sz="2800" i="1">
                                  <a:latin typeface="Cambria Math"/>
                                </a:rPr>
                                <m:t>=22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ru-RU" sz="2800" i="1">
                                  <a:latin typeface="Cambria Math"/>
                                </a:rPr>
                                <m:t>≥0, </m:t>
                              </m:r>
                              <m:r>
                                <a:rPr lang="ru-RU" sz="28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ru-RU" sz="2800" i="1">
                                  <a:latin typeface="Cambria Math"/>
                                </a:rPr>
                                <m:t>=</m:t>
                              </m:r>
                              <m:acc>
                                <m:accPr>
                                  <m:chr m:val="̅"/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sz="2800" i="1">
                                      <a:latin typeface="Cambria Math"/>
                                    </a:rPr>
                                    <m:t>1,5</m:t>
                                  </m: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88640"/>
                <a:ext cx="8712968" cy="6480720"/>
              </a:xfrm>
              <a:blipFill rotWithShape="1">
                <a:blip r:embed="rId2"/>
                <a:stretch>
                  <a:fillRect l="-1399" t="-15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001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6632"/>
                <a:ext cx="8784976" cy="662473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Применим метод искусственного базиса. Для этого введем переменные  </a:t>
                </a:r>
                <a:r>
                  <a:rPr lang="en-US" dirty="0"/>
                  <a:t>y</a:t>
                </a:r>
                <a:r>
                  <a:rPr lang="ru-RU" baseline="-25000" dirty="0"/>
                  <a:t>1</a:t>
                </a:r>
                <a:r>
                  <a:rPr lang="ru-RU" dirty="0"/>
                  <a:t>, </a:t>
                </a:r>
                <a:r>
                  <a:rPr lang="en-US" dirty="0"/>
                  <a:t>y</a:t>
                </a:r>
                <a:r>
                  <a:rPr lang="ru-RU" baseline="-25000" dirty="0"/>
                  <a:t>2</a:t>
                </a:r>
                <a:r>
                  <a:rPr lang="ru-RU" dirty="0"/>
                  <a:t>, </a:t>
                </a:r>
                <a:r>
                  <a:rPr lang="en-US" dirty="0"/>
                  <a:t>y</a:t>
                </a:r>
                <a:r>
                  <a:rPr lang="ru-RU" baseline="-25000" dirty="0"/>
                  <a:t>3</a:t>
                </a:r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=3</m:t>
                            </m:r>
                          </m:e>
                          <m:e>
                            <m:r>
                              <a:rPr lang="ru-RU" i="1">
                                <a:latin typeface="Cambria Math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+2,17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=27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+2,67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=22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≥0, </m:t>
                            </m:r>
                            <m:r>
                              <a:rPr lang="ru-RU" i="1">
                                <a:latin typeface="Cambria Math"/>
                              </a:rPr>
                              <m:t>𝑖</m:t>
                            </m:r>
                            <m:r>
                              <a:rPr lang="ru-RU" i="1">
                                <a:latin typeface="Cambria Math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1,5</m:t>
                                </m:r>
                              </m:e>
                            </m:acc>
                          </m:e>
                          <m:e>
                            <m:sSub>
                              <m:sSub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u-RU" i="1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ru-RU" i="1">
                                <a:latin typeface="Cambria Math"/>
                              </a:rPr>
                              <m:t>≥0, </m:t>
                            </m:r>
                            <m:r>
                              <a:rPr lang="ru-RU" i="1">
                                <a:latin typeface="Cambria Math"/>
                              </a:rPr>
                              <m:t>𝑗</m:t>
                            </m:r>
                            <m:r>
                              <a:rPr lang="ru-RU" i="1">
                                <a:latin typeface="Cambria Math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u-RU" i="1">
                                    <a:latin typeface="Cambria Math"/>
                                  </a:rPr>
                                  <m:t>1,3</m:t>
                                </m:r>
                              </m:e>
                            </m:acc>
                          </m:e>
                        </m:eqArr>
                      </m:e>
                    </m:d>
                  </m:oMath>
                </a14:m>
                <a:r>
                  <a:rPr lang="ru-RU" dirty="0"/>
                  <a:t>      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 </m:t>
                    </m:r>
                  </m:oMath>
                </a14:m>
                <a:r>
                  <a:rPr lang="ru-RU" dirty="0"/>
                  <a:t>   Будем решать вспомогательную задачу </a:t>
                </a:r>
              </a:p>
              <a:p>
                <a:pPr marL="0" indent="0">
                  <a:buNone/>
                </a:pPr>
                <a:r>
                  <a:rPr lang="en-US" dirty="0"/>
                  <a:t>W</a:t>
                </a:r>
                <a:r>
                  <a:rPr lang="ru-RU" dirty="0"/>
                  <a:t>=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ru-RU" dirty="0"/>
                  <a:t>     </a:t>
                </a:r>
                <a:r>
                  <a:rPr lang="ru-RU" dirty="0">
                    <a:sym typeface="Symbol"/>
                  </a:rPr>
                  <a:t></a:t>
                </a:r>
                <a:r>
                  <a:rPr lang="ru-RU" dirty="0"/>
                  <a:t> </a:t>
                </a:r>
                <a:r>
                  <a:rPr lang="en-US" dirty="0"/>
                  <a:t>min</a:t>
                </a:r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=3−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=27−3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−2,17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=22−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−2,67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𝑊</m:t>
                      </m:r>
                      <m:r>
                        <a:rPr lang="en-US" i="1">
                          <a:latin typeface="Cambria Math"/>
                        </a:rPr>
                        <m:t>=−4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−5,84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+52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6632"/>
                <a:ext cx="8784976" cy="6624736"/>
              </a:xfrm>
              <a:blipFill rotWithShape="0">
                <a:blip r:embed="rId2"/>
                <a:stretch>
                  <a:fillRect l="-1595" t="-18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552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0"/>
                <a:ext cx="8856984" cy="6858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r>
                  <a:rPr lang="ru-RU" sz="2600" dirty="0"/>
                  <a:t>Выбираем большую по модулю отрицательную </a:t>
                </a:r>
                <a:r>
                  <a:rPr lang="ru-RU" sz="2600" dirty="0">
                    <a:sym typeface="Symbol"/>
                  </a:rPr>
                  <a:t></a:t>
                </a:r>
                <a:r>
                  <a:rPr lang="ru-RU" sz="2600" dirty="0"/>
                  <a:t>. Видим, что при увеличении </a:t>
                </a:r>
                <a:r>
                  <a:rPr lang="en-US" sz="2600" dirty="0"/>
                  <a:t>x</a:t>
                </a:r>
                <a:r>
                  <a:rPr lang="ru-RU" sz="2600" baseline="-25000" dirty="0"/>
                  <a:t>2  </a:t>
                </a:r>
                <a:r>
                  <a:rPr lang="ru-RU" sz="2600" dirty="0"/>
                  <a:t>быстрее всего до нуля доходит </a:t>
                </a:r>
                <a:r>
                  <a:rPr lang="en-US" sz="2600" dirty="0"/>
                  <a:t>y</a:t>
                </a:r>
                <a:r>
                  <a:rPr lang="ru-RU" sz="2600" baseline="-25000" dirty="0"/>
                  <a:t>1</a:t>
                </a:r>
                <a:r>
                  <a:rPr lang="ru-RU" sz="2600" dirty="0"/>
                  <a:t>.Меняем </a:t>
                </a:r>
                <a:r>
                  <a:rPr lang="en-US" sz="2600" dirty="0"/>
                  <a:t>y</a:t>
                </a:r>
                <a:r>
                  <a:rPr lang="ru-RU" sz="2600" baseline="-25000" dirty="0"/>
                  <a:t>1 </a:t>
                </a:r>
                <a:r>
                  <a:rPr lang="ru-RU" sz="2600" dirty="0"/>
                  <a:t>и </a:t>
                </a:r>
                <a:r>
                  <a:rPr lang="en-US" sz="2600" dirty="0"/>
                  <a:t>x</a:t>
                </a:r>
                <a:r>
                  <a:rPr lang="ru-RU" sz="2600" baseline="-25000" dirty="0"/>
                  <a:t>2 </a:t>
                </a:r>
                <a:r>
                  <a:rPr lang="ru-RU" sz="2600" dirty="0"/>
                  <a:t>местами.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ru-RU" sz="2600" i="1">
                          <a:latin typeface="Cambria Math"/>
                        </a:rPr>
                        <m:t>=3+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ru-RU" sz="26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ru-RU" sz="2600" i="1">
                          <a:latin typeface="Cambria Math"/>
                        </a:rPr>
                        <m:t>=27−3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ru-RU" sz="2600" i="1">
                          <a:latin typeface="Cambria Math"/>
                        </a:rPr>
                        <m:t>−2,17</m:t>
                      </m:r>
                      <m:d>
                        <m:d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600" i="1">
                              <a:latin typeface="Cambria Math"/>
                            </a:rPr>
                            <m:t>3+</m:t>
                          </m:r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6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ru-RU" sz="26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26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ru-RU" sz="26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ru-RU" sz="26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ru-RU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600" i="1">
                          <a:latin typeface="Cambria Math"/>
                        </a:rPr>
                        <m:t>=20,49−3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ru-RU" sz="2600" i="1">
                          <a:latin typeface="Cambria Math"/>
                        </a:rPr>
                        <m:t>−2,17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ru-RU" sz="2600" i="1">
                          <a:latin typeface="Cambria Math"/>
                        </a:rPr>
                        <m:t>+2,17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ru-RU" sz="26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ru-RU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ru-RU" sz="2600" i="1">
                          <a:latin typeface="Cambria Math"/>
                        </a:rPr>
                        <m:t>=22−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ru-RU" sz="2600" i="1">
                          <a:latin typeface="Cambria Math"/>
                        </a:rPr>
                        <m:t>−2,67</m:t>
                      </m:r>
                      <m:d>
                        <m:d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600" i="1">
                              <a:latin typeface="Cambria Math"/>
                            </a:rPr>
                            <m:t>3+</m:t>
                          </m:r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6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ru-RU" sz="26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26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ru-RU" sz="26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ru-RU" sz="26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ru-RU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=13,99−</m:t>
                          </m:r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ru-RU" sz="2600" i="1">
                          <a:latin typeface="Cambria Math"/>
                        </a:rPr>
                        <m:t>−2,67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ru-RU" sz="2600" i="1">
                          <a:latin typeface="Cambria Math"/>
                        </a:rPr>
                        <m:t>+2,67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ru-RU" sz="26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ru-RU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600">
                              <a:latin typeface="Cambria Math"/>
                            </a:rPr>
                            <m:t>W</m:t>
                          </m:r>
                          <m:r>
                            <a:rPr lang="en-US" sz="2600">
                              <a:latin typeface="Cambria Math"/>
                            </a:rPr>
                            <m:t>=</m:t>
                          </m:r>
                          <m:r>
                            <a:rPr lang="en-US" sz="2600" i="1">
                              <a:latin typeface="Cambria Math"/>
                            </a:rPr>
                            <m:t>−</m:t>
                          </m:r>
                          <m:r>
                            <a:rPr lang="en-US" sz="2600">
                              <a:latin typeface="Cambria Math"/>
                            </a:rPr>
                            <m:t>4</m:t>
                          </m:r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600" i="1">
                          <a:latin typeface="Cambria Math"/>
                        </a:rPr>
                        <m:t>−5,84</m:t>
                      </m:r>
                      <m:d>
                        <m:d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600" i="1">
                              <a:latin typeface="Cambria Math"/>
                            </a:rPr>
                            <m:t>3+</m:t>
                          </m:r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6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ru-RU" sz="26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26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6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6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6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2600" i="1">
                          <a:latin typeface="Cambria Math"/>
                        </a:rPr>
                        <m:t>+52=</m:t>
                      </m:r>
                    </m:oMath>
                  </m:oMathPara>
                </a14:m>
                <a:endParaRPr lang="ru-RU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600" i="1">
                          <a:latin typeface="Cambria Math"/>
                        </a:rPr>
                        <m:t>=−4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600" i="1">
                          <a:latin typeface="Cambria Math"/>
                        </a:rPr>
                        <m:t>+5,84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600" i="1">
                          <a:latin typeface="Cambria Math"/>
                        </a:rPr>
                        <m:t>−4,84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6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6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600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2600" i="1">
                          <a:latin typeface="Cambria Math"/>
                        </a:rPr>
                        <m:t>+34,48</m:t>
                      </m:r>
                    </m:oMath>
                  </m:oMathPara>
                </a14:m>
                <a:endParaRPr lang="ru-RU" sz="26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0"/>
                <a:ext cx="8856984" cy="6858000"/>
              </a:xfrm>
              <a:blipFill rotWithShape="1">
                <a:blip r:embed="rId2"/>
                <a:stretch>
                  <a:fillRect l="-11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16632"/>
            <a:ext cx="5544616" cy="2308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37818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0"/>
                <a:ext cx="8928992" cy="685800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spcBef>
                    <a:spcPts val="0"/>
                  </a:spcBef>
                  <a:buNone/>
                </a:pPr>
                <a:endParaRPr lang="ru-RU" dirty="0"/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dirty="0"/>
                  <a:t>Выбираем большую по модулю отрицательную </a:t>
                </a:r>
                <a:r>
                  <a:rPr lang="ru-RU" dirty="0">
                    <a:sym typeface="Symbol"/>
                  </a:rPr>
                  <a:t></a:t>
                </a:r>
                <a:r>
                  <a:rPr lang="ru-RU" dirty="0"/>
                  <a:t>. Видим, что при увеличении </a:t>
                </a:r>
                <a:r>
                  <a:rPr lang="en-US" dirty="0"/>
                  <a:t>x</a:t>
                </a:r>
                <a:r>
                  <a:rPr lang="ru-RU" baseline="-25000" dirty="0"/>
                  <a:t>3  </a:t>
                </a:r>
                <a:r>
                  <a:rPr lang="ru-RU" dirty="0"/>
                  <a:t>быстрее всего до нуля доходит </a:t>
                </a:r>
                <a:r>
                  <a:rPr lang="en-US" dirty="0"/>
                  <a:t>y</a:t>
                </a:r>
                <a:r>
                  <a:rPr lang="ru-RU" baseline="-25000" dirty="0"/>
                  <a:t>3</a:t>
                </a:r>
                <a:r>
                  <a:rPr lang="ru-RU" dirty="0"/>
                  <a:t>.Меняем </a:t>
                </a:r>
                <a:r>
                  <a:rPr lang="en-US" dirty="0"/>
                  <a:t>y</a:t>
                </a:r>
                <a:r>
                  <a:rPr lang="ru-RU" baseline="-25000" dirty="0"/>
                  <a:t>3 </a:t>
                </a:r>
                <a:r>
                  <a:rPr lang="ru-RU" dirty="0"/>
                  <a:t>и </a:t>
                </a:r>
                <a:r>
                  <a:rPr lang="en-US" dirty="0"/>
                  <a:t>x</a:t>
                </a:r>
                <a:r>
                  <a:rPr lang="ru-RU" baseline="-25000" dirty="0"/>
                  <a:t>3  </a:t>
                </a:r>
                <a:r>
                  <a:rPr lang="ru-RU" dirty="0"/>
                  <a:t>местами.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=−0,375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−0,375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+0,375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+5,24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ru-RU" i="1">
                        <a:latin typeface="Cambria Math"/>
                      </a:rPr>
                      <m:t>3+(</m:t>
                    </m:r>
                    <m:r>
                      <a:rPr lang="en-US" i="1">
                        <a:latin typeface="Cambria Math"/>
                      </a:rPr>
                      <m:t>−0,375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−0,375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+0,375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+5,24</m:t>
                    </m:r>
                    <m:r>
                      <a:rPr lang="ru-RU" i="1">
                        <a:latin typeface="Cambria Math"/>
                      </a:rPr>
                      <m:t>)−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</a:t>
                </a:r>
                <a:endParaRPr lang="ru-RU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=8,24−0,375</m:t>
                          </m:r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−0,375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+0,375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=20,37−</m:t>
                    </m:r>
                    <m:r>
                      <a:rPr lang="ru-RU" i="1">
                        <a:latin typeface="Cambria Math"/>
                      </a:rPr>
                      <m:t>3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u-RU" i="1">
                        <a:latin typeface="Cambria Math"/>
                      </a:rPr>
                      <m:t>−2,21</m:t>
                    </m:r>
                    <m:r>
                      <a:rPr lang="en-US" i="1">
                        <a:latin typeface="Cambria Math"/>
                      </a:rPr>
                      <m:t>(−0,375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−0,375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+0,375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+</a:t>
                </a:r>
                <a:endParaRPr lang="ru-RU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+5,24)</m:t>
                      </m:r>
                      <m:r>
                        <a:rPr lang="ru-RU" i="1">
                          <a:latin typeface="Cambria Math"/>
                        </a:rPr>
                        <m:t>+2,17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=9,119−2,186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+0,814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−0,814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W</m:t>
                      </m:r>
                      <m:r>
                        <a:rPr lang="ru-RU" i="1">
                          <a:latin typeface="Cambria Math"/>
                        </a:rPr>
                        <m:t>=−4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+5,84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−4,84(</m:t>
                      </m:r>
                      <m:r>
                        <a:rPr lang="ru-RU" i="1">
                          <a:latin typeface="Cambria Math"/>
                        </a:rPr>
                        <m:t>+(</m:t>
                      </m:r>
                      <m:r>
                        <a:rPr lang="en-US" i="1">
                          <a:latin typeface="Cambria Math"/>
                        </a:rPr>
                        <m:t>−0,375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−0,375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+0,375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+5,24)+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+34,48=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=−2,185</m:t>
                          </m:r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+1,815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−0,815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+9,089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0"/>
                <a:ext cx="8928992" cy="6858000"/>
              </a:xfrm>
              <a:blipFill rotWithShape="1">
                <a:blip r:embed="rId2"/>
                <a:stretch>
                  <a:fillRect l="-11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0"/>
            <a:ext cx="5472608" cy="21257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1682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0"/>
                <a:ext cx="8856984" cy="6858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400" dirty="0"/>
              </a:p>
              <a:p>
                <a:pPr marL="0" indent="0">
                  <a:buNone/>
                </a:pPr>
                <a:endParaRPr lang="ru-RU" sz="2400" dirty="0"/>
              </a:p>
              <a:p>
                <a:pPr marL="0" indent="0">
                  <a:buNone/>
                </a:pPr>
                <a:r>
                  <a:rPr lang="ru-RU" sz="2400" dirty="0"/>
                  <a:t>Выбираем большую по модулю отрицательную </a:t>
                </a:r>
                <a:r>
                  <a:rPr lang="ru-RU" sz="2400" dirty="0">
                    <a:sym typeface="Symbol"/>
                  </a:rPr>
                  <a:t></a:t>
                </a:r>
                <a:r>
                  <a:rPr lang="ru-RU" sz="2400" dirty="0"/>
                  <a:t>. Видим, что при увеличении </a:t>
                </a:r>
                <a:r>
                  <a:rPr lang="en-US" sz="2400" dirty="0"/>
                  <a:t>x</a:t>
                </a:r>
                <a:r>
                  <a:rPr lang="ru-RU" sz="2400" baseline="-25000" dirty="0"/>
                  <a:t>1  </a:t>
                </a:r>
                <a:r>
                  <a:rPr lang="ru-RU" sz="2400" dirty="0"/>
                  <a:t>быстрее всего до нуля доходит </a:t>
                </a:r>
                <a:r>
                  <a:rPr lang="en-US" sz="2400" dirty="0"/>
                  <a:t>y</a:t>
                </a:r>
                <a:r>
                  <a:rPr lang="ru-RU" sz="2400" baseline="-25000" dirty="0"/>
                  <a:t>2</a:t>
                </a:r>
                <a:r>
                  <a:rPr lang="ru-RU" sz="2400" dirty="0"/>
                  <a:t>.Меняем </a:t>
                </a:r>
                <a:r>
                  <a:rPr lang="en-US" sz="2400" dirty="0"/>
                  <a:t>y</a:t>
                </a:r>
                <a:r>
                  <a:rPr lang="en-US" sz="2400" baseline="-25000" dirty="0"/>
                  <a:t>2 </a:t>
                </a:r>
                <a:r>
                  <a:rPr lang="ru-RU" sz="2400" dirty="0"/>
                  <a:t>и </a:t>
                </a:r>
                <a:r>
                  <a:rPr lang="en-US" sz="2400" dirty="0"/>
                  <a:t>x</a:t>
                </a:r>
                <a:r>
                  <a:rPr lang="en-US" sz="2400" baseline="-25000" dirty="0"/>
                  <a:t>1</a:t>
                </a:r>
                <a:r>
                  <a:rPr lang="ru-RU" sz="2400" baseline="-25000" dirty="0"/>
                  <a:t>  </a:t>
                </a:r>
                <a:r>
                  <a:rPr lang="ru-RU" sz="2400" dirty="0"/>
                  <a:t>местами.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=−0,457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+0,372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+0,457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−0,372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+4,17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=−0,375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−0,457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+0,372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+0,457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−0,372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+4,17</m:t>
                          </m:r>
                        </m:e>
                      </m:d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−0,375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+0,375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ru-RU" sz="2400" i="1">
                          <a:latin typeface="Cambria Math"/>
                        </a:rPr>
                        <m:t>+8,24=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=0,171</m:t>
                          </m:r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ru-RU" sz="2400" i="1">
                          <a:latin typeface="Cambria Math"/>
                        </a:rPr>
                        <m:t>−0,515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ru-RU" sz="2400" i="1">
                          <a:latin typeface="Cambria Math"/>
                        </a:rPr>
                        <m:t>−</m:t>
                      </m:r>
                      <m:r>
                        <a:rPr lang="en-US" sz="2400" i="1">
                          <a:latin typeface="Cambria Math"/>
                        </a:rPr>
                        <m:t>0,171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ru-RU" sz="2400" i="1">
                          <a:latin typeface="Cambria Math"/>
                        </a:rPr>
                        <m:t>+0,515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ru-RU" sz="2400" i="1">
                          <a:latin typeface="Cambria Math"/>
                        </a:rPr>
                        <m:t>+6,678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=−0,375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−0,457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+0,372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+0,457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−0,372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+4,17</m:t>
                          </m:r>
                        </m:e>
                      </m:d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−0,375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+0,375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+5,24=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=0,171</m:t>
                          </m:r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−0,515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−0,171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+0,515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+3,678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/>
                        </a:rPr>
                        <m:t>W</m:t>
                      </m:r>
                      <m:r>
                        <a:rPr lang="ru-RU" sz="2400" i="1">
                          <a:latin typeface="Cambria Math"/>
                        </a:rPr>
                        <m:t>=−</m:t>
                      </m:r>
                      <m:r>
                        <a:rPr lang="en-US" sz="2400" i="1">
                          <a:latin typeface="Cambria Math"/>
                        </a:rPr>
                        <m:t>2,185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−0,457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+0,372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+0,457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−0,372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+4,17</m:t>
                          </m:r>
                        </m:e>
                      </m:d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+1,815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−0,815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+9,089=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0"/>
                <a:ext cx="8856984" cy="6858000"/>
              </a:xfrm>
              <a:blipFill rotWithShape="1">
                <a:blip r:embed="rId2"/>
                <a:stretch>
                  <a:fillRect l="-1101" r="-48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4721"/>
            <a:ext cx="6912768" cy="2209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6899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6632"/>
                <a:ext cx="8784976" cy="662473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r>
                  <a:rPr lang="ru-RU" sz="2800" dirty="0"/>
                  <a:t>Видим, что выполнен критерий оптимальности: все </a:t>
                </a:r>
                <a:r>
                  <a:rPr lang="ru-RU" sz="2800" dirty="0">
                    <a:sym typeface="Symbol"/>
                  </a:rPr>
                  <a:t></a:t>
                </a:r>
                <a:r>
                  <a:rPr lang="ru-RU" sz="2800" dirty="0"/>
                  <a:t>0. Вспомогательная задача решена. Вернёмся теперь к исходной задаче. Выбросим вспомогательные переменные </a:t>
                </a:r>
                <a:r>
                  <a:rPr lang="en-US" sz="2800" dirty="0"/>
                  <a:t>y</a:t>
                </a:r>
                <a:r>
                  <a:rPr lang="ru-RU" sz="2800" baseline="-25000" dirty="0"/>
                  <a:t>1</a:t>
                </a:r>
                <a:r>
                  <a:rPr lang="ru-RU" sz="2800" dirty="0"/>
                  <a:t>, </a:t>
                </a:r>
                <a:r>
                  <a:rPr lang="en-US" sz="2800" dirty="0"/>
                  <a:t>y</a:t>
                </a:r>
                <a:r>
                  <a:rPr lang="ru-RU" sz="2800" baseline="-25000" dirty="0"/>
                  <a:t>2</a:t>
                </a:r>
                <a:r>
                  <a:rPr lang="ru-RU" sz="2800" dirty="0"/>
                  <a:t>, </a:t>
                </a:r>
                <a:r>
                  <a:rPr lang="en-US" sz="2800" dirty="0"/>
                  <a:t>y</a:t>
                </a:r>
                <a:r>
                  <a:rPr lang="ru-RU" sz="2800" baseline="-25000" dirty="0"/>
                  <a:t>3 , </a:t>
                </a:r>
                <a:r>
                  <a:rPr lang="ru-RU" sz="2800" dirty="0"/>
                  <a:t>так как они нам больше не понадобятся.</a:t>
                </a:r>
              </a:p>
              <a:p>
                <a:pPr marL="0" indent="0">
                  <a:buNone/>
                </a:pPr>
                <a:r>
                  <a:rPr lang="ru-RU" sz="2800" dirty="0"/>
                  <a:t> 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=4,17+0,457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−0,372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=6,678−0,171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+0,515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=3,678−0,171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+0,515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𝑓</m:t>
                          </m:r>
                          <m:r>
                            <a:rPr lang="en-US" sz="2800" i="1">
                              <a:latin typeface="Cambria Math"/>
                            </a:rPr>
                            <m:t>=0,1</m:t>
                          </m:r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+0,255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=0,1</m:t>
                      </m:r>
                      <m:d>
                        <m:d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4,17+0,457</m:t>
                          </m:r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800" i="1">
                              <a:latin typeface="Cambria Math"/>
                            </a:rPr>
                            <m:t>−0,372</m:t>
                          </m:r>
                          <m:sSub>
                            <m:sSub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+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0,255</m:t>
                    </m:r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6,678−0,1761+0,515</m:t>
                        </m:r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800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lang="en-US" sz="2800" i="1">
                        <a:latin typeface="Cambria Math"/>
                      </a:rPr>
                      <m:t>=</m:t>
                    </m:r>
                  </m:oMath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=2,11949+0,0021</m:t>
                          </m:r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+0,0941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6632"/>
                <a:ext cx="8784976" cy="6624736"/>
              </a:xfrm>
              <a:blipFill rotWithShape="1">
                <a:blip r:embed="rId2"/>
                <a:stretch>
                  <a:fillRect l="-11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16632"/>
            <a:ext cx="6336704" cy="2054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650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88640"/>
                <a:ext cx="8928992" cy="648072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800" dirty="0"/>
              </a:p>
              <a:p>
                <a:pPr marL="0" indent="0">
                  <a:buNone/>
                </a:pPr>
                <a:r>
                  <a:rPr lang="ru-RU" sz="2800" dirty="0"/>
                  <a:t>Обе характеристические разности отрицательные. Найдено оптимальное решение.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ru-RU" sz="2800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ru-RU" sz="2800" i="1">
                          <a:latin typeface="Cambria Math"/>
                        </a:rPr>
                        <m:t>=4,17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2</m:t>
                          </m:r>
                        </m:sub>
                        <m:sup>
                          <m:r>
                            <a:rPr lang="ru-RU" sz="2800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ru-RU" sz="2800" i="1">
                          <a:latin typeface="Cambria Math"/>
                        </a:rPr>
                        <m:t>=6,678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𝑓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sz="2800" i="1">
                          <a:latin typeface="Cambria Math"/>
                        </a:rPr>
                        <m:t>=2,11949≈2,12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88640"/>
                <a:ext cx="8928992" cy="6480720"/>
              </a:xfrm>
              <a:blipFill rotWithShape="1">
                <a:blip r:embed="rId2"/>
                <a:stretch>
                  <a:fillRect l="-14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7126"/>
            <a:ext cx="5610026" cy="2655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9617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6632"/>
                <a:ext cx="8856984" cy="6624736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sz="2800" dirty="0"/>
                  <a:t>V. </a:t>
                </a:r>
                <a:r>
                  <a:rPr lang="ru-RU" sz="2800" b="1" dirty="0"/>
                  <a:t>Решение двойственной задачи.</a:t>
                </a:r>
              </a:p>
              <a:p>
                <a:pPr marL="0" indent="0">
                  <a:buNone/>
                </a:pPr>
                <a:r>
                  <a:rPr lang="ru-RU" sz="2800" dirty="0"/>
                  <a:t>Прямая задача:</a:t>
                </a:r>
              </a:p>
              <a:p>
                <a:pPr marL="0" indent="0">
                  <a:buNone/>
                </a:pPr>
                <a:r>
                  <a:rPr lang="en-US" sz="2800" dirty="0"/>
                  <a:t>min</a:t>
                </a:r>
                <a:r>
                  <a:rPr lang="ru-RU" sz="2800" dirty="0"/>
                  <a:t>{</a:t>
                </a:r>
                <a:r>
                  <a:rPr lang="en-US" sz="2800" dirty="0"/>
                  <a:t>C</a:t>
                </a:r>
                <a:r>
                  <a:rPr lang="en-US" sz="2800" baseline="30000" dirty="0"/>
                  <a:t>T</a:t>
                </a:r>
                <a:r>
                  <a:rPr lang="en-US" sz="2800" dirty="0"/>
                  <a:t>X</a:t>
                </a:r>
                <a:r>
                  <a:rPr lang="ru-RU" sz="2800" dirty="0"/>
                  <a:t> | </a:t>
                </a:r>
                <a:r>
                  <a:rPr lang="en-US" sz="2800" dirty="0"/>
                  <a:t>AX</a:t>
                </a:r>
                <a:r>
                  <a:rPr lang="en-US" sz="2800" dirty="0">
                    <a:sym typeface="Symbol"/>
                  </a:rPr>
                  <a:t></a:t>
                </a:r>
                <a:r>
                  <a:rPr lang="en-US" sz="2800" dirty="0"/>
                  <a:t>B</a:t>
                </a:r>
                <a:r>
                  <a:rPr lang="ru-RU" sz="2800" dirty="0"/>
                  <a:t>, </a:t>
                </a:r>
                <a:r>
                  <a:rPr lang="en-US" sz="2800" dirty="0"/>
                  <a:t>X</a:t>
                </a:r>
                <a:r>
                  <a:rPr lang="en-US" sz="2800" dirty="0">
                    <a:sym typeface="Symbol"/>
                  </a:rPr>
                  <a:t></a:t>
                </a:r>
                <a:r>
                  <a:rPr lang="ru-RU" sz="2800" dirty="0"/>
                  <a:t>0}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ru-RU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800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2800" i="1">
                                <a:latin typeface="Cambria Math"/>
                              </a:rPr>
                              <m:t>≥0,003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8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2800" i="1">
                                <a:latin typeface="Cambria Math"/>
                              </a:rPr>
                              <m:t>≥0</m:t>
                            </m:r>
                          </m:e>
                          <m:e>
                            <m:r>
                              <a:rPr lang="ru-RU" sz="2800" i="1">
                                <a:latin typeface="Cambria Math"/>
                              </a:rPr>
                              <m:t>0,003</m:t>
                            </m:r>
                            <m:sSub>
                              <m:sSubPr>
                                <m:ctrlPr>
                                  <a:rPr lang="ru-RU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8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2800" i="1">
                                <a:latin typeface="Cambria Math"/>
                              </a:rPr>
                              <m:t>+0,00217</m:t>
                            </m:r>
                            <m:sSub>
                              <m:sSubPr>
                                <m:ctrlPr>
                                  <a:rPr lang="ru-RU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800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2800" i="1">
                                <a:latin typeface="Cambria Math"/>
                              </a:rPr>
                              <m:t>≥0,027</m:t>
                            </m:r>
                          </m:e>
                          <m:e>
                            <m:sSub>
                              <m:sSubPr>
                                <m:ctrlPr>
                                  <a:rPr lang="ru-RU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8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2800" i="1">
                                <a:latin typeface="Cambria Math"/>
                              </a:rPr>
                              <m:t>+0,00267</m:t>
                            </m:r>
                            <m:sSub>
                              <m:sSubPr>
                                <m:ctrlPr>
                                  <a:rPr lang="ru-RU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sz="2800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2800" i="1">
                                <a:latin typeface="Cambria Math"/>
                              </a:rPr>
                              <m:t>≥0,022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sz="2800" dirty="0"/>
                  <a:t>                       </a:t>
                </a:r>
              </a:p>
              <a:p>
                <a:pPr marL="0" indent="0">
                  <a:buNone/>
                </a:pPr>
                <a:r>
                  <a:rPr lang="ru-RU" sz="2800" dirty="0"/>
                  <a:t>и  функционал </a:t>
                </a:r>
                <a:r>
                  <a:rPr lang="en-US" sz="2800" dirty="0"/>
                  <a:t>min</a:t>
                </a:r>
                <a:r>
                  <a:rPr lang="ru-RU" sz="2800" dirty="0"/>
                  <a:t>{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0,1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+0,255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}</m:t>
                    </m:r>
                  </m:oMath>
                </a14:m>
                <a:endParaRPr lang="ru-RU" sz="2800" dirty="0"/>
              </a:p>
              <a:p>
                <a:pPr marL="0" indent="0">
                  <a:buNone/>
                </a:pPr>
                <a:endParaRPr lang="ru-RU" sz="2800" dirty="0"/>
              </a:p>
              <a:p>
                <a:pPr marL="0" indent="0">
                  <a:buNone/>
                </a:pPr>
                <a:r>
                  <a:rPr lang="ru-RU" sz="2800" dirty="0"/>
                  <a:t>Построим двойственную задачу:</a:t>
                </a:r>
              </a:p>
              <a:p>
                <a:pPr marL="0" indent="0">
                  <a:buNone/>
                </a:pPr>
                <a:r>
                  <a:rPr lang="en-US" sz="2800" dirty="0"/>
                  <a:t>max</a:t>
                </a:r>
                <a:r>
                  <a:rPr lang="ru-RU" sz="2800" dirty="0"/>
                  <a:t>{</a:t>
                </a:r>
                <a:r>
                  <a:rPr lang="en-US" sz="2800" dirty="0"/>
                  <a:t>B</a:t>
                </a:r>
                <a:r>
                  <a:rPr lang="en-US" sz="2800" baseline="30000" dirty="0"/>
                  <a:t>T</a:t>
                </a:r>
                <a:r>
                  <a:rPr lang="ru-RU" sz="2800" i="1" dirty="0">
                    <a:sym typeface="Symbol"/>
                  </a:rPr>
                  <a:t></a:t>
                </a:r>
                <a:r>
                  <a:rPr lang="ru-RU" sz="2800" dirty="0"/>
                  <a:t> | </a:t>
                </a:r>
                <a:r>
                  <a:rPr lang="en-US" sz="2800" dirty="0"/>
                  <a:t>A</a:t>
                </a:r>
                <a:r>
                  <a:rPr lang="en-US" sz="2800" baseline="30000" dirty="0"/>
                  <a:t>T</a:t>
                </a:r>
                <a:r>
                  <a:rPr lang="ru-RU" sz="2800" i="1" dirty="0">
                    <a:sym typeface="Symbol"/>
                  </a:rPr>
                  <a:t></a:t>
                </a:r>
                <a:r>
                  <a:rPr lang="ru-RU" sz="2800" dirty="0">
                    <a:sym typeface="Symbol"/>
                  </a:rPr>
                  <a:t></a:t>
                </a:r>
                <a:r>
                  <a:rPr lang="en-US" sz="2800" dirty="0"/>
                  <a:t>C</a:t>
                </a:r>
                <a:r>
                  <a:rPr lang="ru-RU" sz="2800" dirty="0"/>
                  <a:t>,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 </m:t>
                    </m:r>
                    <m:r>
                      <a:rPr lang="ru-RU" sz="2800" i="1">
                        <a:latin typeface="Cambria Math"/>
                        <a:sym typeface="Symbol"/>
                      </a:rPr>
                      <m:t></m:t>
                    </m:r>
                    <m:r>
                      <a:rPr lang="ru-RU" sz="2800" i="1">
                        <a:latin typeface="Cambria Math"/>
                      </a:rPr>
                      <m:t>0}</m:t>
                    </m:r>
                  </m:oMath>
                </a14:m>
                <a:endParaRPr lang="ru-RU" sz="2800" dirty="0"/>
              </a:p>
              <a:p>
                <a:pPr marL="0" indent="0">
                  <a:buNone/>
                </a:pPr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6632"/>
                <a:ext cx="8856984" cy="6624736"/>
              </a:xfrm>
              <a:blipFill rotWithShape="1">
                <a:blip r:embed="rId2"/>
                <a:stretch>
                  <a:fillRect l="-1376" t="-8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908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6632"/>
                <a:ext cx="8856984" cy="66247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i="1" smtClean="0">
                        <a:latin typeface="Cambria Math"/>
                      </a:rPr>
                      <m:t>𝐴</m:t>
                    </m:r>
                    <m:r>
                      <a:rPr lang="ru-RU" sz="2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0,001</m:t>
                              </m:r>
                            </m:e>
                          </m:mr>
                          <m:mr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0,003</m:t>
                              </m:r>
                            </m:e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0,00217</m:t>
                              </m:r>
                            </m:e>
                          </m:mr>
                          <m:mr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0,001</m:t>
                              </m:r>
                            </m:e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0,00267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sz="2800" dirty="0"/>
                  <a:t>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𝐵</m:t>
                    </m:r>
                    <m:r>
                      <a:rPr lang="ru-RU" sz="2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0,003</m:t>
                              </m:r>
                            </m:e>
                          </m:mr>
                          <m:mr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0,027</m:t>
                              </m:r>
                            </m:e>
                          </m:mr>
                          <m:mr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0,022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sz="2800" dirty="0"/>
                  <a:t>   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𝐶</m:t>
                    </m:r>
                    <m:r>
                      <a:rPr lang="ru-RU" sz="2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0,1</m:t>
                              </m:r>
                            </m:e>
                          </m:mr>
                          <m:mr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0,255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sz="2800" dirty="0"/>
                  <a:t>  </a:t>
                </a:r>
              </a:p>
              <a:p>
                <a:pPr marL="0" indent="0">
                  <a:buNone/>
                </a:pPr>
                <a:r>
                  <a:rPr lang="ru-RU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u-RU" sz="2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0,003</m:t>
                              </m:r>
                            </m:e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0,001</m:t>
                              </m:r>
                            </m:e>
                          </m:mr>
                          <m:mr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0,001</m:t>
                              </m:r>
                            </m:e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0,00217</m:t>
                              </m:r>
                            </m:e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0,00267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ru-RU" sz="2800" dirty="0"/>
              </a:p>
              <a:p>
                <a:pPr marL="0" indent="0">
                  <a:buNone/>
                </a:pPr>
                <a:endParaRPr lang="ru-RU" sz="2800" dirty="0"/>
              </a:p>
              <a:p>
                <a:pPr marL="0" indent="0">
                  <a:buNone/>
                </a:pPr>
                <a:r>
                  <a:rPr lang="ru-RU" sz="2800" dirty="0"/>
                  <a:t>Двойственная задача имеет вид:</a:t>
                </a:r>
              </a:p>
              <a:p>
                <a:pPr marL="0" indent="0">
                  <a:buNone/>
                </a:pPr>
                <a:endParaRPr lang="ru-RU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ru-RU" sz="2800">
                            <a:latin typeface="Cambria Math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800" i="1">
                                <a:latin typeface="Cambria Math"/>
                              </a:rPr>
                              <m:t>0,003</m:t>
                            </m:r>
                            <m:sSub>
                              <m:sSubPr>
                                <m:ctrlPr>
                                  <a:rPr lang="ru-RU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800" i="1">
                                    <a:latin typeface="Cambria Math"/>
                                    <a:sym typeface="Symbol"/>
                                  </a:rPr>
                                  <m:t></m:t>
                                </m:r>
                              </m:e>
                              <m:sub>
                                <m:r>
                                  <a:rPr lang="ru-RU" sz="28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sz="2800" i="1">
                                <a:latin typeface="Cambria Math"/>
                              </a:rPr>
                              <m:t>+0,027</m:t>
                            </m:r>
                            <m:sSub>
                              <m:sSubPr>
                                <m:ctrlPr>
                                  <a:rPr lang="ru-RU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800" i="1">
                                    <a:latin typeface="Cambria Math"/>
                                    <a:sym typeface="Symbol"/>
                                  </a:rPr>
                                  <m:t></m:t>
                                </m:r>
                              </m:e>
                              <m:sub>
                                <m:r>
                                  <a:rPr lang="ru-RU" sz="2800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sz="2800" i="1">
                                <a:latin typeface="Cambria Math"/>
                              </a:rPr>
                              <m:t>+0,022</m:t>
                            </m:r>
                            <m:sSub>
                              <m:sSubPr>
                                <m:ctrlPr>
                                  <a:rPr lang="ru-RU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800" i="1">
                                    <a:latin typeface="Cambria Math"/>
                                    <a:sym typeface="Symbol"/>
                                  </a:rPr>
                                  <m:t></m:t>
                                </m:r>
                              </m:e>
                              <m:sub>
                                <m:r>
                                  <a:rPr lang="ru-RU" sz="2800" i="1">
                                    <a:latin typeface="Cambria Math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ru-RU" sz="2800" i="1">
                        <a:latin typeface="Cambria Math"/>
                      </a:rPr>
                      <m:t> </m:t>
                    </m:r>
                  </m:oMath>
                </a14:m>
                <a:r>
                  <a:rPr lang="ru-RU" sz="2800" dirty="0"/>
                  <a:t> при ограничениях: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0,003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latin typeface="Cambria Math"/>
                                    </a:rPr>
                                    <m:t>0,001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  <m:r>
                                    <a:rPr lang="en-US" sz="2800" i="1"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/>
                                </a:rPr>
                                <m:t>≤0,1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/>
                                </a:rPr>
                                <m:t>+0,00217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/>
                                </a:rPr>
                                <m:t>+0,00267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/>
                                </a:rPr>
                                <m:t>≤0,255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/>
                                </a:rPr>
                                <m:t>≥0, 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=</m:t>
                              </m:r>
                              <m:acc>
                                <m:accPr>
                                  <m:chr m:val="̅"/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latin typeface="Cambria Math"/>
                                    </a:rPr>
                                    <m:t>1,3</m:t>
                                  </m:r>
                                </m:e>
                              </m:acc>
                            </m:e>
                          </m:eqArr>
                        </m:e>
                      </m:d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6632"/>
                <a:ext cx="8856984" cy="6624736"/>
              </a:xfrm>
              <a:blipFill rotWithShape="1">
                <a:blip r:embed="rId2"/>
                <a:stretch>
                  <a:fillRect l="-13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1014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6632"/>
                <a:ext cx="8856984" cy="66247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800" dirty="0"/>
                  <a:t>Решим двойственную задачу Симплекс-методом. </a:t>
                </a:r>
              </a:p>
              <a:p>
                <a:pPr marL="0" indent="0">
                  <a:buNone/>
                </a:pPr>
                <a:r>
                  <a:rPr lang="ru-RU" sz="2800" dirty="0"/>
                  <a:t>Приведём к каноническому виду, введя дополнительные переменные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ru-RU" sz="28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800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r>
                  <a:rPr lang="ru-RU" sz="2800" dirty="0"/>
                  <a:t>. При этом выберем эти переменные так, чтобы при их прибавлении к левым частям соотношений неравенства превращались в равенства.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/>
                                </a:rPr>
                                <m:t>=100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/>
                                </a:rPr>
                                <m:t>+2,17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/>
                                </a:rPr>
                                <m:t>+2,67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ru-RU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latin typeface="Cambria Math"/>
                                      <a:sym typeface="Symbol"/>
                                    </a:rPr>
                                    <m:t>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800" i="1">
                                  <a:latin typeface="Cambria Math"/>
                                </a:rPr>
                                <m:t>=255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endParaRPr lang="ru-RU" sz="2800" dirty="0"/>
              </a:p>
              <a:p>
                <a:pPr marL="0" indent="0">
                  <a:buNone/>
                </a:pPr>
                <a:r>
                  <a:rPr lang="ru-RU" sz="2800" dirty="0"/>
                  <a:t>Построим симплекс-таблицу: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=−3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+0,1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=−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−2,17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−2,67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+0,255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Д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=3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+27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+22</m:t>
                      </m:r>
                      <m:sSub>
                        <m:sSub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8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6632"/>
                <a:ext cx="8856984" cy="6624736"/>
              </a:xfrm>
              <a:blipFill rotWithShape="1">
                <a:blip r:embed="rId2"/>
                <a:stretch>
                  <a:fillRect l="-1376" t="-828" r="-19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0752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5628"/>
                <a:ext cx="8928992" cy="67357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endParaRPr lang="ru-RU" sz="2600" dirty="0"/>
              </a:p>
              <a:p>
                <a:pPr marL="0" indent="0">
                  <a:buNone/>
                </a:pPr>
                <a:r>
                  <a:rPr lang="ru-RU" sz="2400" dirty="0"/>
                  <a:t>Выбираем наибольшую положительную </a:t>
                </a:r>
                <a:r>
                  <a:rPr lang="ru-RU" sz="2400" dirty="0">
                    <a:sym typeface="Symbol"/>
                  </a:rPr>
                  <a:t></a:t>
                </a:r>
                <a:r>
                  <a:rPr lang="ru-RU" sz="2400" dirty="0"/>
                  <a:t>. Видим, что при увеличении </a:t>
                </a:r>
                <a:r>
                  <a:rPr lang="ru-RU" sz="2400" dirty="0">
                    <a:sym typeface="Symbol"/>
                  </a:rPr>
                  <a:t></a:t>
                </a:r>
                <a:r>
                  <a:rPr lang="ru-RU" sz="2400" baseline="-25000" dirty="0"/>
                  <a:t>2 </a:t>
                </a:r>
                <a:r>
                  <a:rPr lang="ru-RU" sz="2400" dirty="0"/>
                  <a:t>быстрее всего до нуля дойдёт </a:t>
                </a:r>
                <a:r>
                  <a:rPr lang="ru-RU" sz="2400" dirty="0">
                    <a:sym typeface="Symbol"/>
                  </a:rPr>
                  <a:t></a:t>
                </a:r>
                <a:r>
                  <a:rPr lang="ru-RU" sz="2400" baseline="-25000" dirty="0"/>
                  <a:t>4</a:t>
                </a:r>
                <a:r>
                  <a:rPr lang="ru-RU" sz="2400" dirty="0"/>
                  <a:t>. Меняем </a:t>
                </a:r>
                <a:r>
                  <a:rPr lang="ru-RU" sz="2400" dirty="0">
                    <a:sym typeface="Symbol"/>
                  </a:rPr>
                  <a:t></a:t>
                </a:r>
                <a:r>
                  <a:rPr lang="ru-RU" sz="2400" baseline="-25000" dirty="0"/>
                  <a:t>2 </a:t>
                </a:r>
                <a:r>
                  <a:rPr lang="ru-RU" sz="2400" dirty="0"/>
                  <a:t>и</a:t>
                </a:r>
                <a:r>
                  <a:rPr lang="ru-RU" sz="2400" baseline="-25000" dirty="0"/>
                  <a:t> </a:t>
                </a:r>
                <a:r>
                  <a:rPr lang="ru-RU" sz="2400" dirty="0">
                    <a:sym typeface="Symbol"/>
                  </a:rPr>
                  <a:t></a:t>
                </a:r>
                <a:r>
                  <a:rPr lang="ru-RU" sz="2400" baseline="-25000" dirty="0"/>
                  <a:t>4 </a:t>
                </a:r>
                <a:r>
                  <a:rPr lang="ru-RU" sz="2400" dirty="0"/>
                  <a:t>местами.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ru-RU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ru-RU" sz="2400" i="1">
                              <a:latin typeface="Cambria Math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ru-RU" sz="24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a:rPr lang="ru-RU" sz="2400" i="1">
                              <a:latin typeface="Cambria Math"/>
                            </a:rPr>
                            <m:t>+100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=−0,3333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ru-RU" sz="2400" i="1">
                          <a:latin typeface="Cambria Math"/>
                        </a:rPr>
                        <m:t>−0,3333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ru-RU" sz="2400" i="1">
                          <a:latin typeface="Cambria Math"/>
                        </a:rPr>
                        <m:t>+33,33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=−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−2,17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−0,3333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−0,3333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+33,33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−2,67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+255</m:t>
                          </m:r>
                          <m:r>
                            <a:rPr lang="ru-RU" sz="2400" i="1">
                              <a:latin typeface="Cambria Math"/>
                            </a:rPr>
                            <m:t>=−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−1,9467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+0,7233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+182,7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Д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=0,003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+0,027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−0,3333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ru-RU" sz="2400" i="1">
                              <a:latin typeface="Cambria Math"/>
                            </a:rPr>
                            <m:t>−0,3333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a:rPr lang="ru-RU" sz="2400" i="1">
                              <a:latin typeface="Cambria Math"/>
                            </a:rPr>
                            <m:t>+33,33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+0,022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=0,003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+0,013009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−0,0089991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+0,8999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5628"/>
                <a:ext cx="8928992" cy="6735740"/>
              </a:xfrm>
              <a:blipFill rotWithShape="1">
                <a:blip r:embed="rId2"/>
                <a:stretch>
                  <a:fillRect l="-10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5628"/>
            <a:ext cx="6336704" cy="2462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5360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6632"/>
                <a:ext cx="8928992" cy="662473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ru-RU" sz="2400" dirty="0"/>
              </a:p>
              <a:p>
                <a:pPr marL="0" indent="0">
                  <a:buNone/>
                </a:pPr>
                <a:endParaRPr lang="ru-RU" sz="2400" dirty="0"/>
              </a:p>
              <a:p>
                <a:pPr marL="0" indent="0">
                  <a:buNone/>
                </a:pPr>
                <a:endParaRPr lang="ru-RU" sz="2400" dirty="0"/>
              </a:p>
              <a:p>
                <a:pPr marL="0" indent="0">
                  <a:buNone/>
                </a:pPr>
                <a:endParaRPr lang="ru-RU" sz="2400" dirty="0"/>
              </a:p>
              <a:p>
                <a:pPr marL="0" indent="0">
                  <a:buNone/>
                </a:pPr>
                <a:endParaRPr lang="ru-RU" sz="2400" dirty="0"/>
              </a:p>
              <a:p>
                <a:pPr marL="0" indent="0">
                  <a:buNone/>
                </a:pPr>
                <a:r>
                  <a:rPr lang="ru-RU" sz="2400" dirty="0"/>
                  <a:t>Выбираем наибольшую положительную </a:t>
                </a:r>
                <a:r>
                  <a:rPr lang="ru-RU" sz="2400" dirty="0">
                    <a:sym typeface="Symbol"/>
                  </a:rPr>
                  <a:t></a:t>
                </a:r>
                <a:r>
                  <a:rPr lang="ru-RU" sz="2400" dirty="0"/>
                  <a:t>. Видим, что при увеличении </a:t>
                </a:r>
                <a:r>
                  <a:rPr lang="ru-RU" sz="2400" dirty="0">
                    <a:sym typeface="Symbol"/>
                  </a:rPr>
                  <a:t></a:t>
                </a:r>
                <a:r>
                  <a:rPr lang="ru-RU" sz="2400" baseline="-25000" dirty="0"/>
                  <a:t>3 </a:t>
                </a:r>
                <a:r>
                  <a:rPr lang="ru-RU" sz="2400" dirty="0"/>
                  <a:t>быстрее всего до нуля дойдёт </a:t>
                </a:r>
                <a:r>
                  <a:rPr lang="ru-RU" sz="2400" dirty="0">
                    <a:sym typeface="Symbol"/>
                  </a:rPr>
                  <a:t></a:t>
                </a:r>
                <a:r>
                  <a:rPr lang="ru-RU" sz="2400" baseline="-25000" dirty="0"/>
                  <a:t>5</a:t>
                </a:r>
                <a:r>
                  <a:rPr lang="ru-RU" sz="2400" dirty="0"/>
                  <a:t>. Меняем </a:t>
                </a:r>
                <a:r>
                  <a:rPr lang="ru-RU" sz="2400" dirty="0">
                    <a:sym typeface="Symbol"/>
                  </a:rPr>
                  <a:t></a:t>
                </a:r>
                <a:r>
                  <a:rPr lang="ru-RU" sz="2400" baseline="-25000" dirty="0"/>
                  <a:t>3 </a:t>
                </a:r>
                <a:r>
                  <a:rPr lang="ru-RU" sz="2400" dirty="0"/>
                  <a:t>и</a:t>
                </a:r>
                <a:r>
                  <a:rPr lang="ru-RU" sz="2400" baseline="-25000" dirty="0"/>
                  <a:t> </a:t>
                </a:r>
                <a:r>
                  <a:rPr lang="ru-RU" sz="2400" dirty="0">
                    <a:sym typeface="Symbol"/>
                  </a:rPr>
                  <a:t></a:t>
                </a:r>
                <a:r>
                  <a:rPr lang="ru-RU" sz="2400" baseline="-25000" dirty="0"/>
                  <a:t>5 </a:t>
                </a:r>
                <a:r>
                  <a:rPr lang="ru-RU" sz="2400" dirty="0"/>
                  <a:t>местами.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/>
                            </a:rPr>
                            <m:t>1,9467</m:t>
                          </m:r>
                        </m:den>
                      </m:f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+0,7233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+182,7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</a:rPr>
                            <m:t>=−0,5137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+0,372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−0,</m:t>
                      </m:r>
                      <m:r>
                        <a:rPr lang="ru-RU" sz="2400" i="1">
                          <a:latin typeface="Cambria Math"/>
                        </a:rPr>
                        <m:t>5137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+93,85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=−0,3333</m:t>
                      </m:r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/>
                                </a:rPr>
                                <m:t>−0,5137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+0,372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−0,5137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+93,85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/>
                        </a:rPr>
                        <m:t>−0,3333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ru-RU" sz="2400" i="1">
                          <a:latin typeface="Cambria Math"/>
                        </a:rPr>
                        <m:t>+33,33=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/>
                        </a:rPr>
                        <m:t>=0,1712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−0,4573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+0,1712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+0,00202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</a:rPr>
                            <m:t>Д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=0,003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+0,013009(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</a:rPr>
                            <m:t>−0,5137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+0,372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−0,5137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r>
                  <a:rPr lang="en-US" sz="2400" dirty="0"/>
                  <a:t>+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93,85)−0,008999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+0,8999=</m:t>
                    </m:r>
                  </m:oMath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</a:rPr>
                            <m:t>=−0,003683</m:t>
                          </m:r>
                        </m:e>
                        <m:sub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  <m:r>
                            <a:rPr lang="en-US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−0,0041598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−0,006683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5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+2,1203</m:t>
                      </m:r>
                    </m:oMath>
                  </m:oMathPara>
                </a14:m>
                <a:endParaRPr lang="ru-RU" sz="2400" dirty="0"/>
              </a:p>
              <a:p>
                <a:pPr marL="0" indent="0">
                  <a:buNone/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6632"/>
                <a:ext cx="8928992" cy="6624736"/>
              </a:xfrm>
              <a:blipFill rotWithShape="1">
                <a:blip r:embed="rId2"/>
                <a:stretch>
                  <a:fillRect l="-1093" b="-5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16632"/>
            <a:ext cx="5950858" cy="208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2486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6632"/>
                <a:ext cx="8928992" cy="655272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r>
                  <a:rPr lang="ru-RU" sz="2800" dirty="0"/>
                  <a:t>Видим, что выполнен критерий оптимальности: все </a:t>
                </a:r>
                <a:r>
                  <a:rPr lang="ru-RU" sz="2800" dirty="0">
                    <a:sym typeface="Symbol"/>
                  </a:rPr>
                  <a:t></a:t>
                </a:r>
                <a:r>
                  <a:rPr lang="ru-RU" sz="2800" dirty="0"/>
                  <a:t>0.</a:t>
                </a:r>
              </a:p>
              <a:p>
                <a:pPr marL="0" indent="0">
                  <a:buNone/>
                </a:pPr>
                <a:r>
                  <a:rPr lang="ru-RU" sz="2800" dirty="0"/>
                  <a:t>Итак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800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a:rPr lang="ru-RU" sz="2800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sz="2800" i="1">
                        <a:latin typeface="Cambria Math"/>
                      </a:rPr>
                      <m:t>=2,02</m:t>
                    </m:r>
                  </m:oMath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ru-RU" sz="2800" dirty="0"/>
                  <a:t>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800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3</m:t>
                        </m:r>
                      </m:sub>
                      <m:sup>
                        <m:r>
                          <a:rPr lang="ru-RU" sz="2800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93,85</m:t>
                    </m:r>
                  </m:oMath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en-US" sz="2800" dirty="0"/>
                  <a:t>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/>
                          </a:rPr>
                          <m:t>𝑓</m:t>
                        </m:r>
                      </m:e>
                      <m:sup>
                        <m:r>
                          <a:rPr lang="en-US" sz="2800" i="1"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en-US" sz="2800" i="1">
                        <a:latin typeface="Cambria Math"/>
                      </a:rPr>
                      <m:t>=2,1203</m:t>
                    </m:r>
                  </m:oMath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2800" i="1">
                              <a:latin typeface="Cambria Math"/>
                              <a:sym typeface="Symbol"/>
                            </a:rPr>
                            <m:t></m:t>
                          </m:r>
                        </m:e>
                        <m:sub>
                          <m:r>
                            <a:rPr lang="ru-RU" sz="2800" i="1">
                              <a:latin typeface="Cambria Math"/>
                            </a:rPr>
                            <m:t>1</m:t>
                          </m:r>
                        </m:sub>
                        <m:sup>
                          <m:r>
                            <a:rPr lang="ru-RU" sz="2800" i="1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ru-RU" sz="2800" i="1">
                          <a:latin typeface="Cambria Math"/>
                        </a:rPr>
                        <m:t>=</m:t>
                      </m:r>
                      <m:box>
                        <m:box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8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800" i="1"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e>
                      </m:box>
                      <m:d>
                        <m:d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800" i="1">
                              <a:latin typeface="Cambria Math"/>
                            </a:rPr>
                            <m:t>0,027</m:t>
                          </m:r>
                          <m:sSubSup>
                            <m:sSubSup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8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ru-RU" sz="2800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  <m:r>
                            <a:rPr lang="ru-RU" sz="2800" i="1">
                              <a:latin typeface="Cambria Math"/>
                            </a:rPr>
                            <m:t>+0,022</m:t>
                          </m:r>
                          <m:sSubSup>
                            <m:sSubSup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sz="2800" i="1">
                                  <a:latin typeface="Cambria Math"/>
                                  <a:sym typeface="Symbol"/>
                                </a:rPr>
                                <m:t></m:t>
                              </m:r>
                            </m:e>
                            <m:sub>
                              <m:r>
                                <a:rPr lang="ru-RU" sz="2800" i="1">
                                  <a:latin typeface="Cambria Math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ru-RU" sz="2800" i="1"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  <m:r>
                            <a:rPr lang="ru-RU" sz="2800" i="1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US" sz="2800" i="1">
                          <a:latin typeface="Cambria Math"/>
                        </a:rPr>
                        <m:t>=</m:t>
                      </m:r>
                      <m:box>
                        <m:boxPr>
                          <m:ctrlPr>
                            <a:rPr lang="ru-RU" sz="28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ru-RU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8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800" i="1"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e>
                      </m:box>
                      <m:r>
                        <a:rPr lang="ru-RU" sz="2800" i="1">
                          <a:latin typeface="Cambria Math"/>
                        </a:rPr>
                        <m:t>(0,027∗2,02+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>
                          <a:latin typeface="Cambria Math"/>
                        </a:rPr>
                        <m:t>+0,022∗93,85−2,1203)=0</m:t>
                      </m:r>
                    </m:oMath>
                  </m:oMathPara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ru-RU" sz="2800" b="1" dirty="0"/>
                  <a:t>Вывод</a:t>
                </a:r>
                <a:r>
                  <a:rPr lang="ru-RU" sz="2800" dirty="0"/>
                  <a:t>: видим, что во всех трёх методах ответы совпадают. </a:t>
                </a:r>
              </a:p>
              <a:p>
                <a:pPr marL="0" indent="0">
                  <a:buNone/>
                </a:pPr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6632"/>
                <a:ext cx="8928992" cy="6552728"/>
              </a:xfrm>
              <a:blipFill rotWithShape="1">
                <a:blip r:embed="rId2"/>
                <a:stretch>
                  <a:fillRect l="-143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76671"/>
            <a:ext cx="8280920" cy="1993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9442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0"/>
                <a:ext cx="8928992" cy="685800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600" dirty="0"/>
                  <a:t>VI</a:t>
                </a:r>
                <a:r>
                  <a:rPr lang="ru-RU" sz="2600" dirty="0"/>
                  <a:t>. Найдем при какой цене на смесь 1 её будет невыгодно использовать в рационе.</a:t>
                </a:r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endParaRPr lang="en-US" sz="2600" dirty="0"/>
              </a:p>
              <a:p>
                <a:pPr marL="0" indent="0">
                  <a:buNone/>
                </a:pPr>
                <a:r>
                  <a:rPr lang="ru-RU" sz="2600" dirty="0"/>
                  <a:t>Будем поворачивать градиент по часовой стрелке до тех пор, пока он не станет перпендикулярен прямой 3</a:t>
                </a:r>
                <a:r>
                  <a:rPr lang="en-US" sz="2600" dirty="0"/>
                  <a:t>x</a:t>
                </a:r>
                <a:r>
                  <a:rPr lang="ru-RU" sz="2600" baseline="-25000" dirty="0"/>
                  <a:t>1</a:t>
                </a:r>
                <a:r>
                  <a:rPr lang="ru-RU" sz="2600" dirty="0"/>
                  <a:t>+2,17</a:t>
                </a:r>
                <a:r>
                  <a:rPr lang="en-US" sz="2600" dirty="0"/>
                  <a:t>x</a:t>
                </a:r>
                <a:r>
                  <a:rPr lang="ru-RU" sz="2600" baseline="-25000" dirty="0"/>
                  <a:t>2</a:t>
                </a:r>
                <a:r>
                  <a:rPr lang="ru-RU" sz="2600" dirty="0"/>
                  <a:t>=27. В случае, когда градиент перпендикулярен этой прямой, оптимальным решением будут являться все точки этой прямой, лежащие в </a:t>
                </a:r>
                <a:r>
                  <a:rPr lang="en-US" sz="2600" dirty="0"/>
                  <a:t>G</a:t>
                </a:r>
                <a:r>
                  <a:rPr lang="ru-RU" sz="2600" dirty="0"/>
                  <a:t>. Если мы будем поворачивать градиент дальше по часовой стрелке, то оптимальным решением будет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6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ru-RU" sz="2600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sz="2600" i="1">
                        <a:latin typeface="Cambria Math"/>
                      </a:rPr>
                      <m:t>=0 </m:t>
                    </m:r>
                  </m:oMath>
                </a14:m>
                <a:r>
                  <a:rPr lang="ru-RU" sz="260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6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sz="2600" i="1"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a:rPr lang="ru-RU" sz="2600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sz="2600" i="1">
                        <a:latin typeface="Cambria Math"/>
                      </a:rPr>
                      <m:t>=12,4424</m:t>
                    </m:r>
                  </m:oMath>
                </a14:m>
                <a:r>
                  <a:rPr lang="ru-RU" sz="2600" dirty="0"/>
                  <a:t>  , то есть смесь 1 будет невыгодно использовать в рационе.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0"/>
                <a:ext cx="8928992" cy="6858000"/>
              </a:xfrm>
              <a:blipFill rotWithShape="1">
                <a:blip r:embed="rId2"/>
                <a:stretch>
                  <a:fillRect l="-1093" t="-1689" r="-956" b="-16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625" y="620688"/>
            <a:ext cx="5880200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252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6632"/>
                <a:ext cx="8784976" cy="66247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800" dirty="0"/>
                  <a:t>Обозначим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8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sz="2800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ru-RU" sz="2800" i="1">
                            <a:latin typeface="Cambria Math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ru-RU" sz="2800" dirty="0"/>
                  <a:t>- цена на смесь 1, выше которой её невыгодно будет использовать в рационе. </a:t>
                </a:r>
              </a:p>
              <a:p>
                <a:pPr marL="0" indent="0">
                  <a:buNone/>
                </a:pPr>
                <a:r>
                  <a:rPr lang="ru-RU" sz="2800" dirty="0"/>
                  <a:t>Тогда </a:t>
                </a:r>
                <a14:m>
                  <m:oMath xmlns:m="http://schemas.openxmlformats.org/officeDocument/2006/math">
                    <m:r>
                      <a:rPr lang="ru-RU" sz="2800" i="1">
                        <a:latin typeface="Cambria Math"/>
                      </a:rPr>
                      <m:t>𝑔𝑟𝑎</m:t>
                    </m:r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/>
                          </a:rPr>
                          <m:t>𝑑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ru-RU" sz="2800" i="1">
                        <a:latin typeface="Cambria Math"/>
                      </a:rPr>
                      <m:t>𝑓</m:t>
                    </m:r>
                    <m:r>
                      <a:rPr lang="ru-RU" sz="2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800" i="1">
                            <a:latin typeface="Cambria Math"/>
                          </a:rPr>
                          <m:t>(</m:t>
                        </m:r>
                        <m:sSubSup>
                          <m:sSubSup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sz="28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ru-RU" sz="280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ru-RU" sz="2800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  <m:r>
                          <a:rPr lang="ru-RU" sz="2800" i="1">
                            <a:latin typeface="Cambria Math"/>
                          </a:rPr>
                          <m:t>,0,255)</m:t>
                        </m:r>
                      </m:e>
                      <m:sup>
                        <m:r>
                          <a:rPr lang="ru-RU" sz="2800" i="1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ru-RU" sz="2800" dirty="0"/>
                  <a:t>  перпендикулярен прямой 3</a:t>
                </a:r>
                <a:r>
                  <a:rPr lang="en-US" sz="2800" dirty="0"/>
                  <a:t>x</a:t>
                </a:r>
                <a:r>
                  <a:rPr lang="ru-RU" sz="2800" baseline="-25000" dirty="0"/>
                  <a:t>1</a:t>
                </a:r>
                <a:r>
                  <a:rPr lang="ru-RU" sz="2800" dirty="0"/>
                  <a:t>+2,17</a:t>
                </a:r>
                <a:r>
                  <a:rPr lang="en-US" sz="2800" dirty="0"/>
                  <a:t>x</a:t>
                </a:r>
                <a:r>
                  <a:rPr lang="ru-RU" sz="2800" baseline="-25000" dirty="0"/>
                  <a:t>2</a:t>
                </a:r>
                <a:r>
                  <a:rPr lang="ru-RU" sz="2800" dirty="0"/>
                  <a:t>=27 и параллелен вектору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ru-RU" sz="2800" i="1">
                                  <a:latin typeface="Cambria Math"/>
                                </a:rPr>
                                <m:t>2,17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ru-RU" sz="2800" dirty="0"/>
                  <a:t>. Тогда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sz="2800" i="1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ru-RU" sz="2800" i="1"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ru-RU" sz="2800" i="1">
                                <a:latin typeface="Cambria Math"/>
                              </a:rPr>
                              <m:t>∗</m:t>
                            </m:r>
                          </m:sup>
                        </m:sSubSup>
                      </m:num>
                      <m:den>
                        <m:r>
                          <a:rPr lang="ru-RU" sz="2800" i="1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ru-RU" sz="2800" i="1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i="1">
                            <a:latin typeface="Cambria Math"/>
                          </a:rPr>
                          <m:t>0,255</m:t>
                        </m:r>
                      </m:num>
                      <m:den>
                        <m:r>
                          <a:rPr lang="ru-RU" sz="2800" i="1">
                            <a:latin typeface="Cambria Math"/>
                          </a:rPr>
                          <m:t>2,17</m:t>
                        </m:r>
                      </m:den>
                    </m:f>
                  </m:oMath>
                </a14:m>
                <a:r>
                  <a:rPr lang="ru-RU" sz="2800" dirty="0"/>
                  <a:t>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sz="2800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en-US" sz="2800" i="1">
                        <a:latin typeface="Cambria Math"/>
                      </a:rPr>
                      <m:t>=0,3525</m:t>
                    </m:r>
                  </m:oMath>
                </a14:m>
                <a:endParaRPr lang="ru-RU" sz="2800" dirty="0"/>
              </a:p>
              <a:p>
                <a:pPr marL="0" indent="0">
                  <a:buNone/>
                </a:pPr>
                <a:r>
                  <a:rPr lang="ru-RU" sz="2800" dirty="0"/>
                  <a:t>Таким образом если  </a:t>
                </a:r>
                <a:r>
                  <a:rPr lang="en-US" sz="2800" dirty="0"/>
                  <a:t>C</a:t>
                </a:r>
                <a:r>
                  <a:rPr lang="ru-RU" sz="2800" baseline="-25000" dirty="0"/>
                  <a:t>1 </a:t>
                </a:r>
                <a:r>
                  <a:rPr lang="ru-RU" sz="2800" dirty="0"/>
                  <a:t>&gt; 0,3525 р/кг, то смесь 1 невыгодно использовать в рационе.</a:t>
                </a:r>
              </a:p>
              <a:p>
                <a:pPr marL="0" indent="0">
                  <a:buNone/>
                </a:pPr>
                <a:r>
                  <a:rPr lang="ru-RU" sz="2800" b="1" dirty="0"/>
                  <a:t>Общий вывод</a:t>
                </a:r>
                <a:r>
                  <a:rPr lang="ru-RU" sz="2800" dirty="0"/>
                  <a:t>: мы определили наиболее дешевый рацион, который состоит из 4,136 г. </a:t>
                </a:r>
                <a:r>
                  <a:rPr lang="en-US" sz="2800" dirty="0"/>
                  <a:t>c</a:t>
                </a:r>
                <a:r>
                  <a:rPr lang="ru-RU" sz="2800" dirty="0"/>
                  <a:t>меси 1 и 6,602 г. </a:t>
                </a:r>
                <a:r>
                  <a:rPr lang="en-US" sz="2800" dirty="0"/>
                  <a:t>c</a:t>
                </a:r>
                <a:r>
                  <a:rPr lang="ru-RU" sz="2800" dirty="0"/>
                  <a:t>меси 2 и нашли цену на смесь 1, при которой её будет невыгодно использовать в рационе.</a:t>
                </a:r>
              </a:p>
              <a:p>
                <a:pPr marL="0" indent="0">
                  <a:buNone/>
                </a:pPr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6632"/>
                <a:ext cx="8784976" cy="6624736"/>
              </a:xfrm>
              <a:blipFill rotWithShape="1">
                <a:blip r:embed="rId2"/>
                <a:stretch>
                  <a:fillRect l="-1387" t="-82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131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6632"/>
                <a:ext cx="8856984" cy="6624736"/>
              </a:xfrm>
            </p:spPr>
            <p:txBody>
              <a:bodyPr/>
              <a:lstStyle/>
              <a:p>
                <a:pPr marL="1528763" indent="0">
                  <a:buNone/>
                </a:pPr>
                <a:endParaRPr lang="en-US" dirty="0"/>
              </a:p>
              <a:p>
                <a:pPr marL="1528763" indent="0">
                  <a:buNone/>
                </a:pPr>
                <a:r>
                  <a:rPr lang="ru-RU" dirty="0"/>
                  <a:t>Ответ: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i="1">
                        <a:latin typeface="Cambria Math"/>
                      </a:rPr>
                      <m:t>=4,17</m:t>
                    </m:r>
                  </m:oMath>
                </a14:m>
                <a:r>
                  <a:rPr lang="ru-RU" dirty="0"/>
                  <a:t> г.</a:t>
                </a:r>
              </a:p>
              <a:p>
                <a:pPr marL="1528763" indent="0">
                  <a:buNone/>
                </a:pPr>
                <a:r>
                  <a:rPr lang="ru-RU" dirty="0"/>
                  <a:t>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i="1">
                        <a:latin typeface="Cambria Math"/>
                      </a:rPr>
                      <m:t>=6,678</m:t>
                    </m:r>
                  </m:oMath>
                </a14:m>
                <a:r>
                  <a:rPr lang="ru-RU" dirty="0"/>
                  <a:t> г.</a:t>
                </a:r>
              </a:p>
              <a:p>
                <a:pPr marL="1528763" indent="0">
                  <a:buNone/>
                </a:pPr>
                <a:r>
                  <a:rPr lang="en-US" i="1" dirty="0"/>
                  <a:t>           f</a:t>
                </a:r>
                <a:r>
                  <a:rPr lang="ru-RU" i="1" baseline="-25000" dirty="0"/>
                  <a:t>П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/>
                      </a:rPr>
                      <m:t>=2,12</m:t>
                    </m:r>
                  </m:oMath>
                </a14:m>
                <a:r>
                  <a:rPr lang="ru-RU" dirty="0"/>
                  <a:t> руб.</a:t>
                </a:r>
              </a:p>
              <a:p>
                <a:pPr marL="1528763" indent="0">
                  <a:buNone/>
                </a:pPr>
                <a:r>
                  <a:rPr lang="ru-RU" dirty="0"/>
                  <a:t>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i="1">
                        <a:latin typeface="Cambria Math"/>
                      </a:rPr>
                      <m:t>=0,3525</m:t>
                    </m:r>
                  </m:oMath>
                </a14:m>
                <a:r>
                  <a:rPr lang="ru-RU" dirty="0"/>
                  <a:t> руб.</a:t>
                </a:r>
              </a:p>
              <a:p>
                <a:pPr marL="1528763" indent="0">
                  <a:buNone/>
                </a:pPr>
                <a:r>
                  <a:rPr lang="ru-RU" dirty="0"/>
                  <a:t>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i="1">
                        <a:latin typeface="Cambria Math"/>
                      </a:rPr>
                      <m:t>=0</m:t>
                    </m:r>
                  </m:oMath>
                </a14:m>
                <a:endParaRPr lang="ru-RU" dirty="0"/>
              </a:p>
              <a:p>
                <a:pPr marL="1528763" indent="0">
                  <a:buNone/>
                </a:pPr>
                <a:r>
                  <a:rPr lang="ru-RU" dirty="0"/>
                  <a:t>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i="1">
                        <a:latin typeface="Cambria Math"/>
                      </a:rPr>
                      <m:t>=2,02</m:t>
                    </m:r>
                  </m:oMath>
                </a14:m>
                <a:endParaRPr lang="ru-RU" dirty="0"/>
              </a:p>
              <a:p>
                <a:pPr marL="1528763" indent="0">
                  <a:buNone/>
                </a:pPr>
                <a:r>
                  <a:rPr lang="ru-RU" dirty="0"/>
                  <a:t>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/>
                            <a:sym typeface="Symbol"/>
                          </a:rPr>
                          <m:t>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3</m:t>
                        </m:r>
                      </m:sub>
                      <m:sup>
                        <m:r>
                          <a:rPr lang="ru-RU" i="1">
                            <a:latin typeface="Cambria Math"/>
                          </a:rPr>
                          <m:t>∗</m:t>
                        </m:r>
                      </m:sup>
                    </m:sSubSup>
                    <m:r>
                      <a:rPr lang="ru-RU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93,85</m:t>
                    </m:r>
                  </m:oMath>
                </a14:m>
                <a:endParaRPr lang="ru-RU" dirty="0"/>
              </a:p>
              <a:p>
                <a:pPr marL="1528763" indent="0">
                  <a:buNone/>
                </a:pPr>
                <a:r>
                  <a:rPr lang="ru-RU" dirty="0"/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ru-RU" i="1">
                            <a:latin typeface="Cambria Math"/>
                          </a:rPr>
                          <m:t>Д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=2,12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6632"/>
                <a:ext cx="8856984" cy="6624736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61218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420888"/>
            <a:ext cx="8229600" cy="1143000"/>
          </a:xfrm>
        </p:spPr>
        <p:txBody>
          <a:bodyPr/>
          <a:lstStyle/>
          <a:p>
            <a:r>
              <a:rPr lang="ru-RU" b="1" dirty="0">
                <a:solidFill>
                  <a:srgbClr val="FF0000"/>
                </a:solidFill>
              </a:rPr>
              <a:t>Спасибо за внимание!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081F4-1C9F-46BC-8CC7-6387CA2043E5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91385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3022</Words>
  <Application>Microsoft Office PowerPoint</Application>
  <PresentationFormat>Экран (4:3)</PresentationFormat>
  <Paragraphs>414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5" baseType="lpstr">
      <vt:lpstr>Arial</vt:lpstr>
      <vt:lpstr>Calibri</vt:lpstr>
      <vt:lpstr>Cambria Math</vt:lpstr>
      <vt:lpstr>Symbol</vt:lpstr>
      <vt:lpstr>Times New Roman</vt:lpstr>
      <vt:lpstr>Тема Office</vt:lpstr>
      <vt:lpstr>Методы оптимизации</vt:lpstr>
      <vt:lpstr>Постановка и правила построения двойственной задачи</vt:lpstr>
      <vt:lpstr>Постановка и правила построения двойственной задачи</vt:lpstr>
      <vt:lpstr>Презентация PowerPoint</vt:lpstr>
      <vt:lpstr>Первая теорема двойственности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Вторая теорема двойственности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Методы оптимизации</dc:title>
  <dc:creator>Виктор</dc:creator>
  <cp:lastModifiedBy>Хапаева Полина Павловна</cp:lastModifiedBy>
  <cp:revision>45</cp:revision>
  <dcterms:created xsi:type="dcterms:W3CDTF">2019-11-04T07:52:32Z</dcterms:created>
  <dcterms:modified xsi:type="dcterms:W3CDTF">2024-03-27T14:35:48Z</dcterms:modified>
</cp:coreProperties>
</file>